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06" r:id="rId4"/>
    <p:sldId id="297" r:id="rId5"/>
    <p:sldId id="272" r:id="rId6"/>
    <p:sldId id="273" r:id="rId7"/>
    <p:sldId id="274" r:id="rId8"/>
    <p:sldId id="278" r:id="rId9"/>
    <p:sldId id="279" r:id="rId10"/>
    <p:sldId id="280" r:id="rId11"/>
    <p:sldId id="281" r:id="rId12"/>
    <p:sldId id="296" r:id="rId13"/>
    <p:sldId id="276" r:id="rId14"/>
    <p:sldId id="283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304" r:id="rId24"/>
    <p:sldId id="305" r:id="rId25"/>
    <p:sldId id="301" r:id="rId26"/>
    <p:sldId id="302" r:id="rId27"/>
    <p:sldId id="307" r:id="rId28"/>
    <p:sldId id="29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C239A2-A534-9C1D-7964-D65BA8D0D997}">
          <p14:sldIdLst>
            <p14:sldId id="256"/>
            <p14:sldId id="257"/>
            <p14:sldId id="306"/>
          </p14:sldIdLst>
        </p14:section>
        <p14:section name="순서" id="{CAFE32B3-3EC2-6D94-E890-F184E43FBAA0}">
          <p14:sldIdLst/>
        </p14:section>
        <p14:section name="회의 개요" id="{E1966228-E12E-67C4-9F08-7F346B080E89}">
          <p14:sldIdLst>
            <p14:sldId id="297"/>
            <p14:sldId id="272"/>
            <p14:sldId id="273"/>
            <p14:sldId id="274"/>
            <p14:sldId id="278"/>
            <p14:sldId id="279"/>
            <p14:sldId id="280"/>
            <p14:sldId id="281"/>
            <p14:sldId id="296"/>
            <p14:sldId id="276"/>
            <p14:sldId id="283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304"/>
            <p14:sldId id="305"/>
            <p14:sldId id="301"/>
            <p14:sldId id="302"/>
            <p14:sldId id="307"/>
            <p14:sldId id="294"/>
          </p14:sldIdLst>
        </p14:section>
        <p14:section name="행사 결과" id="{6027AF0F-E659-E724-2A8C-D2B16440F775}">
          <p14:sldIdLst/>
        </p14:section>
        <p14:section name="진행 검토" id="{0F61C175-13B4-6228-889C-832B217DA55D}">
          <p14:sldIdLst/>
        </p14:section>
        <p14:section name="예산 · 정산" id="{C658978D-BC30-7BD7-C2A4-E9C848ED0695}">
          <p14:sldIdLst/>
        </p14:section>
        <p14:section name="만족도 설문" id="{5B2193CA-4DF5-B4DD-0947-612C88621E6C}">
          <p14:sldIdLst/>
        </p14:section>
        <p14:section name="돌아보기 · 개선" id="{C6927321-55C4-0A2B-3B06-02C785553DAA}">
          <p14:sldIdLst/>
        </p14:section>
        <p14:section name="결정 요청" id="{E2282175-EAD8-2E70-D490-589519215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661F"/>
    <a:srgbClr val="000000"/>
    <a:srgbClr val="3333FF"/>
    <a:srgbClr val="F2F9FC"/>
    <a:srgbClr val="1D3C5C"/>
    <a:srgbClr val="123A63"/>
    <a:srgbClr val="E6F1FB"/>
    <a:srgbClr val="F4F7FB"/>
    <a:srgbClr val="CCEC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DF63-3D5D-4939-BADF-390B95B752DE}" v="138" dt="2026-10-16T05:50:31.884"/>
    <p1510:client id="{276139DE-835A-4C71-A174-EDF36C83FD3B}" v="13" dt="2026-10-16T06:23:06.066"/>
    <p1510:client id="{8E9D02A6-A743-446D-8A92-C75AD2475C0B}" v="170" dt="2026-10-15T10:28:58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맑음 오늘도" userId="c061ed4462ae7684" providerId="LiveId" clId="{B9664DEC-20FC-45F3-BD15-008E635AEDED}"/>
    <pc:docChg chg="undo custSel addSld delSld modSld modSection">
      <pc:chgData name="맑음 오늘도" userId="c061ed4462ae7684" providerId="LiveId" clId="{B9664DEC-20FC-45F3-BD15-008E635AEDED}" dt="2026-10-16T06:24:37.605" v="892" actId="1036"/>
      <pc:docMkLst>
        <pc:docMk/>
      </pc:docMkLst>
      <pc:sldChg chg="modSp mod">
        <pc:chgData name="맑음 오늘도" userId="c061ed4462ae7684" providerId="LiveId" clId="{B9664DEC-20FC-45F3-BD15-008E635AEDED}" dt="2026-10-16T06:07:09.528" v="21" actId="113"/>
        <pc:sldMkLst>
          <pc:docMk/>
          <pc:sldMk cId="0" sldId="257"/>
        </pc:sldMkLst>
        <pc:spChg chg="mod">
          <ac:chgData name="맑음 오늘도" userId="c061ed4462ae7684" providerId="LiveId" clId="{B9664DEC-20FC-45F3-BD15-008E635AEDED}" dt="2026-10-16T06:07:09.528" v="21" actId="113"/>
          <ac:spMkLst>
            <pc:docMk/>
            <pc:sldMk cId="0" sldId="257"/>
            <ac:spMk id="49" creationId="{BEA9A702-DFBB-8912-CDCA-E4EC93A3DB32}"/>
          </ac:spMkLst>
        </pc:spChg>
      </pc:sldChg>
      <pc:sldChg chg="modSp mod">
        <pc:chgData name="맑음 오늘도" userId="c061ed4462ae7684" providerId="LiveId" clId="{B9664DEC-20FC-45F3-BD15-008E635AEDED}" dt="2026-10-16T06:17:53.556" v="713" actId="207"/>
        <pc:sldMkLst>
          <pc:docMk/>
          <pc:sldMk cId="2746901243" sldId="276"/>
        </pc:sldMkLst>
        <pc:graphicFrameChg chg="modGraphic">
          <ac:chgData name="맑음 오늘도" userId="c061ed4462ae7684" providerId="LiveId" clId="{B9664DEC-20FC-45F3-BD15-008E635AEDED}" dt="2026-10-16T06:17:53.556" v="713" actId="207"/>
          <ac:graphicFrameMkLst>
            <pc:docMk/>
            <pc:sldMk cId="2746901243" sldId="276"/>
            <ac:graphicFrameMk id="4" creationId="{142C24DE-29D4-D903-233C-00C833FDF5F6}"/>
          </ac:graphicFrameMkLst>
        </pc:graphicFrameChg>
      </pc:sldChg>
      <pc:sldChg chg="modSp mod">
        <pc:chgData name="맑음 오늘도" userId="c061ed4462ae7684" providerId="LiveId" clId="{B9664DEC-20FC-45F3-BD15-008E635AEDED}" dt="2026-10-16T06:13:56.430" v="295" actId="20577"/>
        <pc:sldMkLst>
          <pc:docMk/>
          <pc:sldMk cId="39224866" sldId="280"/>
        </pc:sldMkLst>
        <pc:spChg chg="mod">
          <ac:chgData name="맑음 오늘도" userId="c061ed4462ae7684" providerId="LiveId" clId="{B9664DEC-20FC-45F3-BD15-008E635AEDED}" dt="2026-10-16T06:13:56.430" v="295" actId="20577"/>
          <ac:spMkLst>
            <pc:docMk/>
            <pc:sldMk cId="39224866" sldId="280"/>
            <ac:spMk id="12" creationId="{6444A2F5-49BC-3907-AC91-2DD69EEFF275}"/>
          </ac:spMkLst>
        </pc:spChg>
        <pc:graphicFrameChg chg="modGraphic">
          <ac:chgData name="맑음 오늘도" userId="c061ed4462ae7684" providerId="LiveId" clId="{B9664DEC-20FC-45F3-BD15-008E635AEDED}" dt="2026-10-16T06:13:33.291" v="274" actId="6549"/>
          <ac:graphicFrameMkLst>
            <pc:docMk/>
            <pc:sldMk cId="39224866" sldId="280"/>
            <ac:graphicFrameMk id="22" creationId="{C0C97B95-9E41-5B3F-8DA4-D8AD4DC543FD}"/>
          </ac:graphicFrameMkLst>
        </pc:graphicFrameChg>
      </pc:sldChg>
      <pc:sldChg chg="modSp mod">
        <pc:chgData name="맑음 오늘도" userId="c061ed4462ae7684" providerId="LiveId" clId="{B9664DEC-20FC-45F3-BD15-008E635AEDED}" dt="2026-10-16T06:17:32.941" v="712" actId="20577"/>
        <pc:sldMkLst>
          <pc:docMk/>
          <pc:sldMk cId="1209663980" sldId="281"/>
        </pc:sldMkLst>
        <pc:graphicFrameChg chg="modGraphic">
          <ac:chgData name="맑음 오늘도" userId="c061ed4462ae7684" providerId="LiveId" clId="{B9664DEC-20FC-45F3-BD15-008E635AEDED}" dt="2026-10-16T06:17:32.941" v="712" actId="20577"/>
          <ac:graphicFrameMkLst>
            <pc:docMk/>
            <pc:sldMk cId="1209663980" sldId="281"/>
            <ac:graphicFrameMk id="22" creationId="{17C44AA6-BC32-DA86-57C3-EDA1531A9194}"/>
          </ac:graphicFrameMkLst>
        </pc:graphicFrameChg>
      </pc:sldChg>
      <pc:sldChg chg="addSp delSp modSp mod">
        <pc:chgData name="맑음 오늘도" userId="c061ed4462ae7684" providerId="LiveId" clId="{B9664DEC-20FC-45F3-BD15-008E635AEDED}" dt="2026-10-16T06:24:37.605" v="892" actId="1036"/>
        <pc:sldMkLst>
          <pc:docMk/>
          <pc:sldMk cId="4064717819" sldId="290"/>
        </pc:sldMkLst>
        <pc:spChg chg="add mod">
          <ac:chgData name="맑음 오늘도" userId="c061ed4462ae7684" providerId="LiveId" clId="{B9664DEC-20FC-45F3-BD15-008E635AEDED}" dt="2026-10-16T06:24:09.992" v="884" actId="1036"/>
          <ac:spMkLst>
            <pc:docMk/>
            <pc:sldMk cId="4064717819" sldId="290"/>
            <ac:spMk id="20" creationId="{6FED56CD-3CEF-5E85-427E-43CD74CD439B}"/>
          </ac:spMkLst>
        </pc:spChg>
        <pc:spChg chg="mod">
          <ac:chgData name="맑음 오늘도" userId="c061ed4462ae7684" providerId="LiveId" clId="{B9664DEC-20FC-45F3-BD15-008E635AEDED}" dt="2026-10-16T06:24:04.375" v="874" actId="1076"/>
          <ac:spMkLst>
            <pc:docMk/>
            <pc:sldMk cId="4064717819" sldId="290"/>
            <ac:spMk id="27" creationId="{D233AF33-D4C0-845A-BBC9-E1E78EBF25E6}"/>
          </ac:spMkLst>
        </pc:spChg>
        <pc:cxnChg chg="add del mod">
          <ac:chgData name="맑음 오늘도" userId="c061ed4462ae7684" providerId="LiveId" clId="{B9664DEC-20FC-45F3-BD15-008E635AEDED}" dt="2026-10-16T06:21:02.757" v="779" actId="478"/>
          <ac:cxnSpMkLst>
            <pc:docMk/>
            <pc:sldMk cId="4064717819" sldId="290"/>
            <ac:cxnSpMk id="24" creationId="{4BE90F2B-CDD5-4592-2A12-6FBF73AD42EE}"/>
          </ac:cxnSpMkLst>
        </pc:cxnChg>
        <pc:cxnChg chg="add mod">
          <ac:chgData name="맑음 오늘도" userId="c061ed4462ae7684" providerId="LiveId" clId="{B9664DEC-20FC-45F3-BD15-008E635AEDED}" dt="2026-10-16T06:24:37.605" v="892" actId="1036"/>
          <ac:cxnSpMkLst>
            <pc:docMk/>
            <pc:sldMk cId="4064717819" sldId="290"/>
            <ac:cxnSpMk id="33" creationId="{77584D2D-2796-6AB7-146C-CE32C5808287}"/>
          </ac:cxnSpMkLst>
        </pc:cxnChg>
      </pc:sldChg>
      <pc:sldChg chg="addSp delSp modSp del mod">
        <pc:chgData name="맑음 오늘도" userId="c061ed4462ae7684" providerId="LiveId" clId="{B9664DEC-20FC-45F3-BD15-008E635AEDED}" dt="2026-10-16T06:07:25.540" v="22" actId="47"/>
        <pc:sldMkLst>
          <pc:docMk/>
          <pc:sldMk cId="1947033133" sldId="298"/>
        </pc:sldMkLst>
        <pc:spChg chg="mod">
          <ac:chgData name="맑음 오늘도" userId="c061ed4462ae7684" providerId="LiveId" clId="{B9664DEC-20FC-45F3-BD15-008E635AEDED}" dt="2026-10-16T06:06:12.901" v="15" actId="21"/>
          <ac:spMkLst>
            <pc:docMk/>
            <pc:sldMk cId="1947033133" sldId="298"/>
            <ac:spMk id="8" creationId="{4444D9C0-70FC-0DE2-4E2B-01EEE81E05BF}"/>
          </ac:spMkLst>
        </pc:spChg>
        <pc:picChg chg="add del mod">
          <ac:chgData name="맑음 오늘도" userId="c061ed4462ae7684" providerId="LiveId" clId="{B9664DEC-20FC-45F3-BD15-008E635AEDED}" dt="2026-10-16T06:02:06.755" v="2" actId="478"/>
          <ac:picMkLst>
            <pc:docMk/>
            <pc:sldMk cId="1947033133" sldId="298"/>
            <ac:picMk id="5" creationId="{4BD18CD1-2BCF-3396-4375-7D129B031F4E}"/>
          </ac:picMkLst>
        </pc:picChg>
      </pc:sldChg>
      <pc:sldChg chg="del">
        <pc:chgData name="맑음 오늘도" userId="c061ed4462ae7684" providerId="LiveId" clId="{B9664DEC-20FC-45F3-BD15-008E635AEDED}" dt="2026-10-16T06:11:17.561" v="120" actId="47"/>
        <pc:sldMkLst>
          <pc:docMk/>
          <pc:sldMk cId="2365802007" sldId="299"/>
        </pc:sldMkLst>
      </pc:sldChg>
      <pc:sldChg chg="del">
        <pc:chgData name="맑음 오늘도" userId="c061ed4462ae7684" providerId="LiveId" clId="{B9664DEC-20FC-45F3-BD15-008E635AEDED}" dt="2026-10-16T06:08:53.255" v="24" actId="47"/>
        <pc:sldMkLst>
          <pc:docMk/>
          <pc:sldMk cId="1467879813" sldId="300"/>
        </pc:sldMkLst>
      </pc:sldChg>
      <pc:sldChg chg="modSp mod">
        <pc:chgData name="맑음 오늘도" userId="c061ed4462ae7684" providerId="LiveId" clId="{B9664DEC-20FC-45F3-BD15-008E635AEDED}" dt="2026-10-16T06:10:16.832" v="108" actId="20577"/>
        <pc:sldMkLst>
          <pc:docMk/>
          <pc:sldMk cId="2387003603" sldId="302"/>
        </pc:sldMkLst>
        <pc:graphicFrameChg chg="mod modGraphic">
          <ac:chgData name="맑음 오늘도" userId="c061ed4462ae7684" providerId="LiveId" clId="{B9664DEC-20FC-45F3-BD15-008E635AEDED}" dt="2026-10-16T06:10:16.832" v="108" actId="20577"/>
          <ac:graphicFrameMkLst>
            <pc:docMk/>
            <pc:sldMk cId="2387003603" sldId="302"/>
            <ac:graphicFrameMk id="35" creationId="{BD63D84E-681B-B316-E614-97580B575810}"/>
          </ac:graphicFrameMkLst>
        </pc:graphicFrameChg>
      </pc:sldChg>
      <pc:sldChg chg="del">
        <pc:chgData name="맑음 오늘도" userId="c061ed4462ae7684" providerId="LiveId" clId="{B9664DEC-20FC-45F3-BD15-008E635AEDED}" dt="2026-10-16T06:10:47.877" v="114" actId="47"/>
        <pc:sldMkLst>
          <pc:docMk/>
          <pc:sldMk cId="4240718287" sldId="303"/>
        </pc:sldMkLst>
      </pc:sldChg>
      <pc:sldChg chg="modSp add mod setBg">
        <pc:chgData name="맑음 오늘도" userId="c061ed4462ae7684" providerId="LiveId" clId="{B9664DEC-20FC-45F3-BD15-008E635AEDED}" dt="2026-10-16T06:06:24.851" v="18" actId="20577"/>
        <pc:sldMkLst>
          <pc:docMk/>
          <pc:sldMk cId="1073233487" sldId="304"/>
        </pc:sldMkLst>
        <pc:spChg chg="mod">
          <ac:chgData name="맑음 오늘도" userId="c061ed4462ae7684" providerId="LiveId" clId="{B9664DEC-20FC-45F3-BD15-008E635AEDED}" dt="2026-10-16T06:06:24.851" v="18" actId="20577"/>
          <ac:spMkLst>
            <pc:docMk/>
            <pc:sldMk cId="1073233487" sldId="304"/>
            <ac:spMk id="8" creationId="{B30204BE-ECD2-EE8A-D9C1-5FDB5233151F}"/>
          </ac:spMkLst>
        </pc:spChg>
        <pc:graphicFrameChg chg="modGraphic">
          <ac:chgData name="맑음 오늘도" userId="c061ed4462ae7684" providerId="LiveId" clId="{B9664DEC-20FC-45F3-BD15-008E635AEDED}" dt="2026-10-16T06:03:22.098" v="13" actId="6549"/>
          <ac:graphicFrameMkLst>
            <pc:docMk/>
            <pc:sldMk cId="1073233487" sldId="304"/>
            <ac:graphicFrameMk id="118" creationId="{00000000-0000-0000-0000-000000000000}"/>
          </ac:graphicFrameMkLst>
        </pc:graphicFrameChg>
      </pc:sldChg>
      <pc:sldChg chg="modSp add mod">
        <pc:chgData name="맑음 오늘도" userId="c061ed4462ae7684" providerId="LiveId" clId="{B9664DEC-20FC-45F3-BD15-008E635AEDED}" dt="2026-10-16T06:09:10.180" v="27" actId="113"/>
        <pc:sldMkLst>
          <pc:docMk/>
          <pc:sldMk cId="277734138" sldId="305"/>
        </pc:sldMkLst>
        <pc:graphicFrameChg chg="modGraphic">
          <ac:chgData name="맑음 오늘도" userId="c061ed4462ae7684" providerId="LiveId" clId="{B9664DEC-20FC-45F3-BD15-008E635AEDED}" dt="2026-10-16T06:09:10.180" v="27" actId="113"/>
          <ac:graphicFrameMkLst>
            <pc:docMk/>
            <pc:sldMk cId="277734138" sldId="305"/>
            <ac:graphicFrameMk id="35" creationId="{B0558409-6131-A491-0D42-A6448088BF96}"/>
          </ac:graphicFrameMkLst>
        </pc:graphicFrameChg>
      </pc:sldChg>
      <pc:sldChg chg="add del setBg">
        <pc:chgData name="맑음 오늘도" userId="c061ed4462ae7684" providerId="LiveId" clId="{B9664DEC-20FC-45F3-BD15-008E635AEDED}" dt="2026-10-16T06:10:46.123" v="113" actId="47"/>
        <pc:sldMkLst>
          <pc:docMk/>
          <pc:sldMk cId="1843439200" sldId="306"/>
        </pc:sldMkLst>
      </pc:sldChg>
      <pc:sldChg chg="add del">
        <pc:chgData name="맑음 오늘도" userId="c061ed4462ae7684" providerId="LiveId" clId="{B9664DEC-20FC-45F3-BD15-008E635AEDED}" dt="2026-10-16T06:11:15.084" v="119" actId="47"/>
        <pc:sldMkLst>
          <pc:docMk/>
          <pc:sldMk cId="3052251927" sldId="30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4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전교인 한마음 체육대회 사후검토 회의 자료입니다. 10월 4일 행사를 계획 대비 실제로 돌아보고, 정산과 내년 개선 과제를 결정합니다.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CF11-82C7-E27B-879A-E55A4149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1B6D5-7391-C158-604D-E6226C20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7647C-641A-F5FF-94DD-F9E05CCA3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2026년 전교인 한마음 체육대회 사후검토 회의 자료입니다. 10월 4일 행사를 계획 대비 실제로 돌아보고, 정산과 내년 개선 과제를 결정합니다.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B3D2-49C7-F6C9-2FF4-2B9A487B6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pPr defTabSz="802752"/>
            <a:fld id="{F7021451-1387-4CA6-816F-3879F97B5CBC}" type="slidenum">
              <a:rPr lang="en-US" sz="1600">
                <a:solidFill>
                  <a:prstClr val="black"/>
                </a:solidFill>
                <a:latin typeface="맑은 고딕" panose="02110004020202020204"/>
              </a:rPr>
              <a:pPr defTabSz="802752"/>
              <a:t>3</a:t>
            </a:fld>
            <a:endParaRPr lang="en-US" sz="1600">
              <a:solidFill>
                <a:prstClr val="black"/>
              </a:solidFill>
              <a:latin typeface="맑은 고딕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6091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4F3A-EF7E-AD17-38BC-7A87C10E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E521B-F61E-2E23-44E0-CDB62CD35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BA824-5A99-17E9-4F16-A284C828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8442B-DFEA-439E-988D-ABA048D82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00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2B3B-B32D-0C56-64A6-338BDB04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92D74-65B2-5A6C-077C-F4C786A5F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A9CBA-E478-035F-D79C-A3EEDEA77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4D0C-48C2-F454-F33B-DCA5AA1C5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3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BA27-22EB-64F6-BC7B-6A72FD5C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8D9BA-D5A7-8FBF-92E0-6A9DBDE90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1C5F5-3A7F-8104-4367-A415A5427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C8FA9-E14C-E054-E42F-81C99AB30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8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DFF5-28DE-A659-5E66-89DE3DED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72FEA-724A-19C7-571F-DC77DC07A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045E6-55E1-2240-EF5F-85CA67701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521C-A879-73A6-87E7-6D562B768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16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E4F6-6FB5-0AE9-03D2-8BB78500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D25BE-8849-C961-62A7-B3765E372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2F6B0-A6D1-DC18-C82D-31F84C31B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3B8E-AA9E-08D5-1D00-8FDE6AF74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75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5BBE-BB8E-6174-9A8F-F6908C66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BCAE6-86D4-B0DF-AF3D-1020C24DA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21800-FC52-1024-5BD6-753C557E2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FF2F4-56CC-F063-68A2-D8CA9D6FD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80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DDD2-E5FD-749B-2651-D0B4DEDD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A15F2-8DDC-062F-3F2D-EA060B5FC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60B85-F32F-A0E9-8667-60BF21454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E6026-257D-ABDB-3A19-D963A239D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58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6320-BA97-F27A-A164-A8784F7F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7197E-6846-1A46-8C16-CD4C3959E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BF308-D223-01F2-AA85-BA417870C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7DFAF-231B-E3F4-7344-5885D3A2B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65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BE86-0D45-8F00-A3AB-0914A64E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85881-B28E-DF1E-30A6-DF5B6F757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AF882-CB38-C195-B119-A27E8EDA0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A74DF-EB24-F324-0750-4275FAF8C3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57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9CCD-9480-68EA-E705-78C64F7A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037C0-5053-ABAE-E109-26FB8922A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76871-0A74-DDDE-37C5-41392642D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7F6B1-6ED7-A896-722F-AF06A6648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54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DD63-028B-F24E-B026-92E8CE2C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4CD57-093D-51B0-80FA-D47045915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CE026-8A1F-99AF-BC72-10D0DA2DD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9AD49-6E33-03A2-E796-B904CE805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80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150F-AC60-B22C-8C22-13CEE669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AA93A-F8E8-5C5B-8C9D-FD870717A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BEE4B-F640-32FB-E8D4-AC96AD339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F0A60-15AC-9354-9F71-1A6372AF0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82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AA61-620D-0B94-3447-51DAA8B3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5E475-FD76-C480-1BB5-E9039C4EC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03693-E961-6350-A222-8E58F37B7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35B7-CCE0-A49C-15D7-3EBB2689DE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68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A36E-1785-C536-70FD-18547134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433B8-E929-D302-0123-65A063ED2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D92B6-CB34-8146-A49C-7F70DBF2A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4C81C-A5B3-C077-5DA5-68A6ED09B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40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3FA0-4C0D-EED9-8948-C6082D7A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FEC88-7FB0-6BC7-0774-3BBE69E4C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E6A18-8DEC-C91F-8AF2-BC95FA1D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D1E03-A6CF-DE3B-6F09-6E9B4F594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2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8436-F2E1-8795-0E6A-AA132BEF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69A60-0A04-A309-5539-8BC26583D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3D345-6457-3305-6981-B58C8E17A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18F0-373C-609C-A4B0-9B244D48E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31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6690-0904-CB58-D509-4379B1BE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10ED4-C392-0CB0-7EC6-D67F05AE1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61705-9542-DBAF-0545-275541858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72E39-7E41-2C2C-E7DC-50E3E3CEA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40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A53B-10B6-9BC4-512C-4633708B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FB08E-2048-BF48-8C1D-1B17B4F82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48653-137F-535B-25A4-2C3510A0C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3E9D-0D47-ED74-6D76-FB3272365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66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6320-BA97-F27A-A164-A8784F7F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7197E-6846-1A46-8C16-CD4C3959E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BF308-D223-01F2-AA85-BA417870C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7DFAF-231B-E3F4-7344-5885D3A2B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65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FC32-8809-8C9E-8034-234100EB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59FC-5CBE-CAB9-1FEB-3C6DFB51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F493-49E2-69B4-95D6-9C7276D6C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74A5-89C4-3942-3477-2D182BF8F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6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FC32-8809-8C9E-8034-234100EB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59FC-5CBE-CAB9-1FEB-3C6DFB51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F493-49E2-69B4-95D6-9C7276D6C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74A5-89C4-3942-3477-2D182BF8F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69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FE9A-E8C4-2196-2517-84B8DAE2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3E546-EF18-45C3-A920-A17DD2D1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B976F-149F-1DBA-6A63-47EB54702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F4FDD-5007-1376-FB67-2FF1E0CF0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89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CF11-82C7-E27B-879A-E55A4149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1B6D5-7391-C158-604D-E6226C20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7647C-641A-F5FF-94DD-F9E05CCA3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2026년 전교인 한마음 체육대회 사후검토 회의 자료입니다. 10월 4일 행사를 계획 대비 실제로 돌아보고, 정산과 내년 개선 과제를 결정합니다.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B3D2-49C7-F6C9-2FF4-2B9A487B6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pPr marL="0" marR="0" lvl="0" indent="0" algn="l" defTabSz="802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802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4942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C06457F4-D2A9-384B-A03A-1C7EE2894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2640"/>
            <a:ext cx="12192000" cy="6055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058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3B4C"/>
                </a:solidFill>
              </a:rPr>
              <a:t>조원감리교회 문화홍보부  |  사후검토 회의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2361858" y="3623648"/>
            <a:ext cx="7225092" cy="365760"/>
          </a:xfrm>
          <a:prstGeom prst="rect">
            <a:avLst/>
          </a:prstGeom>
          <a:solidFill>
            <a:srgbClr val="123A63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한 팀으로 뛰고, 한마음으로 웃은 하루를 돌아봅니다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10235762" y="1080553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회의  2026. 10. 17(토)</a:t>
            </a:r>
            <a:endParaRPr lang="en-US" sz="1200" b="1" dirty="0"/>
          </a:p>
        </p:txBody>
      </p:sp>
      <p:sp>
        <p:nvSpPr>
          <p:cNvPr id="9" name="Text 6"/>
          <p:cNvSpPr txBox="1"/>
          <p:nvPr/>
        </p:nvSpPr>
        <p:spPr>
          <a:xfrm>
            <a:off x="10276764" y="81381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행사  2026. 10. 4(주일)</a:t>
            </a:r>
            <a:endParaRPr lang="en-US" sz="12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6A6103-9816-C183-3EA0-66352F75BFC4}"/>
              </a:ext>
            </a:extLst>
          </p:cNvPr>
          <p:cNvSpPr/>
          <p:nvPr/>
        </p:nvSpPr>
        <p:spPr>
          <a:xfrm>
            <a:off x="1120239" y="1754401"/>
            <a:ext cx="9935688" cy="9373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rgbClr val="293B4C"/>
                </a:solidFill>
                <a:latin typeface="맑은 고딕" pitchFamily="34" charset="0"/>
                <a:ea typeface="나눔스퀘어" pitchFamily="34" charset="-122"/>
              </a:rPr>
              <a:t>2026</a:t>
            </a:r>
            <a:r>
              <a:rPr lang="ko-KR" altLang="en-US" sz="4000" b="1" dirty="0">
                <a:solidFill>
                  <a:srgbClr val="293B4C"/>
                </a:solidFill>
                <a:latin typeface="맑은 고딕" pitchFamily="34" charset="0"/>
                <a:ea typeface="나눔스퀘어" pitchFamily="34" charset="-122"/>
              </a:rPr>
              <a:t>년 </a:t>
            </a:r>
            <a:r>
              <a:rPr lang="ko-KR" altLang="en-US" sz="4000" b="1" dirty="0">
                <a:solidFill>
                  <a:srgbClr val="293B4C"/>
                </a:solidFill>
                <a:ea typeface="나눔스퀘어" pitchFamily="34" charset="-122"/>
              </a:rPr>
              <a:t>전교인</a:t>
            </a:r>
            <a:r>
              <a:rPr lang="ko-KR" altLang="en-US" sz="4000" b="1" dirty="0">
                <a:solidFill>
                  <a:srgbClr val="293B4C"/>
                </a:solidFill>
                <a:latin typeface="맑은 고딕" pitchFamily="34" charset="0"/>
                <a:ea typeface="나눔스퀘어" pitchFamily="34" charset="-122"/>
              </a:rPr>
              <a:t> 한마음 체육대회 사후검토</a:t>
            </a:r>
            <a:endParaRPr lang="ko-KR" altLang="en-US" sz="4000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FFC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순                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0506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회의 </a:t>
            </a:r>
            <a:r>
              <a:rPr lang="en-US" sz="1500" b="1" dirty="0" err="1">
                <a:solidFill>
                  <a:schemeClr val="accent1"/>
                </a:solidFill>
              </a:rPr>
              <a:t>순서</a:t>
            </a:r>
            <a:r>
              <a:rPr lang="en-US" sz="1500" b="1" dirty="0">
                <a:solidFill>
                  <a:schemeClr val="accent1"/>
                </a:solidFill>
              </a:rPr>
              <a:t> (</a:t>
            </a:r>
            <a:r>
              <a:rPr lang="en-US" altLang="ko-KR" sz="1500" b="1" dirty="0">
                <a:solidFill>
                  <a:schemeClr val="accent1"/>
                </a:solidFill>
              </a:rPr>
              <a:t>90</a:t>
            </a:r>
            <a:r>
              <a:rPr lang="en-US" sz="1500" b="1" dirty="0">
                <a:solidFill>
                  <a:schemeClr val="accent1"/>
                </a:solidFill>
              </a:rPr>
              <a:t>분)</a:t>
            </a:r>
            <a:endParaRPr lang="en-US" sz="15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CA9C485-6F2E-DC37-010A-6190DE798770}"/>
              </a:ext>
            </a:extLst>
          </p:cNvPr>
          <p:cNvGrpSpPr/>
          <p:nvPr/>
        </p:nvGrpSpPr>
        <p:grpSpPr>
          <a:xfrm>
            <a:off x="548640" y="1396350"/>
            <a:ext cx="11094415" cy="584307"/>
            <a:chOff x="548640" y="2057400"/>
            <a:chExt cx="11094415" cy="658368"/>
          </a:xfrm>
        </p:grpSpPr>
        <p:sp>
          <p:nvSpPr>
            <p:cNvPr id="4" name="ostep0"/>
            <p:cNvSpPr/>
            <p:nvPr/>
          </p:nvSpPr>
          <p:spPr>
            <a:xfrm>
              <a:off x="548640" y="2057400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num1"/>
            <p:cNvSpPr/>
            <p:nvPr/>
          </p:nvSpPr>
          <p:spPr>
            <a:xfrm>
              <a:off x="731520" y="2194560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2194560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Ⅰ</a:t>
              </a:r>
              <a:endParaRPr 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280160" y="2242888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chemeClr val="accent1"/>
                  </a:solidFill>
                </a:rPr>
                <a:t>문화홍보부장 모두 발언 </a:t>
              </a:r>
              <a:r>
                <a:rPr lang="en-US" altLang="ko-KR" sz="1500" b="1" dirty="0">
                  <a:solidFill>
                    <a:schemeClr val="accent1"/>
                  </a:solidFill>
                </a:rPr>
                <a:t>&amp; </a:t>
              </a:r>
              <a:r>
                <a:rPr lang="ko-KR" altLang="en-US" sz="1500" b="1" dirty="0">
                  <a:solidFill>
                    <a:schemeClr val="accent1"/>
                  </a:solidFill>
                </a:rPr>
                <a:t>개회 기도</a:t>
              </a:r>
              <a:r>
                <a:rPr lang="en-US" altLang="ko-KR" sz="1500" b="1" dirty="0">
                  <a:solidFill>
                    <a:schemeClr val="accent1"/>
                  </a:solidFill>
                </a:rPr>
                <a:t>,  </a:t>
              </a:r>
              <a:r>
                <a:rPr lang="ko-KR" altLang="en-US" sz="1500" b="1" dirty="0">
                  <a:solidFill>
                    <a:schemeClr val="accent1"/>
                  </a:solidFill>
                </a:rPr>
                <a:t>개요 </a:t>
              </a:r>
              <a:r>
                <a:rPr lang="en-US" altLang="ko-KR" sz="1500" b="1" dirty="0">
                  <a:solidFill>
                    <a:schemeClr val="accent1"/>
                  </a:solidFill>
                </a:rPr>
                <a:t>/ </a:t>
              </a:r>
              <a:r>
                <a:rPr lang="ko-KR" altLang="en-US" sz="1500" b="1" dirty="0">
                  <a:solidFill>
                    <a:schemeClr val="accent1"/>
                  </a:solidFill>
                </a:rPr>
                <a:t>일반현황</a:t>
              </a:r>
              <a:endParaRPr lang="en-US" sz="15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0362895" y="2203704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10분</a:t>
              </a:r>
              <a:endParaRPr lang="en-US" sz="14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8A89371-23F5-4FB3-575C-6C3F9A2CDD7F}"/>
              </a:ext>
            </a:extLst>
          </p:cNvPr>
          <p:cNvGrpSpPr/>
          <p:nvPr/>
        </p:nvGrpSpPr>
        <p:grpSpPr>
          <a:xfrm>
            <a:off x="548640" y="2677090"/>
            <a:ext cx="11094415" cy="584307"/>
            <a:chOff x="548640" y="3630168"/>
            <a:chExt cx="11094415" cy="658368"/>
          </a:xfrm>
        </p:grpSpPr>
        <p:sp>
          <p:nvSpPr>
            <p:cNvPr id="16" name="ostep2"/>
            <p:cNvSpPr/>
            <p:nvPr/>
          </p:nvSpPr>
          <p:spPr>
            <a:xfrm>
              <a:off x="548640" y="3630168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num3"/>
            <p:cNvSpPr/>
            <p:nvPr/>
          </p:nvSpPr>
          <p:spPr>
            <a:xfrm>
              <a:off x="731520" y="3767328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31520" y="3767328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Ⅲ</a:t>
              </a:r>
              <a:endParaRPr lang="en-US" sz="13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1280160" y="3805454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1"/>
                  </a:solidFill>
                </a:rPr>
                <a:t>예산 집행 · 정산</a:t>
              </a:r>
              <a:endParaRPr lang="en-US" sz="15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10362895" y="3776472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2분</a:t>
              </a:r>
              <a:endParaRPr lang="en-US" sz="14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916F3FA-AC54-9031-F66E-7C1EA247C235}"/>
              </a:ext>
            </a:extLst>
          </p:cNvPr>
          <p:cNvGrpSpPr/>
          <p:nvPr/>
        </p:nvGrpSpPr>
        <p:grpSpPr>
          <a:xfrm>
            <a:off x="548640" y="3317460"/>
            <a:ext cx="11094415" cy="584307"/>
            <a:chOff x="548640" y="4416552"/>
            <a:chExt cx="11094415" cy="658368"/>
          </a:xfrm>
        </p:grpSpPr>
        <p:sp>
          <p:nvSpPr>
            <p:cNvPr id="22" name="ostep3"/>
            <p:cNvSpPr/>
            <p:nvPr/>
          </p:nvSpPr>
          <p:spPr>
            <a:xfrm>
              <a:off x="548640" y="4416552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num4"/>
            <p:cNvSpPr/>
            <p:nvPr/>
          </p:nvSpPr>
          <p:spPr>
            <a:xfrm>
              <a:off x="731520" y="4553712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731520" y="4553712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Ⅳ</a:t>
              </a:r>
              <a:endParaRPr lang="en-US" sz="13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1280160" y="4596300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 err="1">
                  <a:solidFill>
                    <a:schemeClr val="accent1"/>
                  </a:solidFill>
                </a:rPr>
                <a:t>설문</a:t>
              </a:r>
              <a:r>
                <a:rPr lang="en-US" sz="1500" b="1" dirty="0">
                  <a:solidFill>
                    <a:schemeClr val="accent1"/>
                  </a:solidFill>
                </a:rPr>
                <a:t> </a:t>
              </a:r>
              <a:r>
                <a:rPr lang="ko-KR" altLang="en-US" sz="1500" b="1" dirty="0">
                  <a:solidFill>
                    <a:schemeClr val="accent1"/>
                  </a:solidFill>
                </a:rPr>
                <a:t>분석</a:t>
              </a:r>
              <a:r>
                <a:rPr lang="en-US" sz="1500" b="1" dirty="0" err="1">
                  <a:solidFill>
                    <a:schemeClr val="accent1"/>
                  </a:solidFill>
                </a:rPr>
                <a:t>결과</a:t>
              </a:r>
              <a:endParaRPr lang="en-US" sz="15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10362895" y="4562856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10분</a:t>
              </a:r>
              <a:endParaRPr lang="en-US" sz="1400" dirty="0"/>
            </a:p>
          </p:txBody>
        </p:sp>
      </p:grpSp>
      <p:sp>
        <p:nvSpPr>
          <p:cNvPr id="37" name="ostep4">
            <a:extLst>
              <a:ext uri="{FF2B5EF4-FFF2-40B4-BE49-F238E27FC236}">
                <a16:creationId xmlns:a16="http://schemas.microsoft.com/office/drawing/2014/main" id="{AAE98F2F-D1DA-C5B3-62ED-9859FA0B5C0C}"/>
              </a:ext>
            </a:extLst>
          </p:cNvPr>
          <p:cNvSpPr/>
          <p:nvPr/>
        </p:nvSpPr>
        <p:spPr>
          <a:xfrm>
            <a:off x="548640" y="5897018"/>
            <a:ext cx="11094415" cy="584304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23A6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280160" y="6022314"/>
            <a:ext cx="5486400" cy="2596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목사님의 맺음말 </a:t>
            </a:r>
            <a:r>
              <a:rPr lang="en-US" altLang="ko-KR" sz="1500" b="1" dirty="0">
                <a:solidFill>
                  <a:schemeClr val="accent1"/>
                </a:solidFill>
              </a:rPr>
              <a:t>&amp; </a:t>
            </a:r>
            <a:r>
              <a:rPr lang="ko-KR" altLang="en-US" sz="1500" b="1" dirty="0">
                <a:solidFill>
                  <a:schemeClr val="accent1"/>
                </a:solidFill>
              </a:rPr>
              <a:t>폐회 기도</a:t>
            </a:r>
            <a:endParaRPr lang="en-US" sz="1500" dirty="0"/>
          </a:p>
        </p:txBody>
      </p:sp>
      <p:sp>
        <p:nvSpPr>
          <p:cNvPr id="28" name="ostep4"/>
          <p:cNvSpPr/>
          <p:nvPr/>
        </p:nvSpPr>
        <p:spPr>
          <a:xfrm>
            <a:off x="548640" y="5232807"/>
            <a:ext cx="11094415" cy="584307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23A6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08EFC400-A98C-F6B5-EC29-3658E6242A9A}"/>
              </a:ext>
            </a:extLst>
          </p:cNvPr>
          <p:cNvSpPr txBox="1"/>
          <p:nvPr/>
        </p:nvSpPr>
        <p:spPr>
          <a:xfrm>
            <a:off x="1280160" y="5419808"/>
            <a:ext cx="5486400" cy="259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토 의</a:t>
            </a:r>
            <a:endParaRPr lang="en-US" sz="1500" dirty="0"/>
          </a:p>
        </p:txBody>
      </p:sp>
      <p:sp>
        <p:nvSpPr>
          <p:cNvPr id="29" name="num5"/>
          <p:cNvSpPr/>
          <p:nvPr/>
        </p:nvSpPr>
        <p:spPr>
          <a:xfrm>
            <a:off x="731520" y="5354538"/>
            <a:ext cx="384048" cy="340846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31520" y="5354538"/>
            <a:ext cx="384048" cy="340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300" b="1" dirty="0">
                <a:solidFill>
                  <a:schemeClr val="bg1"/>
                </a:solidFill>
              </a:rPr>
              <a:t>Ⅶ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362895" y="5362653"/>
            <a:ext cx="1097280" cy="324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35분</a:t>
            </a:r>
            <a:endParaRPr lang="en-US" sz="14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65F61DA-BDA6-F7B1-5D6F-7F7DC4230FCA}"/>
              </a:ext>
            </a:extLst>
          </p:cNvPr>
          <p:cNvGrpSpPr/>
          <p:nvPr/>
        </p:nvGrpSpPr>
        <p:grpSpPr>
          <a:xfrm>
            <a:off x="548640" y="2036720"/>
            <a:ext cx="11094415" cy="584307"/>
            <a:chOff x="548640" y="2843784"/>
            <a:chExt cx="11094415" cy="658368"/>
          </a:xfrm>
        </p:grpSpPr>
        <p:sp>
          <p:nvSpPr>
            <p:cNvPr id="10" name="ostep1"/>
            <p:cNvSpPr/>
            <p:nvPr/>
          </p:nvSpPr>
          <p:spPr>
            <a:xfrm>
              <a:off x="548640" y="2843784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num2"/>
            <p:cNvSpPr/>
            <p:nvPr/>
          </p:nvSpPr>
          <p:spPr>
            <a:xfrm>
              <a:off x="731520" y="298094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731520" y="2980944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Ⅱ</a:t>
              </a:r>
              <a:endParaRPr 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10362895" y="2990088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10분</a:t>
              </a:r>
              <a:endParaRPr lang="en-US" sz="1400" dirty="0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EF17BE09-A777-ADA8-0BF7-B8D993D1B50F}"/>
                </a:ext>
              </a:extLst>
            </p:cNvPr>
            <p:cNvSpPr txBox="1"/>
            <p:nvPr/>
          </p:nvSpPr>
          <p:spPr>
            <a:xfrm>
              <a:off x="1280160" y="3025162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chemeClr val="accent1"/>
                  </a:solidFill>
                </a:rPr>
                <a:t>체육대회 시행 절차 정립 </a:t>
              </a:r>
              <a:endParaRPr lang="en-US" sz="1500" dirty="0"/>
            </a:p>
          </p:txBody>
        </p: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F99FFBA-5A24-1046-A70C-AB5195D515F0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3AE729B-9246-6279-A043-408D26BEC9F9}"/>
              </a:ext>
            </a:extLst>
          </p:cNvPr>
          <p:cNvGrpSpPr/>
          <p:nvPr/>
        </p:nvGrpSpPr>
        <p:grpSpPr>
          <a:xfrm>
            <a:off x="548640" y="3957830"/>
            <a:ext cx="11094415" cy="584307"/>
            <a:chOff x="548640" y="5098394"/>
            <a:chExt cx="11094415" cy="658368"/>
          </a:xfrm>
        </p:grpSpPr>
        <p:sp>
          <p:nvSpPr>
            <p:cNvPr id="13" name="ostep3">
              <a:extLst>
                <a:ext uri="{FF2B5EF4-FFF2-40B4-BE49-F238E27FC236}">
                  <a16:creationId xmlns:a16="http://schemas.microsoft.com/office/drawing/2014/main" id="{29233EAA-4761-29E3-2981-80D24E48D975}"/>
                </a:ext>
              </a:extLst>
            </p:cNvPr>
            <p:cNvSpPr/>
            <p:nvPr/>
          </p:nvSpPr>
          <p:spPr>
            <a:xfrm>
              <a:off x="548640" y="5098394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num4">
              <a:extLst>
                <a:ext uri="{FF2B5EF4-FFF2-40B4-BE49-F238E27FC236}">
                  <a16:creationId xmlns:a16="http://schemas.microsoft.com/office/drawing/2014/main" id="{0324DB98-BB11-8D5E-9430-C5075AB46F22}"/>
                </a:ext>
              </a:extLst>
            </p:cNvPr>
            <p:cNvSpPr/>
            <p:nvPr/>
          </p:nvSpPr>
          <p:spPr>
            <a:xfrm>
              <a:off x="731520" y="523555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FA2B1345-A44F-C4FD-8B8C-4F91134F2BBD}"/>
                </a:ext>
              </a:extLst>
            </p:cNvPr>
            <p:cNvSpPr txBox="1"/>
            <p:nvPr/>
          </p:nvSpPr>
          <p:spPr>
            <a:xfrm>
              <a:off x="731520" y="5235554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Ⅴ</a:t>
              </a:r>
              <a:endParaRPr 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 23">
              <a:extLst>
                <a:ext uri="{FF2B5EF4-FFF2-40B4-BE49-F238E27FC236}">
                  <a16:creationId xmlns:a16="http://schemas.microsoft.com/office/drawing/2014/main" id="{5F1C2528-F354-9009-81F3-5931A4651B40}"/>
                </a:ext>
              </a:extLst>
            </p:cNvPr>
            <p:cNvSpPr txBox="1"/>
            <p:nvPr/>
          </p:nvSpPr>
          <p:spPr>
            <a:xfrm>
              <a:off x="1280160" y="5255839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1"/>
                  </a:solidFill>
                </a:rPr>
                <a:t>S-O-R </a:t>
              </a:r>
              <a:r>
                <a:rPr lang="ko-KR" altLang="en-US" sz="1500" b="1" dirty="0">
                  <a:solidFill>
                    <a:schemeClr val="accent1"/>
                  </a:solidFill>
                </a:rPr>
                <a:t>모형 분석결과</a:t>
              </a:r>
              <a:endParaRPr lang="en-US" sz="1500" dirty="0"/>
            </a:p>
          </p:txBody>
        </p:sp>
        <p:sp>
          <p:nvSpPr>
            <p:cNvPr id="38" name="Text 25">
              <a:extLst>
                <a:ext uri="{FF2B5EF4-FFF2-40B4-BE49-F238E27FC236}">
                  <a16:creationId xmlns:a16="http://schemas.microsoft.com/office/drawing/2014/main" id="{454E682D-75C4-66D5-E962-8DC66B203291}"/>
                </a:ext>
              </a:extLst>
            </p:cNvPr>
            <p:cNvSpPr txBox="1"/>
            <p:nvPr/>
          </p:nvSpPr>
          <p:spPr>
            <a:xfrm>
              <a:off x="10362895" y="5244698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15분</a:t>
              </a:r>
              <a:endParaRPr lang="en-US" sz="1400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52273D9-89BE-961E-0338-128BFAD9B510}"/>
              </a:ext>
            </a:extLst>
          </p:cNvPr>
          <p:cNvGrpSpPr/>
          <p:nvPr/>
        </p:nvGrpSpPr>
        <p:grpSpPr>
          <a:xfrm>
            <a:off x="548640" y="4598200"/>
            <a:ext cx="11094415" cy="584307"/>
            <a:chOff x="548640" y="5098394"/>
            <a:chExt cx="11094415" cy="658368"/>
          </a:xfrm>
        </p:grpSpPr>
        <p:sp>
          <p:nvSpPr>
            <p:cNvPr id="46" name="ostep3">
              <a:extLst>
                <a:ext uri="{FF2B5EF4-FFF2-40B4-BE49-F238E27FC236}">
                  <a16:creationId xmlns:a16="http://schemas.microsoft.com/office/drawing/2014/main" id="{AC6AE19F-AA59-5F93-FFD7-3F5ABC155CB0}"/>
                </a:ext>
              </a:extLst>
            </p:cNvPr>
            <p:cNvSpPr/>
            <p:nvPr/>
          </p:nvSpPr>
          <p:spPr>
            <a:xfrm>
              <a:off x="548640" y="5098394"/>
              <a:ext cx="11094415" cy="658368"/>
            </a:xfrm>
            <a:prstGeom prst="roundRect">
              <a:avLst>
                <a:gd name="adj" fmla="val 11111"/>
              </a:avLst>
            </a:prstGeom>
            <a:solidFill>
              <a:schemeClr val="bg1"/>
            </a:solidFill>
            <a:ln w="9525">
              <a:solidFill>
                <a:schemeClr val="accent5"/>
              </a:solidFill>
              <a:prstDash val="solid"/>
            </a:ln>
            <a:effectLst>
              <a:outerShdw blurRad="76200" dist="25400" dir="5400000" algn="bl" rotWithShape="0">
                <a:srgbClr val="123A63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num4">
              <a:extLst>
                <a:ext uri="{FF2B5EF4-FFF2-40B4-BE49-F238E27FC236}">
                  <a16:creationId xmlns:a16="http://schemas.microsoft.com/office/drawing/2014/main" id="{EE83E3CA-B979-5ADA-CF94-581BE8C2B509}"/>
                </a:ext>
              </a:extLst>
            </p:cNvPr>
            <p:cNvSpPr/>
            <p:nvPr/>
          </p:nvSpPr>
          <p:spPr>
            <a:xfrm>
              <a:off x="731520" y="523555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31C51071-57A8-5FF6-147E-C7F58955C492}"/>
                </a:ext>
              </a:extLst>
            </p:cNvPr>
            <p:cNvSpPr txBox="1"/>
            <p:nvPr/>
          </p:nvSpPr>
          <p:spPr>
            <a:xfrm>
              <a:off x="731520" y="5235554"/>
              <a:ext cx="384048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chemeClr val="bg1"/>
                  </a:solidFill>
                </a:rPr>
                <a:t>Ⅵ</a:t>
              </a:r>
              <a:endParaRPr lang="en-US" sz="13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BEA9A702-DFBB-8912-CDCA-E4EC93A3DB32}"/>
                </a:ext>
              </a:extLst>
            </p:cNvPr>
            <p:cNvSpPr txBox="1"/>
            <p:nvPr/>
          </p:nvSpPr>
          <p:spPr>
            <a:xfrm>
              <a:off x="1280160" y="5282602"/>
              <a:ext cx="548640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altLang="ko-KR" sz="1600" b="1" dirty="0" err="1">
                  <a:solidFill/>
                  <a:latin typeface="+mn-ea"/>
                </a:rPr>
                <a:t>종합</a:t>
              </a:r>
              <a:r>
                <a:rPr lang="en-US" altLang="ko-KR" sz="1600" b="1" dirty="0">
                  <a:solidFill/>
                  <a:latin typeface="+mn-ea"/>
                </a:rPr>
                <a:t> </a:t>
              </a:r>
              <a:r>
                <a:rPr lang="en-US" altLang="ko-KR" sz="1600" b="1" dirty="0" err="1">
                  <a:solidFill/>
                  <a:latin typeface="+mn-ea"/>
                </a:rPr>
                <a:t>정리</a:t>
              </a:r>
              <a:r>
                <a:rPr lang="en-US" altLang="ko-KR" sz="1600" b="1" dirty="0">
                  <a:solidFill/>
                  <a:latin typeface="+mn-ea"/>
                </a:rPr>
                <a:t> : </a:t>
              </a:r>
              <a:r>
                <a:rPr lang="en-US" altLang="ko-KR" sz="1600" b="1" dirty="0" err="1">
                  <a:solidFill/>
                  <a:latin typeface="+mn-ea"/>
                </a:rPr>
                <a:t>문제점과</a:t>
              </a:r>
              <a:r>
                <a:rPr lang="en-US" altLang="ko-KR" sz="1600" b="1" dirty="0">
                  <a:solidFill/>
                  <a:latin typeface="+mn-ea"/>
                </a:rPr>
                <a:t> </a:t>
              </a:r>
              <a:r>
                <a:rPr lang="en-US" altLang="ko-KR" sz="1600" b="1" dirty="0" err="1">
                  <a:solidFill/>
                  <a:latin typeface="+mn-ea"/>
                </a:rPr>
                <a:t>해결</a:t>
              </a:r>
              <a:r>
                <a:rPr lang="en-US" altLang="ko-KR" sz="1600" b="1" dirty="0">
                  <a:solidFill/>
                  <a:latin typeface="+mn-ea"/>
                </a:rPr>
                <a:t> </a:t>
              </a:r>
              <a:r>
                <a:rPr lang="en-US" altLang="ko-KR" sz="1600" b="1" dirty="0" err="1">
                  <a:solidFill/>
                  <a:latin typeface="+mn-ea"/>
                </a:rPr>
                <a:t>방안</a:t>
              </a:r>
              <a:endParaRPr lang="en-US" sz="1500" b="1" dirty="0">
                <a:latin typeface="+mn-ea"/>
              </a:endParaRPr>
            </a:p>
          </p:txBody>
        </p:sp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1CC4AF9B-7E77-6288-0A32-47A1D832A78F}"/>
                </a:ext>
              </a:extLst>
            </p:cNvPr>
            <p:cNvSpPr txBox="1"/>
            <p:nvPr/>
          </p:nvSpPr>
          <p:spPr>
            <a:xfrm>
              <a:off x="10362895" y="5244698"/>
              <a:ext cx="1097280" cy="3657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accent2"/>
                  </a:solidFill>
                </a:rPr>
                <a:t>3분</a:t>
              </a:r>
              <a:endParaRPr lang="en-US" sz="1400" dirty="0"/>
            </a:p>
          </p:txBody>
        </p:sp>
      </p:grpSp>
      <p:sp>
        <p:nvSpPr>
          <p:cNvPr id="52" name="Rectangle 5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07E7A1-01BE-B03C-313E-4AD35B8C85C0}"/>
              </a:ext>
            </a:extLst>
          </p:cNvPr>
          <p:cNvSpPr txBox="1"/>
          <p:nvPr/>
        </p:nvSpPr>
        <p:spPr>
          <a:xfrm>
            <a:off x="8965309" y="6433820"/>
            <a:ext cx="3128212" cy="30777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lang="ko-KR" altLang="ko-KR" sz="1400" b="1" dirty="0"/>
              <a:t>※ 통계 상세표는 부록 참조</a:t>
            </a:r>
            <a:endParaRPr lang="ko-KR" altLang="en-US" sz="1400" b="1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43960E9-FD8E-FE21-6150-A810D545ED02}"/>
              </a:ext>
            </a:extLst>
          </p:cNvPr>
          <p:cNvSpPr/>
          <p:nvPr/>
        </p:nvSpPr>
        <p:spPr>
          <a:xfrm>
            <a:off x="735476" y="5991601"/>
            <a:ext cx="384048" cy="34084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BBB638C1-74E0-B9B2-CB2F-C8AF12822EDE}"/>
              </a:ext>
            </a:extLst>
          </p:cNvPr>
          <p:cNvSpPr txBox="1"/>
          <p:nvPr/>
        </p:nvSpPr>
        <p:spPr>
          <a:xfrm>
            <a:off x="731521" y="5994307"/>
            <a:ext cx="384048" cy="340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300" b="1" dirty="0">
                <a:solidFill>
                  <a:srgbClr val="000000"/>
                </a:solidFill>
              </a:rPr>
              <a:t>Ⅷ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33A172AC-15D0-A73C-5F96-EDA10682AABD}"/>
              </a:ext>
            </a:extLst>
          </p:cNvPr>
          <p:cNvSpPr txBox="1"/>
          <p:nvPr/>
        </p:nvSpPr>
        <p:spPr>
          <a:xfrm>
            <a:off x="10368838" y="6041527"/>
            <a:ext cx="1097280" cy="324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5분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C0AD27FB-EC5B-42D2-8544-9AA70C437634}"/>
              </a:ext>
            </a:extLst>
          </p:cNvPr>
          <p:cNvSpPr>
            <a:spLocks noGrp="1"/>
          </p:cNvSpPr>
          <p:nvPr/>
        </p:nvSpPr>
        <p:spPr>
          <a:xfrm>
            <a:off x="-18214" y="0"/>
            <a:ext cx="4714875" cy="6858000"/>
          </a:xfrm>
          <a:prstGeom prst="rect">
            <a:avLst/>
          </a:prstGeom>
          <a:solidFill>
            <a:srgbClr val="193D6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68F36F-FBF8-4431-B9B1-7A72CC443C11}"/>
              </a:ext>
            </a:extLst>
          </p:cNvPr>
          <p:cNvSpPr>
            <a:spLocks noGrp="1"/>
          </p:cNvSpPr>
          <p:nvPr/>
        </p:nvSpPr>
        <p:spPr>
          <a:xfrm>
            <a:off x="5343525" y="1009650"/>
            <a:ext cx="2543175" cy="390525"/>
          </a:xfrm>
          <a:prstGeom prst="roundRect">
            <a:avLst>
              <a:gd name="adj" fmla="val 19512"/>
            </a:avLst>
          </a:prstGeom>
          <a:solidFill>
            <a:srgbClr val="E8F2F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0E079D-0E94-469C-888A-888CDD648895}"/>
              </a:ext>
            </a:extLst>
          </p:cNvPr>
          <p:cNvSpPr>
            <a:spLocks noGrp="1"/>
          </p:cNvSpPr>
          <p:nvPr/>
        </p:nvSpPr>
        <p:spPr>
          <a:xfrm>
            <a:off x="5433261" y="1047750"/>
            <a:ext cx="2333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1200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조원교회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|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체육대회 사후검토 회의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247E80-234D-41D9-8D03-A7008B1E252C}"/>
              </a:ext>
            </a:extLst>
          </p:cNvPr>
          <p:cNvSpPr>
            <a:spLocks noGrp="1"/>
          </p:cNvSpPr>
          <p:nvPr/>
        </p:nvSpPr>
        <p:spPr>
          <a:xfrm>
            <a:off x="5305425" y="1762125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4350" b="1" i="0" u="none" strike="noStrike" kern="1200" cap="none" spc="0" normalizeH="0" baseline="0" noProof="0">
                <a:ln>
                  <a:noFill/>
                </a:ln>
                <a:solidFill>
                  <a:srgbClr val="142C4E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함께 웃고</a:t>
            </a:r>
            <a:r>
              <a:rPr kumimoji="0" lang="en-US" altLang="ko-KR" sz="4350" b="1" i="0" u="none" strike="noStrike" kern="1200" cap="none" spc="0" normalizeH="0" baseline="0" noProof="0">
                <a:ln>
                  <a:noFill/>
                </a:ln>
                <a:solidFill>
                  <a:srgbClr val="142C4E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A9E09F-DD62-487D-91AC-0829F77B578A}"/>
              </a:ext>
            </a:extLst>
          </p:cNvPr>
          <p:cNvSpPr>
            <a:spLocks noGrp="1"/>
          </p:cNvSpPr>
          <p:nvPr/>
        </p:nvSpPr>
        <p:spPr>
          <a:xfrm>
            <a:off x="5305425" y="2466975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4350" b="1" i="0" u="none" strike="noStrike" kern="1200" cap="none" spc="0" normalizeH="0" baseline="0" noProof="0">
                <a:ln>
                  <a:noFill/>
                </a:ln>
                <a:solidFill>
                  <a:srgbClr val="142C4E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함께 감사하며</a:t>
            </a:r>
            <a:r>
              <a:rPr kumimoji="0" lang="en-US" altLang="ko-KR" sz="4350" b="1" i="0" u="none" strike="noStrike" kern="1200" cap="none" spc="0" normalizeH="0" baseline="0" noProof="0">
                <a:ln>
                  <a:noFill/>
                </a:ln>
                <a:solidFill>
                  <a:srgbClr val="142C4E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BDBF4-C337-4E08-A91B-443B9CFACEE8}"/>
              </a:ext>
            </a:extLst>
          </p:cNvPr>
          <p:cNvSpPr>
            <a:spLocks noGrp="1"/>
          </p:cNvSpPr>
          <p:nvPr/>
        </p:nvSpPr>
        <p:spPr>
          <a:xfrm>
            <a:off x="5267325" y="3543300"/>
            <a:ext cx="6267450" cy="1095375"/>
          </a:xfrm>
          <a:prstGeom prst="roundRect">
            <a:avLst>
              <a:gd name="adj" fmla="val 6957"/>
            </a:avLst>
          </a:prstGeom>
          <a:solidFill>
            <a:srgbClr val="142C4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2B357B-62E0-4589-8956-6BAA628D86A8}"/>
              </a:ext>
            </a:extLst>
          </p:cNvPr>
          <p:cNvSpPr>
            <a:spLocks noGrp="1"/>
          </p:cNvSpPr>
          <p:nvPr/>
        </p:nvSpPr>
        <p:spPr>
          <a:xfrm>
            <a:off x="5562600" y="3755356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35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35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모두발언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FE09038-EEA5-490E-8F28-CB08F95401AA}"/>
              </a:ext>
            </a:extLst>
          </p:cNvPr>
          <p:cNvSpPr>
            <a:spLocks noGrp="1"/>
          </p:cNvSpPr>
          <p:nvPr/>
        </p:nvSpPr>
        <p:spPr>
          <a:xfrm>
            <a:off x="7772400" y="3829050"/>
            <a:ext cx="685800" cy="504825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539A9E-D4FC-4313-8662-2FA288819895}"/>
              </a:ext>
            </a:extLst>
          </p:cNvPr>
          <p:cNvSpPr>
            <a:spLocks noGrp="1"/>
          </p:cNvSpPr>
          <p:nvPr/>
        </p:nvSpPr>
        <p:spPr>
          <a:xfrm>
            <a:off x="7772400" y="3819525"/>
            <a:ext cx="685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6458CD-DA7B-4D4D-8531-EF554E838ACC}"/>
              </a:ext>
            </a:extLst>
          </p:cNvPr>
          <p:cNvSpPr>
            <a:spLocks noGrp="1"/>
          </p:cNvSpPr>
          <p:nvPr/>
        </p:nvSpPr>
        <p:spPr>
          <a:xfrm>
            <a:off x="8705850" y="36766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3525" b="0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0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3525" b="0" i="0" u="none" strike="noStrike" kern="1200" cap="none" spc="0" normalizeH="0" baseline="0" noProof="0" dirty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기도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7BEF1C-4A72-404F-9290-F590790812C8}"/>
              </a:ext>
            </a:extLst>
          </p:cNvPr>
          <p:cNvSpPr>
            <a:spLocks noGrp="1"/>
          </p:cNvSpPr>
          <p:nvPr/>
        </p:nvSpPr>
        <p:spPr>
          <a:xfrm>
            <a:off x="5334000" y="488632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2175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2175" b="1" i="0" u="none" strike="noStrike" kern="1200" cap="none" spc="0" normalizeH="0" baseline="0" noProof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은혜로운 시작</a:t>
            </a:r>
            <a:r>
              <a:rPr kumimoji="0" lang="en-US" altLang="ko-KR" sz="2175" b="1" i="0" u="none" strike="noStrike" kern="1200" cap="none" spc="0" normalizeH="0" baseline="0" noProof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</a:t>
            </a:r>
            <a:r>
              <a:rPr kumimoji="0" lang="ko-KR" altLang="en-US" sz="2175" b="1" i="0" u="none" strike="noStrike" kern="1200" cap="none" spc="0" normalizeH="0" baseline="0" noProof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감사한 마무리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6E1706-5B5A-498B-87D1-EBD4927AEBDF}"/>
              </a:ext>
            </a:extLst>
          </p:cNvPr>
          <p:cNvSpPr>
            <a:spLocks noGrp="1"/>
          </p:cNvSpPr>
          <p:nvPr/>
        </p:nvSpPr>
        <p:spPr>
          <a:xfrm>
            <a:off x="5334000" y="5467350"/>
            <a:ext cx="5953125" cy="12383"/>
          </a:xfrm>
          <a:prstGeom prst="rect">
            <a:avLst/>
          </a:prstGeom>
          <a:solidFill>
            <a:srgbClr val="CADBE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4B28E8-0CC0-43E0-AD7A-33AF563E7E26}"/>
              </a:ext>
            </a:extLst>
          </p:cNvPr>
          <p:cNvSpPr>
            <a:spLocks noGrp="1"/>
          </p:cNvSpPr>
          <p:nvPr/>
        </p:nvSpPr>
        <p:spPr>
          <a:xfrm>
            <a:off x="5334000" y="56197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1500" b="0">
                <a:solidFill>
                  <a:srgbClr val="60788C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60788C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60788C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우리의 수고와 기쁨을 하나님께 올려드립니다</a:t>
            </a:r>
            <a:r>
              <a:rPr kumimoji="0" lang="en-US" altLang="ko-KR" sz="1500" b="0" i="0" u="none" strike="noStrike" kern="1200" cap="none" spc="0" normalizeH="0" baseline="0" noProof="0">
                <a:ln>
                  <a:noFill/>
                </a:ln>
                <a:solidFill>
                  <a:srgbClr val="60788C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8C75B3-0BAF-40B2-BA59-6F5CBB50005A}"/>
              </a:ext>
            </a:extLst>
          </p:cNvPr>
          <p:cNvSpPr>
            <a:spLocks noGrp="1"/>
          </p:cNvSpPr>
          <p:nvPr/>
        </p:nvSpPr>
        <p:spPr>
          <a:xfrm>
            <a:off x="619125" y="2508250"/>
            <a:ext cx="3524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457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7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4575" b="1" i="0" u="none" strike="noStrike" kern="1200" cap="none" spc="0" normalizeH="0" baseline="0" noProof="0" dirty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환영합니다</a:t>
            </a:r>
            <a:r>
              <a:rPr kumimoji="0" lang="en-US" altLang="ko-KR" sz="4575" b="1" i="0" u="none" strike="noStrike" kern="1200" cap="none" spc="0" normalizeH="0" baseline="0" noProof="0" dirty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4C1B5B-B65E-40A1-ABDE-18CCCB94B9F7}"/>
              </a:ext>
            </a:extLst>
          </p:cNvPr>
          <p:cNvSpPr>
            <a:spLocks noGrp="1"/>
          </p:cNvSpPr>
          <p:nvPr/>
        </p:nvSpPr>
        <p:spPr>
          <a:xfrm>
            <a:off x="533400" y="4895850"/>
            <a:ext cx="3657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187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8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따뜻한 말씀과 기도로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6F4970-5416-4B2F-9E87-464FA5A42279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338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02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2025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함께 시작합니다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F81B36F-50EE-4FD5-BFC8-17FCB67F8A5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209550" cy="20955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D0166D-C072-4157-8095-A88D1E9E6A5B}"/>
              </a:ext>
            </a:extLst>
          </p:cNvPr>
          <p:cNvSpPr>
            <a:spLocks noGrp="1"/>
          </p:cNvSpPr>
          <p:nvPr/>
        </p:nvSpPr>
        <p:spPr>
          <a:xfrm>
            <a:off x="3733800" y="733425"/>
            <a:ext cx="152400" cy="1524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1E44239-4AD3-440D-8916-AA010DAFEED1}"/>
              </a:ext>
            </a:extLst>
          </p:cNvPr>
          <p:cNvSpPr>
            <a:spLocks noGrp="1"/>
          </p:cNvSpPr>
          <p:nvPr/>
        </p:nvSpPr>
        <p:spPr>
          <a:xfrm>
            <a:off x="4905375" y="1009650"/>
            <a:ext cx="228600" cy="22860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CDE3E03-77B3-4F78-B954-E003F8BB3BA1}"/>
              </a:ext>
            </a:extLst>
          </p:cNvPr>
          <p:cNvSpPr>
            <a:spLocks noGrp="1"/>
          </p:cNvSpPr>
          <p:nvPr/>
        </p:nvSpPr>
        <p:spPr>
          <a:xfrm>
            <a:off x="10915650" y="714375"/>
            <a:ext cx="190500" cy="1905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8B54E6F-D620-4746-8DBA-60A7DF7448D4}"/>
              </a:ext>
            </a:extLst>
          </p:cNvPr>
          <p:cNvSpPr>
            <a:spLocks noGrp="1"/>
          </p:cNvSpPr>
          <p:nvPr/>
        </p:nvSpPr>
        <p:spPr>
          <a:xfrm>
            <a:off x="11430000" y="1171575"/>
            <a:ext cx="228600" cy="2286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C261734-C0D7-4CF6-BEBE-36E060F75763}"/>
              </a:ext>
            </a:extLst>
          </p:cNvPr>
          <p:cNvSpPr>
            <a:spLocks noGrp="1"/>
          </p:cNvSpPr>
          <p:nvPr/>
        </p:nvSpPr>
        <p:spPr>
          <a:xfrm>
            <a:off x="11468100" y="5029200"/>
            <a:ext cx="228600" cy="22860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A0E4BD-EB39-450F-9404-CFE204BEA9F1}"/>
              </a:ext>
            </a:extLst>
          </p:cNvPr>
          <p:cNvSpPr>
            <a:spLocks noGrp="1"/>
          </p:cNvSpPr>
          <p:nvPr/>
        </p:nvSpPr>
        <p:spPr>
          <a:xfrm>
            <a:off x="10972800" y="5353050"/>
            <a:ext cx="152400" cy="15240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EDBBFF2-A363-4723-9204-37EC2358ED00}"/>
              </a:ext>
            </a:extLst>
          </p:cNvPr>
          <p:cNvSpPr>
            <a:spLocks noGrp="1"/>
          </p:cNvSpPr>
          <p:nvPr/>
        </p:nvSpPr>
        <p:spPr>
          <a:xfrm>
            <a:off x="466725" y="5486400"/>
            <a:ext cx="171450" cy="17145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0B2FD5F-BB7B-46A5-8168-2BBBF7AAD92E}"/>
              </a:ext>
            </a:extLst>
          </p:cNvPr>
          <p:cNvSpPr>
            <a:spLocks noGrp="1"/>
          </p:cNvSpPr>
          <p:nvPr/>
        </p:nvSpPr>
        <p:spPr>
          <a:xfrm>
            <a:off x="3552825" y="5886450"/>
            <a:ext cx="133350" cy="13335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F334509-0F86-474F-A9F2-06627F2D3409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8657AC-9BCB-41D7-9EB0-84226C82B542}"/>
              </a:ext>
            </a:extLst>
          </p:cNvPr>
          <p:cNvSpPr>
            <a:spLocks noGrp="1"/>
          </p:cNvSpPr>
          <p:nvPr/>
        </p:nvSpPr>
        <p:spPr>
          <a:xfrm>
            <a:off x="10001250" y="895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FFCE4A-8B4C-4F86-8FB5-F22514CAAF78}"/>
              </a:ext>
            </a:extLst>
          </p:cNvPr>
          <p:cNvSpPr>
            <a:spLocks noGrp="1"/>
          </p:cNvSpPr>
          <p:nvPr/>
        </p:nvSpPr>
        <p:spPr>
          <a:xfrm>
            <a:off x="581025" y="4705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B84F3-B392-4673-A34D-7BFD86B92193}"/>
              </a:ext>
            </a:extLst>
          </p:cNvPr>
          <p:cNvSpPr>
            <a:spLocks noGrp="1"/>
          </p:cNvSpPr>
          <p:nvPr/>
        </p:nvSpPr>
        <p:spPr>
          <a:xfrm>
            <a:off x="4953000" y="53721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43439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8B0F4-906D-9DE7-06A3-9F837D32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15F96ED-5E71-2E6B-F9FE-45CB73904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22902"/>
              </p:ext>
            </p:extLst>
          </p:nvPr>
        </p:nvGraphicFramePr>
        <p:xfrm>
          <a:off x="838200" y="1820705"/>
          <a:ext cx="11219227" cy="252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846">
                  <a:extLst>
                    <a:ext uri="{9D8B030D-6E8A-4147-A177-3AD203B41FA5}">
                      <a16:colId xmlns:a16="http://schemas.microsoft.com/office/drawing/2014/main" val="160914365"/>
                    </a:ext>
                  </a:extLst>
                </a:gridCol>
                <a:gridCol w="8171227">
                  <a:extLst>
                    <a:ext uri="{9D8B030D-6E8A-4147-A177-3AD203B41FA5}">
                      <a16:colId xmlns:a16="http://schemas.microsoft.com/office/drawing/2014/main" val="4118270695"/>
                    </a:ext>
                  </a:extLst>
                </a:gridCol>
                <a:gridCol w="558154">
                  <a:extLst>
                    <a:ext uri="{9D8B030D-6E8A-4147-A177-3AD203B41FA5}">
                      <a16:colId xmlns:a16="http://schemas.microsoft.com/office/drawing/2014/main" val="1980906512"/>
                    </a:ext>
                  </a:extLst>
                </a:gridCol>
              </a:tblGrid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목   표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   과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평 가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893557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교인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250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명 참여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243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명 참여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(97%)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666384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전 세대 참여 종목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12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개 시행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오전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5,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오후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개 종목 운영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세대별 구분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통합 등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762388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협력 중심 경기 운영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개인 경기 배제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협력위주 경기 진행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단체 줄넘기 등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761931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안전사고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Zero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사고 없음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30524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계획된 일정 준수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일정준수</a:t>
                      </a:r>
                      <a:endParaRPr lang="ko-KR" sz="1100" b="1" i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66617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예산 지침 준수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교회 재정은 계획의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104%(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초과 지출은 찬조금으로 충당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담임목사 승인 전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에산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집행 발생 →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Ⅱ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장에서 검토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endParaRPr lang="ko-KR" sz="1100" b="1" i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993219"/>
                  </a:ext>
                </a:extLst>
              </a:tr>
              <a:tr h="315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행사 후 공동체 연결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i="1" dirty="0">
                          <a:solidFill>
                            <a:srgbClr val="293B4C"/>
                          </a:solidFill>
                        </a:rPr>
                        <a:t>“</a:t>
                      </a:r>
                      <a:r>
                        <a:rPr lang="ko-KR" altLang="en-US" sz="1100" b="1" i="1" dirty="0">
                          <a:solidFill>
                            <a:srgbClr val="293B4C"/>
                          </a:solidFill>
                        </a:rPr>
                        <a:t>모르던 성도와 가까워졌다</a:t>
                      </a:r>
                      <a:r>
                        <a:rPr lang="en-US" altLang="ko-KR" sz="1100" b="1" i="1" dirty="0">
                          <a:solidFill>
                            <a:srgbClr val="293B4C"/>
                          </a:solidFill>
                        </a:rPr>
                        <a:t>“  54% </a:t>
                      </a:r>
                      <a:r>
                        <a:rPr lang="ko-KR" altLang="en-US" sz="1100" b="1" i="1" dirty="0">
                          <a:solidFill>
                            <a:srgbClr val="293B4C"/>
                          </a:solidFill>
                        </a:rPr>
                        <a:t>수준</a:t>
                      </a:r>
                      <a:endParaRPr lang="ko-KR" sz="1100" b="1" i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i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449352"/>
                  </a:ext>
                </a:extLst>
              </a:tr>
            </a:tbl>
          </a:graphicData>
        </a:graphic>
      </p:graphicFrame>
      <p:sp>
        <p:nvSpPr>
          <p:cNvPr id="62" name="제목 61">
            <a:extLst>
              <a:ext uri="{FF2B5EF4-FFF2-40B4-BE49-F238E27FC236}">
                <a16:creationId xmlns:a16="http://schemas.microsoft.com/office/drawing/2014/main" id="{A6D03E6C-B77D-DE82-E372-5AD71B8FC2B5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548640" y="9040"/>
            <a:ext cx="11094415" cy="768096"/>
          </a:xfrm>
        </p:spPr>
        <p:txBody>
          <a:bodyPr/>
          <a:lstStyle/>
          <a:p>
            <a:pPr algn="ctr"/>
            <a:r>
              <a:rPr lang="en-US" altLang="ko-KR" sz="3200" dirty="0">
                <a:solidFill/>
              </a:rPr>
              <a:t>Ⅰ.</a:t>
            </a:r>
            <a:r>
              <a:rPr lang="ko-KR" altLang="en-US" sz="3200" dirty="0">
                <a:solidFill/>
              </a:rPr>
              <a:t>개요 </a:t>
            </a:r>
            <a:r>
              <a:rPr lang="en-US" altLang="ko-KR" sz="3200" dirty="0">
                <a:solidFill/>
              </a:rPr>
              <a:t>/ </a:t>
            </a:r>
            <a:r>
              <a:rPr lang="ko-KR" altLang="en-US" sz="3200" dirty="0">
                <a:solidFill/>
              </a:rPr>
              <a:t>일반현황</a:t>
            </a:r>
            <a:r>
              <a:rPr lang="en-US" altLang="ko-KR" sz="2400" dirty="0">
                <a:solidFill/>
              </a:rPr>
              <a:t>(1/2)</a:t>
            </a:r>
            <a:endParaRPr lang="ko-KR" altLang="en-US" sz="3200" dirty="0"/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A8C928BD-A9E5-865E-D9B1-481E261762B8}"/>
              </a:ext>
            </a:extLst>
          </p:cNvPr>
          <p:cNvSpPr txBox="1"/>
          <p:nvPr/>
        </p:nvSpPr>
        <p:spPr>
          <a:xfrm>
            <a:off x="838403" y="146168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목표 달성도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24075BB-F483-1B8B-5703-B885DD06B5DA}"/>
              </a:ext>
            </a:extLst>
          </p:cNvPr>
          <p:cNvSpPr/>
          <p:nvPr/>
        </p:nvSpPr>
        <p:spPr>
          <a:xfrm>
            <a:off x="391886" y="1479686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2</a:t>
            </a:r>
            <a:endParaRPr lang="ko-KR" altLang="en-US" b="1" dirty="0"/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B98DBDD3-6D4A-E3EC-82F9-20C5ACC8B701}"/>
              </a:ext>
            </a:extLst>
          </p:cNvPr>
          <p:cNvSpPr txBox="1"/>
          <p:nvPr/>
        </p:nvSpPr>
        <p:spPr>
          <a:xfrm>
            <a:off x="838403" y="4543012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행사 개요 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4D651CB-B94A-3597-EE6F-C4E24710DEA3}"/>
              </a:ext>
            </a:extLst>
          </p:cNvPr>
          <p:cNvSpPr/>
          <p:nvPr/>
        </p:nvSpPr>
        <p:spPr>
          <a:xfrm>
            <a:off x="391886" y="4536417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3</a:t>
            </a:r>
            <a:endParaRPr lang="ko-KR" altLang="en-US" b="1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8AB9961-92B1-6DD7-A8B4-52EC3787AF62}"/>
              </a:ext>
            </a:extLst>
          </p:cNvPr>
          <p:cNvSpPr/>
          <p:nvPr/>
        </p:nvSpPr>
        <p:spPr>
          <a:xfrm>
            <a:off x="6717967" y="1462546"/>
            <a:ext cx="965860" cy="306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범례 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:</a:t>
            </a:r>
            <a:endParaRPr lang="ko-KR" altLang="en-US" sz="1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9B8373-3FF7-1C23-3376-3378DEC07865}"/>
              </a:ext>
            </a:extLst>
          </p:cNvPr>
          <p:cNvSpPr/>
          <p:nvPr/>
        </p:nvSpPr>
        <p:spPr>
          <a:xfrm>
            <a:off x="7633757" y="1470753"/>
            <a:ext cx="1136071" cy="306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90%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이상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53E525E-CF49-296F-3C3B-721B7BE89A38}"/>
              </a:ext>
            </a:extLst>
          </p:cNvPr>
          <p:cNvGrpSpPr/>
          <p:nvPr/>
        </p:nvGrpSpPr>
        <p:grpSpPr>
          <a:xfrm>
            <a:off x="8569482" y="1478953"/>
            <a:ext cx="1447917" cy="306772"/>
            <a:chOff x="8196342" y="1483869"/>
            <a:chExt cx="1447917" cy="30677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BD274659-17D6-4644-111E-EBEA4B073DAC}"/>
                </a:ext>
              </a:extLst>
            </p:cNvPr>
            <p:cNvSpPr/>
            <p:nvPr/>
          </p:nvSpPr>
          <p:spPr>
            <a:xfrm>
              <a:off x="8196342" y="1507517"/>
              <a:ext cx="302428" cy="255129"/>
            </a:xfrm>
            <a:prstGeom prst="ellipse">
              <a:avLst/>
            </a:prstGeom>
            <a:solidFill>
              <a:srgbClr val="FFEBA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293B4C"/>
                  </a:solidFill>
                  <a:latin typeface="맑은 고딕"/>
                  <a:ea typeface="+mj-ea"/>
                </a:rPr>
                <a:t>A</a:t>
              </a:r>
              <a:endParaRPr lang="ko-KR" altLang="en-US" sz="11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E7926781-6AED-B56E-70E9-67C0B4940EF7}"/>
                </a:ext>
              </a:extLst>
            </p:cNvPr>
            <p:cNvSpPr/>
            <p:nvPr/>
          </p:nvSpPr>
          <p:spPr>
            <a:xfrm>
              <a:off x="8268316" y="1483869"/>
              <a:ext cx="1375943" cy="306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293B4C"/>
                  </a:solidFill>
                  <a:latin typeface="맑은 고딕"/>
                </a:rPr>
                <a:t>80%~89%</a:t>
              </a:r>
              <a:endParaRPr lang="ko-KR" altLang="en-US" sz="1100" b="1" dirty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97" name="타원 96">
            <a:extLst>
              <a:ext uri="{FF2B5EF4-FFF2-40B4-BE49-F238E27FC236}">
                <a16:creationId xmlns:a16="http://schemas.microsoft.com/office/drawing/2014/main" id="{29491A79-60C5-304A-9E0B-A04FDFF08EE7}"/>
              </a:ext>
            </a:extLst>
          </p:cNvPr>
          <p:cNvSpPr/>
          <p:nvPr/>
        </p:nvSpPr>
        <p:spPr>
          <a:xfrm>
            <a:off x="9738566" y="1518436"/>
            <a:ext cx="302428" cy="255129"/>
          </a:xfrm>
          <a:prstGeom prst="ellipse">
            <a:avLst/>
          </a:prstGeom>
          <a:solidFill>
            <a:srgbClr val="E870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/>
                <a:latin typeface="맑은 고딕"/>
                <a:ea typeface="+mj-ea"/>
              </a:rPr>
              <a:t>R</a:t>
            </a:r>
            <a:endParaRPr lang="ko-KR" altLang="en-US" sz="1100" b="1" dirty="0">
              <a:latin typeface="+mj-ea"/>
              <a:ea typeface="+mj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7CE38B0-D5BC-ABE1-A493-B51DF66A6DD2}"/>
              </a:ext>
            </a:extLst>
          </p:cNvPr>
          <p:cNvSpPr/>
          <p:nvPr/>
        </p:nvSpPr>
        <p:spPr>
          <a:xfrm>
            <a:off x="9798939" y="1470753"/>
            <a:ext cx="1375943" cy="306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70%~79%</a:t>
            </a:r>
            <a:endParaRPr lang="ko-KR" altLang="en-US" sz="1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51B5D8C-14DE-8471-D4C5-7ADAF1CD4EC5}"/>
              </a:ext>
            </a:extLst>
          </p:cNvPr>
          <p:cNvSpPr/>
          <p:nvPr/>
        </p:nvSpPr>
        <p:spPr>
          <a:xfrm>
            <a:off x="10883621" y="1522536"/>
            <a:ext cx="302428" cy="25512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맑은 고딕"/>
                <a:ea typeface="+mj-ea"/>
              </a:rPr>
              <a:t>B</a:t>
            </a:r>
            <a:endParaRPr lang="ko-KR" altLang="en-US" sz="1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59F745D-5487-0E34-004A-DE60A9290126}"/>
              </a:ext>
            </a:extLst>
          </p:cNvPr>
          <p:cNvSpPr/>
          <p:nvPr/>
        </p:nvSpPr>
        <p:spPr>
          <a:xfrm>
            <a:off x="11011561" y="1495353"/>
            <a:ext cx="1136071" cy="306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69%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이하</a:t>
            </a:r>
          </a:p>
        </p:txBody>
      </p:sp>
      <p:sp>
        <p:nvSpPr>
          <p:cNvPr id="114" name="Text 3">
            <a:extLst>
              <a:ext uri="{FF2B5EF4-FFF2-40B4-BE49-F238E27FC236}">
                <a16:creationId xmlns:a16="http://schemas.microsoft.com/office/drawing/2014/main" id="{3211611B-1FA9-63BD-CFB9-D08BF29C546B}"/>
              </a:ext>
            </a:extLst>
          </p:cNvPr>
          <p:cNvSpPr txBox="1"/>
          <p:nvPr/>
        </p:nvSpPr>
        <p:spPr>
          <a:xfrm>
            <a:off x="838403" y="993120"/>
            <a:ext cx="11353292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목 적 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: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①교회 공동체의 하나됨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②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세대 간  소통과 화합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③ 선교회 및 부서 간 교제 확대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④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새가족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정착 지원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⑤건강한 쉼과 기쁨의 회복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AC45D47-AEE6-0676-8D9A-739EC9EBBB44}"/>
              </a:ext>
            </a:extLst>
          </p:cNvPr>
          <p:cNvSpPr/>
          <p:nvPr/>
        </p:nvSpPr>
        <p:spPr>
          <a:xfrm>
            <a:off x="391886" y="1011126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1</a:t>
            </a:r>
            <a:endParaRPr lang="ko-KR" altLang="en-US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0201441-6379-4B00-2CAC-28BD6AB3ABEC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6EED939-2F23-2AC3-FE4D-094774C44094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A6D731-2FA5-1E12-040C-359E4D3F6846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D595FE-643D-815B-F4C3-F7EF1E99BF33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8EFC52A-3FA7-537C-B67B-8F29E20BB575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4E3A560-9F26-06CA-73B9-0C0A24F31983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5FC5D0-92FA-0FBD-DA66-CFCDEBC7BE3C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34C3DFC-0C12-84BD-BD2D-1109E4FF7126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4220ED1-2760-FD18-F5D3-857D5304D2F2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6AFD88A-201B-B32E-3687-B01AF097FE21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BA558BA-F4D7-C74F-E65B-B177E4BE01C7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AD762356-B198-4BAB-296A-633ACA7E125A}"/>
              </a:ext>
            </a:extLst>
          </p:cNvPr>
          <p:cNvSpPr/>
          <p:nvPr/>
        </p:nvSpPr>
        <p:spPr>
          <a:xfrm>
            <a:off x="896903" y="2190407"/>
            <a:ext cx="197918" cy="189147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1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B638E1B-A3FF-9195-1EC6-B65910FD57F1}"/>
              </a:ext>
            </a:extLst>
          </p:cNvPr>
          <p:cNvSpPr/>
          <p:nvPr/>
        </p:nvSpPr>
        <p:spPr>
          <a:xfrm>
            <a:off x="11612478" y="2158171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15C3722-F2F6-F357-591C-9DB96816F114}"/>
              </a:ext>
            </a:extLst>
          </p:cNvPr>
          <p:cNvSpPr/>
          <p:nvPr/>
        </p:nvSpPr>
        <p:spPr>
          <a:xfrm>
            <a:off x="11612478" y="2471941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3C47AE1-024F-4154-7051-0359C38B1415}"/>
              </a:ext>
            </a:extLst>
          </p:cNvPr>
          <p:cNvSpPr/>
          <p:nvPr/>
        </p:nvSpPr>
        <p:spPr>
          <a:xfrm>
            <a:off x="11612478" y="2785711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B0C0BF0-CFB7-16A1-F5BB-89ED6BF163DB}"/>
              </a:ext>
            </a:extLst>
          </p:cNvPr>
          <p:cNvSpPr/>
          <p:nvPr/>
        </p:nvSpPr>
        <p:spPr>
          <a:xfrm>
            <a:off x="11612478" y="3099481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4E6DF2F-93DA-FE83-ED8C-D725017A4B1E}"/>
              </a:ext>
            </a:extLst>
          </p:cNvPr>
          <p:cNvGrpSpPr/>
          <p:nvPr/>
        </p:nvGrpSpPr>
        <p:grpSpPr>
          <a:xfrm>
            <a:off x="604208" y="4933927"/>
            <a:ext cx="7550725" cy="265215"/>
            <a:chOff x="760021" y="1436893"/>
            <a:chExt cx="7550725" cy="265215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7712A9A-1D54-6C4A-5F00-B43A7E3D924B}"/>
                </a:ext>
              </a:extLst>
            </p:cNvPr>
            <p:cNvSpPr/>
            <p:nvPr/>
          </p:nvSpPr>
          <p:spPr>
            <a:xfrm>
              <a:off x="760021" y="1501589"/>
              <a:ext cx="138542" cy="133060"/>
            </a:xfrm>
            <a:prstGeom prst="ellipse">
              <a:avLst/>
            </a:prstGeom>
            <a:solidFill>
              <a:srgbClr val="1D3C5C"/>
            </a:solidFill>
            <a:ln>
              <a:solidFill>
                <a:srgbClr val="B9CF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276B85EA-042A-4839-1C83-87286F2CC848}"/>
                </a:ext>
              </a:extLst>
            </p:cNvPr>
            <p:cNvSpPr txBox="1"/>
            <p:nvPr/>
          </p:nvSpPr>
          <p:spPr>
            <a:xfrm>
              <a:off x="945274" y="1436893"/>
              <a:ext cx="7365472" cy="26521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ko-KR" altLang="en-US" sz="1600" b="1" dirty="0">
                  <a:solidFill/>
                  <a:latin typeface="맑은 고딕"/>
                  <a:ea typeface="+mj-ea"/>
                </a:rPr>
                <a:t>일 시 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/ </a:t>
              </a:r>
              <a:r>
                <a:rPr lang="ko-KR" altLang="en-US" sz="1600" b="1" dirty="0">
                  <a:solidFill/>
                  <a:latin typeface="맑은 고딕"/>
                  <a:ea typeface="+mj-ea"/>
                </a:rPr>
                <a:t>장소 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: 2026</a:t>
              </a:r>
              <a:r>
                <a:rPr lang="ko-KR" altLang="en-US" sz="1600" b="1" dirty="0">
                  <a:solidFill/>
                  <a:latin typeface="맑은 고딕"/>
                  <a:ea typeface="+mj-ea"/>
                </a:rPr>
                <a:t>년 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10</a:t>
              </a:r>
              <a:r>
                <a:rPr lang="ko-KR" altLang="en-US" sz="1600" b="1" dirty="0">
                  <a:solidFill/>
                  <a:latin typeface="맑은 고딕"/>
                  <a:ea typeface="+mj-ea"/>
                </a:rPr>
                <a:t>월 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4</a:t>
              </a:r>
              <a:r>
                <a:rPr lang="ko-KR" altLang="en-US" sz="1600" b="1" dirty="0">
                  <a:solidFill/>
                  <a:latin typeface="맑은 고딕"/>
                  <a:ea typeface="+mj-ea"/>
                </a:rPr>
                <a:t>일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(</a:t>
              </a:r>
              <a:r>
                <a:rPr lang="ko-KR" altLang="en-US" sz="1600" b="1" dirty="0">
                  <a:solidFill/>
                  <a:latin typeface="맑은 고딕"/>
                  <a:ea typeface="+mj-ea"/>
                </a:rPr>
                <a:t>주일</a:t>
              </a:r>
              <a:r>
                <a:rPr lang="en-US" altLang="ko-KR" sz="1600" b="1" dirty="0">
                  <a:solidFill/>
                  <a:latin typeface="맑은 고딕"/>
                  <a:ea typeface="+mj-ea"/>
                </a:rPr>
                <a:t>) 09:00 ~ 16:00 / </a:t>
              </a:r>
              <a:r>
                <a:rPr lang="ko-KR" altLang="en-US" sz="1600" b="1" dirty="0" err="1">
                  <a:solidFill/>
                  <a:latin typeface="맑은 고딕"/>
                  <a:ea typeface="+mj-ea"/>
                </a:rPr>
                <a:t>영화초</a:t>
              </a:r>
              <a:endParaRPr lang="en-US" sz="1600" b="1" dirty="0">
                <a:latin typeface="+mj-ea"/>
                <a:ea typeface="+mj-ea"/>
              </a:endParaRPr>
            </a:p>
          </p:txBody>
        </p:sp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8151D8E8-A4B4-4857-52A0-50703DEDB8CA}"/>
              </a:ext>
            </a:extLst>
          </p:cNvPr>
          <p:cNvSpPr/>
          <p:nvPr/>
        </p:nvSpPr>
        <p:spPr>
          <a:xfrm>
            <a:off x="604208" y="5360310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EC100177-48B0-C441-6F15-CD1C72FE1B08}"/>
              </a:ext>
            </a:extLst>
          </p:cNvPr>
          <p:cNvSpPr txBox="1"/>
          <p:nvPr/>
        </p:nvSpPr>
        <p:spPr>
          <a:xfrm>
            <a:off x="789461" y="5295614"/>
            <a:ext cx="7365472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주최 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/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주관 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문화홍보부 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/ 4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남선교회 및 청장년</a:t>
            </a:r>
            <a:endParaRPr lang="en-US" sz="16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AD1AED2-54F3-A462-BC16-FB9CBDF30F78}"/>
              </a:ext>
            </a:extLst>
          </p:cNvPr>
          <p:cNvSpPr/>
          <p:nvPr/>
        </p:nvSpPr>
        <p:spPr>
          <a:xfrm>
            <a:off x="604208" y="5694388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AD579441-ADCF-E54D-7E92-5EF983AE7ABF}"/>
              </a:ext>
            </a:extLst>
          </p:cNvPr>
          <p:cNvSpPr txBox="1"/>
          <p:nvPr/>
        </p:nvSpPr>
        <p:spPr>
          <a:xfrm>
            <a:off x="789461" y="5482082"/>
            <a:ext cx="1005919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진행순서 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개회예배→국민체조</a:t>
            </a:r>
            <a:r>
              <a:rPr lang="ko-KR" altLang="en-US" sz="1600" b="1" dirty="0" err="1">
                <a:solidFill/>
                <a:latin typeface="맑은 고딕"/>
              </a:rPr>
              <a:t>→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오전경기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(5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종목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)</a:t>
            </a:r>
            <a:r>
              <a:rPr lang="ko-KR" altLang="en-US" sz="1600" b="1" dirty="0">
                <a:solidFill/>
                <a:latin typeface="맑은 고딕"/>
              </a:rPr>
              <a:t>→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점심</a:t>
            </a:r>
            <a:r>
              <a:rPr lang="ko-KR" altLang="en-US" sz="1600" b="1" dirty="0">
                <a:solidFill/>
                <a:latin typeface="맑은 고딕"/>
              </a:rPr>
              <a:t>→</a:t>
            </a:r>
            <a:endParaRPr lang="en-US" altLang="ko-KR" sz="1600" b="1" dirty="0">
              <a:latin typeface="+mj-ea"/>
            </a:endParaRPr>
          </a:p>
          <a:p>
            <a:r>
              <a:rPr lang="en-US" altLang="ko-KR" sz="1600" b="1" dirty="0">
                <a:solidFill/>
                <a:latin typeface="맑은 고딕"/>
                <a:ea typeface="+mj-ea"/>
              </a:rPr>
              <a:t>             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오후경기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(7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종목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)</a:t>
            </a:r>
            <a:r>
              <a:rPr lang="ko-KR" altLang="en-US" sz="1600" b="1" dirty="0">
                <a:solidFill/>
                <a:latin typeface="맑은 고딕"/>
              </a:rPr>
              <a:t>→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행운권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 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추첨</a:t>
            </a:r>
            <a:r>
              <a:rPr lang="ko-KR" altLang="en-US" sz="1600" b="1" dirty="0" err="1">
                <a:solidFill/>
                <a:latin typeface="맑은 고딕"/>
              </a:rPr>
              <a:t>→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폐회예배</a:t>
            </a:r>
            <a:endParaRPr lang="en-US" sz="1600" b="1" dirty="0">
              <a:latin typeface="+mj-ea"/>
              <a:ea typeface="+mj-ea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8AFC9C84-3627-7936-7FDD-E8DEB47E0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171099"/>
              </p:ext>
            </p:extLst>
          </p:nvPr>
        </p:nvGraphicFramePr>
        <p:xfrm>
          <a:off x="6790259" y="4721742"/>
          <a:ext cx="5267168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1864">
                  <a:extLst>
                    <a:ext uri="{9D8B030D-6E8A-4147-A177-3AD203B41FA5}">
                      <a16:colId xmlns:a16="http://schemas.microsoft.com/office/drawing/2014/main" val="4122966414"/>
                    </a:ext>
                  </a:extLst>
                </a:gridCol>
                <a:gridCol w="843826">
                  <a:extLst>
                    <a:ext uri="{9D8B030D-6E8A-4147-A177-3AD203B41FA5}">
                      <a16:colId xmlns:a16="http://schemas.microsoft.com/office/drawing/2014/main" val="1308866372"/>
                    </a:ext>
                  </a:extLst>
                </a:gridCol>
                <a:gridCol w="843826">
                  <a:extLst>
                    <a:ext uri="{9D8B030D-6E8A-4147-A177-3AD203B41FA5}">
                      <a16:colId xmlns:a16="http://schemas.microsoft.com/office/drawing/2014/main" val="3814402999"/>
                    </a:ext>
                  </a:extLst>
                </a:gridCol>
                <a:gridCol w="843826">
                  <a:extLst>
                    <a:ext uri="{9D8B030D-6E8A-4147-A177-3AD203B41FA5}">
                      <a16:colId xmlns:a16="http://schemas.microsoft.com/office/drawing/2014/main" val="607383484"/>
                    </a:ext>
                  </a:extLst>
                </a:gridCol>
                <a:gridCol w="843826">
                  <a:extLst>
                    <a:ext uri="{9D8B030D-6E8A-4147-A177-3AD203B41FA5}">
                      <a16:colId xmlns:a16="http://schemas.microsoft.com/office/drawing/2014/main" val="473578866"/>
                    </a:ext>
                  </a:extLst>
                </a:gridCol>
              </a:tblGrid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</a:rPr>
                        <a:t>구 </a:t>
                      </a:r>
                      <a:r>
                        <a:rPr lang="ko-KR" sz="900" b="1" dirty="0">
                          <a:solidFill>
                            <a:srgbClr val="FFFFFF"/>
                          </a:solidFill>
                        </a:rPr>
                        <a:t>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FFFFFF"/>
                          </a:solidFill>
                        </a:rPr>
                        <a:t>청팀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FFFFFF"/>
                          </a:solidFill>
                        </a:rPr>
                        <a:t>홍팀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765396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목회자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/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사모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 dirty="0">
                          <a:solidFill>
                            <a:srgbClr val="293B4C"/>
                          </a:solidFill>
                        </a:rPr>
                        <a:t>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52869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남선교회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>
                          <a:solidFill>
                            <a:srgbClr val="293B4C"/>
                          </a:solidFill>
                        </a:rPr>
                        <a:t>17.7%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956422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여선교회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115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 dirty="0">
                          <a:solidFill>
                            <a:srgbClr val="293B4C"/>
                          </a:solidFill>
                        </a:rPr>
                        <a:t>47.3%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280735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청년부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 dirty="0">
                          <a:solidFill>
                            <a:srgbClr val="293B4C"/>
                          </a:solidFill>
                        </a:rPr>
                        <a:t>10.7%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769298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교회학교 (유치·아동·중고등)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 dirty="0">
                          <a:solidFill>
                            <a:srgbClr val="293B4C"/>
                          </a:solidFill>
                        </a:rPr>
                        <a:t>21.8%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00042"/>
                  </a:ext>
                </a:extLst>
              </a:tr>
              <a:tr h="124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1" dirty="0">
                          <a:solidFill>
                            <a:srgbClr val="293B4C"/>
                          </a:solidFill>
                        </a:rPr>
                        <a:t>122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1" dirty="0">
                          <a:solidFill>
                            <a:srgbClr val="293B4C"/>
                          </a:solidFill>
                        </a:rPr>
                        <a:t>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1" dirty="0">
                          <a:solidFill>
                            <a:srgbClr val="293B4C"/>
                          </a:solidFill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i="0" dirty="0">
                          <a:solidFill>
                            <a:srgbClr val="293B4C"/>
                          </a:solidFill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55476"/>
                  </a:ext>
                </a:extLst>
              </a:tr>
            </a:tbl>
          </a:graphicData>
        </a:graphic>
      </p:graphicFrame>
      <p:pic>
        <p:nvPicPr>
          <p:cNvPr id="39" name="그림 38">
            <a:extLst>
              <a:ext uri="{FF2B5EF4-FFF2-40B4-BE49-F238E27FC236}">
                <a16:creationId xmlns:a16="http://schemas.microsoft.com/office/drawing/2014/main" id="{051754D4-AD86-0A29-163D-C7F80383F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338" y="6346758"/>
            <a:ext cx="5343314" cy="354656"/>
          </a:xfrm>
          <a:prstGeom prst="rect">
            <a:avLst/>
          </a:prstGeom>
        </p:spPr>
      </p:pic>
      <p:sp>
        <p:nvSpPr>
          <p:cNvPr id="40" name="Text 3">
            <a:extLst>
              <a:ext uri="{FF2B5EF4-FFF2-40B4-BE49-F238E27FC236}">
                <a16:creationId xmlns:a16="http://schemas.microsoft.com/office/drawing/2014/main" id="{A3F7A17C-D093-782D-5D31-E88D431A5B69}"/>
              </a:ext>
            </a:extLst>
          </p:cNvPr>
          <p:cNvSpPr txBox="1"/>
          <p:nvPr/>
        </p:nvSpPr>
        <p:spPr>
          <a:xfrm>
            <a:off x="7236775" y="4420302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참석 인원분석 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257218-8C68-7A7B-27E4-4F14358664CA}"/>
              </a:ext>
            </a:extLst>
          </p:cNvPr>
          <p:cNvSpPr/>
          <p:nvPr/>
        </p:nvSpPr>
        <p:spPr>
          <a:xfrm>
            <a:off x="6790258" y="4413707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4</a:t>
            </a:r>
            <a:endParaRPr lang="ko-KR" altLang="en-US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59C7465-42B8-8158-1B11-38527232B1DF}"/>
              </a:ext>
            </a:extLst>
          </p:cNvPr>
          <p:cNvSpPr/>
          <p:nvPr/>
        </p:nvSpPr>
        <p:spPr>
          <a:xfrm>
            <a:off x="897588" y="2508105"/>
            <a:ext cx="197918" cy="189147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2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93D99C2-FAFA-26F5-65C9-B3801692DF00}"/>
              </a:ext>
            </a:extLst>
          </p:cNvPr>
          <p:cNvSpPr/>
          <p:nvPr/>
        </p:nvSpPr>
        <p:spPr>
          <a:xfrm>
            <a:off x="896903" y="2825803"/>
            <a:ext cx="197918" cy="189147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C1BBB3B-34AA-5DB3-A781-772273EB81F7}"/>
              </a:ext>
            </a:extLst>
          </p:cNvPr>
          <p:cNvSpPr/>
          <p:nvPr/>
        </p:nvSpPr>
        <p:spPr>
          <a:xfrm>
            <a:off x="897588" y="3143501"/>
            <a:ext cx="197918" cy="189147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4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47AF2E46-F708-2DE0-9D2B-8A6A5EFB7C9F}"/>
              </a:ext>
            </a:extLst>
          </p:cNvPr>
          <p:cNvSpPr/>
          <p:nvPr/>
        </p:nvSpPr>
        <p:spPr>
          <a:xfrm>
            <a:off x="897588" y="4100548"/>
            <a:ext cx="197918" cy="189147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6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9EB497D-F549-109A-E1EE-D9412E83C2D8}"/>
              </a:ext>
            </a:extLst>
          </p:cNvPr>
          <p:cNvSpPr/>
          <p:nvPr/>
        </p:nvSpPr>
        <p:spPr>
          <a:xfrm>
            <a:off x="11598113" y="4065814"/>
            <a:ext cx="302428" cy="25512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  <a:latin typeface="맑은 고딕"/>
                <a:ea typeface="+mj-ea"/>
              </a:rPr>
              <a:t>B</a:t>
            </a:r>
            <a:endParaRPr lang="ko-KR" altLang="en-US" sz="1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B0879C0-722C-85C1-3A28-7E7CC14E3E25}"/>
              </a:ext>
            </a:extLst>
          </p:cNvPr>
          <p:cNvSpPr/>
          <p:nvPr/>
        </p:nvSpPr>
        <p:spPr>
          <a:xfrm>
            <a:off x="7614490" y="1519439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1C24CD2-6C0E-7C74-7538-9C9E64FDD47A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22E4678-7C03-253C-1079-29A305A0490F}"/>
              </a:ext>
            </a:extLst>
          </p:cNvPr>
          <p:cNvGrpSpPr/>
          <p:nvPr/>
        </p:nvGrpSpPr>
        <p:grpSpPr>
          <a:xfrm>
            <a:off x="897207" y="3461199"/>
            <a:ext cx="560108" cy="191124"/>
            <a:chOff x="1803382" y="6249375"/>
            <a:chExt cx="560108" cy="191124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0E84A27B-EC0F-BEC5-F28E-D5062E8C1D86}"/>
                </a:ext>
              </a:extLst>
            </p:cNvPr>
            <p:cNvSpPr/>
            <p:nvPr/>
          </p:nvSpPr>
          <p:spPr>
            <a:xfrm>
              <a:off x="1803382" y="6251352"/>
              <a:ext cx="197918" cy="189147"/>
            </a:xfrm>
            <a:prstGeom prst="ellipse">
              <a:avLst/>
            </a:prstGeom>
            <a:solidFill>
              <a:srgbClr val="FFD176"/>
            </a:solidFill>
            <a:ln>
              <a:solidFill>
                <a:srgbClr val="B9CF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rgbClr val="293B4C"/>
                  </a:solidFill>
                  <a:latin typeface="맑은 고딕"/>
                  <a:ea typeface="+mj-ea"/>
                </a:rPr>
                <a:t>5</a:t>
              </a:r>
              <a:endParaRPr lang="ko-KR" altLang="en-US" sz="16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BECC99F-EDED-57D9-7A76-2DAAA72FD91F}"/>
                </a:ext>
              </a:extLst>
            </p:cNvPr>
            <p:cNvSpPr/>
            <p:nvPr/>
          </p:nvSpPr>
          <p:spPr>
            <a:xfrm>
              <a:off x="2165572" y="6249375"/>
              <a:ext cx="197918" cy="189147"/>
            </a:xfrm>
            <a:prstGeom prst="ellipse">
              <a:avLst/>
            </a:prstGeom>
            <a:solidFill>
              <a:srgbClr val="FFD176"/>
            </a:solidFill>
            <a:ln>
              <a:solidFill>
                <a:srgbClr val="B9CF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rgbClr val="293B4C"/>
                  </a:solidFill>
                  <a:latin typeface="맑은 고딕"/>
                  <a:ea typeface="+mj-ea"/>
                </a:rPr>
                <a:t>1</a:t>
              </a:r>
              <a:endParaRPr lang="ko-KR" altLang="en-US" sz="16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CCF39D4-9D63-A921-7C23-152B0A1F2960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6346758"/>
              <a:ext cx="91044" cy="0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31F716F-8F69-3D1C-A185-7796E0DA1BB9}"/>
              </a:ext>
            </a:extLst>
          </p:cNvPr>
          <p:cNvGrpSpPr/>
          <p:nvPr/>
        </p:nvGrpSpPr>
        <p:grpSpPr>
          <a:xfrm>
            <a:off x="897207" y="3780874"/>
            <a:ext cx="560108" cy="191124"/>
            <a:chOff x="1803382" y="6249375"/>
            <a:chExt cx="560108" cy="191124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BB902E4-8724-8E77-5F24-88DF6DCC4981}"/>
                </a:ext>
              </a:extLst>
            </p:cNvPr>
            <p:cNvSpPr/>
            <p:nvPr/>
          </p:nvSpPr>
          <p:spPr>
            <a:xfrm>
              <a:off x="1803382" y="6251352"/>
              <a:ext cx="197918" cy="189147"/>
            </a:xfrm>
            <a:prstGeom prst="ellipse">
              <a:avLst/>
            </a:prstGeom>
            <a:solidFill>
              <a:srgbClr val="FFD176"/>
            </a:solidFill>
            <a:ln>
              <a:solidFill>
                <a:srgbClr val="B9CF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rgbClr val="293B4C"/>
                  </a:solidFill>
                  <a:latin typeface="맑은 고딕"/>
                  <a:ea typeface="+mj-ea"/>
                </a:rPr>
                <a:t>5</a:t>
              </a:r>
              <a:endParaRPr lang="ko-KR" altLang="en-US" sz="16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CE6C322-C8EE-E940-585D-9E652BAEFC31}"/>
                </a:ext>
              </a:extLst>
            </p:cNvPr>
            <p:cNvSpPr/>
            <p:nvPr/>
          </p:nvSpPr>
          <p:spPr>
            <a:xfrm>
              <a:off x="2165572" y="6249375"/>
              <a:ext cx="197918" cy="189147"/>
            </a:xfrm>
            <a:prstGeom prst="ellipse">
              <a:avLst/>
            </a:prstGeom>
            <a:solidFill>
              <a:srgbClr val="FFD176"/>
            </a:solidFill>
            <a:ln>
              <a:solidFill>
                <a:srgbClr val="B9CF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rgbClr val="293B4C"/>
                  </a:solidFill>
                  <a:latin typeface="맑은 고딕"/>
                  <a:ea typeface="+mj-ea"/>
                </a:rPr>
                <a:t>2</a:t>
              </a:r>
              <a:endParaRPr lang="ko-KR" altLang="en-US" sz="1600" b="1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5C9FFD4-CA0E-61D8-BD2A-9F33FEF312FB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6346758"/>
              <a:ext cx="91044" cy="0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BBCB34CB-18AA-0E0C-3166-1CED26409B7F}"/>
              </a:ext>
            </a:extLst>
          </p:cNvPr>
          <p:cNvSpPr/>
          <p:nvPr/>
        </p:nvSpPr>
        <p:spPr>
          <a:xfrm>
            <a:off x="11617792" y="3727021"/>
            <a:ext cx="302428" cy="255129"/>
          </a:xfrm>
          <a:prstGeom prst="ellipse">
            <a:avLst/>
          </a:prstGeom>
          <a:solidFill>
            <a:srgbClr val="FFEBA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A</a:t>
            </a:r>
            <a:endParaRPr lang="ko-KR" altLang="en-US" sz="11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BE4F37F-95A4-7DD7-98FE-B62C6475560D}"/>
              </a:ext>
            </a:extLst>
          </p:cNvPr>
          <p:cNvSpPr/>
          <p:nvPr/>
        </p:nvSpPr>
        <p:spPr>
          <a:xfrm>
            <a:off x="11626334" y="3413251"/>
            <a:ext cx="269981" cy="230106"/>
          </a:xfrm>
          <a:prstGeom prst="ellipse">
            <a:avLst/>
          </a:prstGeom>
          <a:solidFill>
            <a:srgbClr val="199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+mj-ea"/>
              </a:rPr>
              <a:t>G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9109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742BA-9004-DE72-FA1E-E21CC8AE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F5FFA170-0578-0C7A-46EE-A262129F9E33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주요 준비 과정</a:t>
            </a:r>
            <a:endParaRPr lang="en-US" sz="2000" b="1" dirty="0">
              <a:latin typeface="+mj-ea"/>
              <a:ea typeface="+mj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0F70AC-CBD7-B602-A9E4-ED0AB80F5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181979"/>
              </p:ext>
            </p:extLst>
          </p:nvPr>
        </p:nvGraphicFramePr>
        <p:xfrm>
          <a:off x="755779" y="1382492"/>
          <a:ext cx="11266008" cy="3211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024">
                  <a:extLst>
                    <a:ext uri="{9D8B030D-6E8A-4147-A177-3AD203B41FA5}">
                      <a16:colId xmlns:a16="http://schemas.microsoft.com/office/drawing/2014/main" val="1507968014"/>
                    </a:ext>
                  </a:extLst>
                </a:gridCol>
                <a:gridCol w="10097984">
                  <a:extLst>
                    <a:ext uri="{9D8B030D-6E8A-4147-A177-3AD203B41FA5}">
                      <a16:colId xmlns:a16="http://schemas.microsoft.com/office/drawing/2014/main" val="1076660680"/>
                    </a:ext>
                  </a:extLst>
                </a:gridCol>
              </a:tblGrid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일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자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42738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</a:rPr>
                        <a:t>9. 12.(토)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주관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요청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업체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위탁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협의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불발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장소·뷔페식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배식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결정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53829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9. 13.(주일)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준비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기간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우려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추석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제외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실질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2주), 1차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모임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2024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자료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참고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73490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</a:rPr>
                        <a:t>9. 14.(월)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체육관·교구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확인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경기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물품은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교회에서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준비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38923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9. 15.(화)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계획안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초안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공유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종목·예산·담당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25458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9. 16.(수)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기획위원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7명</a:t>
                      </a:r>
                      <a:r>
                        <a:rPr lang="en-US"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4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남선교회 회장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(8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명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)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× 10만 원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찬조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1등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경품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마련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996292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9. 19.(토)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수정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계획안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경품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검토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포스터·표어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확정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593325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9. 20.(주일)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준비위원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회의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: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팀·기념품·경품·준비물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담당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확정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010794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9월 하순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기념수건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240장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발주</a:t>
                      </a:r>
                      <a:r>
                        <a:rPr lang="en-US" sz="1200" b="1" baseline="0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200" b="1" baseline="0" dirty="0">
                          <a:solidFill>
                            <a:srgbClr val="293B4C"/>
                          </a:solidFill>
                          <a:latin typeface="맑은 고딕"/>
                        </a:rPr>
                        <a:t>완료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광고·명단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확정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088298"/>
                  </a:ext>
                </a:extLst>
              </a:tr>
              <a:tr h="321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</a:rPr>
                        <a:t>10. 4.(주일)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체육대회</a:t>
                      </a:r>
                      <a:r>
                        <a:rPr sz="1200" b="1" dirty="0">
                          <a:solidFill>
                            <a:srgbClr val="293B4C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293B4C"/>
                          </a:solidFill>
                          <a:latin typeface="맑은 고딕"/>
                        </a:rPr>
                        <a:t>진행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57307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7D2F63A1-4433-08B0-553A-8FB24D609324}"/>
              </a:ext>
            </a:extLst>
          </p:cNvPr>
          <p:cNvSpPr txBox="1"/>
          <p:nvPr/>
        </p:nvSpPr>
        <p:spPr>
          <a:xfrm>
            <a:off x="838403" y="4817649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준비 과정 평가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77AA01A-419E-BF19-F9D1-0B2943DC2E94}"/>
              </a:ext>
            </a:extLst>
          </p:cNvPr>
          <p:cNvSpPr/>
          <p:nvPr/>
        </p:nvSpPr>
        <p:spPr>
          <a:xfrm>
            <a:off x="1706092" y="5191911"/>
            <a:ext cx="10315695" cy="541882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ko-KR" altLang="ko-KR" sz="1400" b="1" dirty="0">
                <a:solidFill>
                  <a:srgbClr val="000000"/>
                </a:solidFill>
              </a:rPr>
              <a:t>업체 위탁 무산과 촉박한 일정에도 단체 대화방</a:t>
            </a:r>
            <a:r>
              <a:rPr lang="en-US" altLang="ko-KR" sz="1400" b="1" dirty="0">
                <a:solidFill>
                  <a:srgbClr val="000000"/>
                </a:solidFill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</a:rPr>
              <a:t>등 </a:t>
            </a:r>
            <a:r>
              <a:rPr lang="ko-KR" altLang="ko-KR" sz="1400" b="1" dirty="0">
                <a:solidFill>
                  <a:srgbClr val="000000"/>
                </a:solidFill>
              </a:rPr>
              <a:t>으로 빠르게 소통하며 약 3주 만에 준비를 마침. 기획위원의 자발적 찬조와 역할 분담으로 예산 부담을 줄이고, 전 교인 기념품 중심으로 준비함.</a:t>
            </a:r>
            <a:endParaRPr lang="ko-KR" altLang="en-US" sz="14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5630971-AA2A-E840-3DE3-7DE963A699B1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F57697-94E2-3E9F-746B-C3653879CF97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EEE5257-9B45-50F1-BDBB-BA9DA99090F6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17B775-77D5-0533-8B43-7DDA36411BA9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A876EE4-147C-5789-D006-5DF6E244EE90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175971D-22A0-7542-779E-6E215FE9A824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F7F47A3-1590-3365-490D-2C9483A7DA99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5F5E08A-20C2-C2E0-DE24-A8A44B881FD0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5C34F98-79F1-A1FC-DBA7-7D6E83785390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8ED0CBF-DB0E-59AC-3F58-B353486F4D71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B9B17F0-A67D-6C4B-F608-FA61072CE342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제목 61">
            <a:extLst>
              <a:ext uri="{FF2B5EF4-FFF2-40B4-BE49-F238E27FC236}">
                <a16:creationId xmlns:a16="http://schemas.microsoft.com/office/drawing/2014/main" id="{2DF8284C-829D-8F87-9AB7-762B54F61DDA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548640" y="9040"/>
            <a:ext cx="11094415" cy="768096"/>
          </a:xfrm>
        </p:spPr>
        <p:txBody>
          <a:bodyPr/>
          <a:lstStyle/>
          <a:p>
            <a:pPr algn="ctr"/>
            <a:r>
              <a:rPr lang="en-US" altLang="ko-KR" sz="3200" dirty="0">
                <a:solidFill/>
              </a:rPr>
              <a:t>Ⅰ.</a:t>
            </a:r>
            <a:r>
              <a:rPr lang="ko-KR" altLang="en-US" sz="3200" dirty="0">
                <a:solidFill/>
              </a:rPr>
              <a:t>개요 </a:t>
            </a:r>
            <a:r>
              <a:rPr lang="en-US" altLang="ko-KR" sz="3200" dirty="0">
                <a:solidFill/>
              </a:rPr>
              <a:t>/ </a:t>
            </a:r>
            <a:r>
              <a:rPr lang="ko-KR" altLang="en-US" sz="3200" dirty="0">
                <a:solidFill/>
              </a:rPr>
              <a:t>일반현황</a:t>
            </a:r>
            <a:r>
              <a:rPr lang="en-US" altLang="ko-KR" sz="2400" dirty="0">
                <a:solidFill/>
              </a:rPr>
              <a:t>(2/2)</a:t>
            </a:r>
            <a:endParaRPr lang="ko-KR" altLang="en-US" sz="3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2AAF37-ED8E-BDE9-12F3-30B99045355F}"/>
              </a:ext>
            </a:extLst>
          </p:cNvPr>
          <p:cNvSpPr/>
          <p:nvPr/>
        </p:nvSpPr>
        <p:spPr>
          <a:xfrm>
            <a:off x="391886" y="1011126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1</a:t>
            </a:r>
            <a:endParaRPr lang="ko-KR" altLang="en-US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EEEFF9-82B3-E9DA-6A0E-3C133B488BA0}"/>
              </a:ext>
            </a:extLst>
          </p:cNvPr>
          <p:cNvSpPr/>
          <p:nvPr/>
        </p:nvSpPr>
        <p:spPr>
          <a:xfrm>
            <a:off x="384370" y="4838189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2</a:t>
            </a:r>
            <a:endParaRPr lang="ko-KR" altLang="en-US" b="1" dirty="0"/>
          </a:p>
        </p:txBody>
      </p:sp>
      <p:sp>
        <p:nvSpPr>
          <p:cNvPr id="115" name="Rectangle 114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0" y="6812890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CC8B18F-ADAB-D52C-2263-29E05E8EC9C3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97678D7-F558-2A71-AEF5-9D1D292C0D61}"/>
              </a:ext>
            </a:extLst>
          </p:cNvPr>
          <p:cNvSpPr/>
          <p:nvPr/>
        </p:nvSpPr>
        <p:spPr>
          <a:xfrm>
            <a:off x="672152" y="5191911"/>
            <a:ext cx="1033940" cy="528115"/>
          </a:xfrm>
          <a:prstGeom prst="roundRect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</a:rPr>
              <a:t>잘된 점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BB41C3-C8E2-662B-BF5D-9C085A132113}"/>
              </a:ext>
            </a:extLst>
          </p:cNvPr>
          <p:cNvSpPr/>
          <p:nvPr/>
        </p:nvSpPr>
        <p:spPr>
          <a:xfrm>
            <a:off x="1706092" y="5872094"/>
            <a:ext cx="10315695" cy="541882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ko-KR" altLang="ko-KR" sz="1400" b="1" dirty="0">
                <a:solidFill>
                  <a:srgbClr val="000000"/>
                </a:solidFill>
              </a:rPr>
              <a:t>짧은 준비 기간 속에 계획 승인 단계와 보고 창구가 </a:t>
            </a:r>
            <a:r>
              <a:rPr lang="ko-KR" altLang="en-US" sz="1400" b="1" dirty="0">
                <a:solidFill>
                  <a:srgbClr val="000000"/>
                </a:solidFill>
              </a:rPr>
              <a:t>명확치 </a:t>
            </a:r>
            <a:r>
              <a:rPr lang="ko-KR" altLang="ko-KR" sz="1400" b="1" dirty="0">
                <a:solidFill>
                  <a:srgbClr val="000000"/>
                </a:solidFill>
              </a:rPr>
              <a:t>않아, 승인 전 예산 집행과 </a:t>
            </a:r>
            <a:r>
              <a:rPr lang="ko-KR" altLang="en-US" sz="1400" b="1" dirty="0">
                <a:solidFill>
                  <a:srgbClr val="000000"/>
                </a:solidFill>
              </a:rPr>
              <a:t>최종 </a:t>
            </a:r>
            <a:r>
              <a:rPr lang="ko-KR" altLang="ko-KR" sz="1400" b="1" dirty="0">
                <a:solidFill>
                  <a:srgbClr val="000000"/>
                </a:solidFill>
              </a:rPr>
              <a:t>보고</a:t>
            </a:r>
            <a:r>
              <a:rPr lang="ko-KR" altLang="en-US" sz="1400" b="1" dirty="0">
                <a:solidFill>
                  <a:srgbClr val="000000"/>
                </a:solidFill>
              </a:rPr>
              <a:t>의</a:t>
            </a:r>
            <a:r>
              <a:rPr lang="ko-KR" altLang="ko-KR" sz="1400" b="1" dirty="0">
                <a:solidFill>
                  <a:srgbClr val="000000"/>
                </a:solidFill>
              </a:rPr>
              <a:t> 혼선</a:t>
            </a:r>
            <a:r>
              <a:rPr lang="en-US" altLang="ko-KR" sz="1400" b="1" dirty="0">
                <a:solidFill>
                  <a:srgbClr val="000000"/>
                </a:solidFill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</a:rPr>
              <a:t>발생</a:t>
            </a:r>
            <a:endParaRPr lang="en-US" altLang="ko-KR" sz="1400" b="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solidFill>
                  <a:srgbClr val="000000"/>
                </a:solidFill>
              </a:rPr>
              <a:t> ※ </a:t>
            </a:r>
            <a:r>
              <a:rPr lang="ko-KR" altLang="ko-KR" sz="1400" b="1" dirty="0" err="1">
                <a:solidFill>
                  <a:srgbClr val="000000"/>
                </a:solidFill>
              </a:rPr>
              <a:t>Ⅱ장에서</a:t>
            </a:r>
            <a:r>
              <a:rPr lang="ko-KR" altLang="ko-KR" sz="1400" b="1" dirty="0">
                <a:solidFill>
                  <a:srgbClr val="000000"/>
                </a:solidFill>
              </a:rPr>
              <a:t> 개선안 제시</a:t>
            </a:r>
            <a:endParaRPr lang="ko-KR" altLang="en-US" sz="14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091984-AEBF-55D7-EFD4-F452BC219499}"/>
              </a:ext>
            </a:extLst>
          </p:cNvPr>
          <p:cNvSpPr/>
          <p:nvPr/>
        </p:nvSpPr>
        <p:spPr>
          <a:xfrm>
            <a:off x="672152" y="5872094"/>
            <a:ext cx="1033940" cy="528115"/>
          </a:xfrm>
          <a:prstGeom prst="roundRect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</a:rPr>
              <a:t>보완할 점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45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4B0FD-A720-CA6C-A693-4D5A21D2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DD26ED-1EF0-4E05-77BC-90FF04F5D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11988"/>
              </p:ext>
            </p:extLst>
          </p:nvPr>
        </p:nvGraphicFramePr>
        <p:xfrm>
          <a:off x="878487" y="3686173"/>
          <a:ext cx="11070052" cy="2687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010">
                  <a:extLst>
                    <a:ext uri="{9D8B030D-6E8A-4147-A177-3AD203B41FA5}">
                      <a16:colId xmlns:a16="http://schemas.microsoft.com/office/drawing/2014/main" val="1507968014"/>
                    </a:ext>
                  </a:extLst>
                </a:gridCol>
                <a:gridCol w="5273023">
                  <a:extLst>
                    <a:ext uri="{9D8B030D-6E8A-4147-A177-3AD203B41FA5}">
                      <a16:colId xmlns:a16="http://schemas.microsoft.com/office/drawing/2014/main" val="1076660680"/>
                    </a:ext>
                  </a:extLst>
                </a:gridCol>
                <a:gridCol w="1929019">
                  <a:extLst>
                    <a:ext uri="{9D8B030D-6E8A-4147-A177-3AD203B41FA5}">
                      <a16:colId xmlns:a16="http://schemas.microsoft.com/office/drawing/2014/main" val="414256139"/>
                    </a:ext>
                  </a:extLst>
                </a:gridCol>
              </a:tblGrid>
              <a:tr h="3327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상 황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필요한 결의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근 거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42738"/>
                  </a:ext>
                </a:extLst>
              </a:tr>
              <a:tr h="601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     올해 예산에 과목이 있고 금액도 충분함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추가 결의 없음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단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담임목사 최종 승인 반드시 필요</a:t>
                      </a:r>
                      <a:endParaRPr lang="en-US" altLang="ko-KR" sz="1100" b="1" dirty="0"/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※ 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추가결의 없음은 결의 불요를 뜻할 뿐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담임목사 승인이 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필요없다는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 뜻이 아님</a:t>
                      </a:r>
                      <a:endParaRPr lang="ko-KR" sz="900" b="1" dirty="0">
                        <a:solidFill>
                          <a:srgbClr val="3333FF"/>
                        </a:solidFill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34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항</a:t>
                      </a:r>
                      <a:endParaRPr lang="en-US" altLang="ko-KR" sz="1050" b="1" dirty="0"/>
                    </a:p>
                    <a:p>
                      <a:pPr algn="l">
                        <a:buNone/>
                      </a:pP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조직과 행정법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15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항 </a:t>
                      </a:r>
                      <a:endParaRPr lang="en-US" altLang="ko-KR" sz="1050" b="1" dirty="0"/>
                    </a:p>
                    <a:p>
                      <a:pPr algn="l">
                        <a:buNone/>
                      </a:pP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조직과 행정법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46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</a:t>
                      </a:r>
                      <a:endParaRPr lang="ko-KR" sz="105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53829"/>
                  </a:ext>
                </a:extLst>
              </a:tr>
              <a:tr h="601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     과목은 있으나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금액 부족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재정 내규의 전용 한도 이내면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임원회 결의 후 다음 구역회에 보고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24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</a:t>
                      </a:r>
                      <a:endParaRPr lang="ko-KR" sz="105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73490"/>
                  </a:ext>
                </a:extLst>
              </a:tr>
              <a:tr h="6016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     올해 예산에 없는 신규 행사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또는 기준 이상 초과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dirty="0">
                          <a:solidFill>
                            <a:srgbClr val="293B4C"/>
                          </a:solidFill>
                        </a:rPr>
                        <a:t>예비비 범위 이내이면 결의로 처리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넘으면 임시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구역회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의결</a:t>
                      </a:r>
                      <a:endParaRPr lang="ko-KR" alt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24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</a:t>
                      </a:r>
                      <a:endParaRPr lang="en-US" altLang="ko-KR" sz="1050" b="1" dirty="0"/>
                    </a:p>
                    <a:p>
                      <a:pPr algn="l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항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, 3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항</a:t>
                      </a:r>
                      <a:endParaRPr lang="ko-KR" sz="105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38923"/>
                  </a:ext>
                </a:extLst>
              </a:tr>
              <a:tr h="5498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     내년에 여는 행사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신년도 예산안에 넣어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정기당회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(11~12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월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보고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정기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구역회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(12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~ 1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월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확정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20</a:t>
                      </a: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ㆍ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35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조</a:t>
                      </a:r>
                      <a:endParaRPr lang="ko-KR" sz="105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25458"/>
                  </a:ext>
                </a:extLst>
              </a:tr>
            </a:tbl>
          </a:graphicData>
        </a:graphic>
      </p:graphicFrame>
      <p:sp>
        <p:nvSpPr>
          <p:cNvPr id="62" name="제목 61">
            <a:extLst>
              <a:ext uri="{FF2B5EF4-FFF2-40B4-BE49-F238E27FC236}">
                <a16:creationId xmlns:a16="http://schemas.microsoft.com/office/drawing/2014/main" id="{51BAE882-CA60-2C1B-9D85-5F5D7E78F8D8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548640" y="29540"/>
            <a:ext cx="11094415" cy="768096"/>
          </a:xfrm>
        </p:spPr>
        <p:txBody>
          <a:bodyPr/>
          <a:lstStyle/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(1/6)</a:t>
            </a:r>
            <a:endParaRPr lang="ko-KR" altLang="en-US" sz="2400" dirty="0"/>
          </a:p>
        </p:txBody>
      </p:sp>
      <p:sp>
        <p:nvSpPr>
          <p:cNvPr id="114" name="Text 3">
            <a:extLst>
              <a:ext uri="{FF2B5EF4-FFF2-40B4-BE49-F238E27FC236}">
                <a16:creationId xmlns:a16="http://schemas.microsoft.com/office/drawing/2014/main" id="{114A2669-C268-8FD5-0C8E-C619B9B154C1}"/>
              </a:ext>
            </a:extLst>
          </p:cNvPr>
          <p:cNvSpPr txBox="1"/>
          <p:nvPr/>
        </p:nvSpPr>
        <p:spPr>
          <a:xfrm>
            <a:off x="838403" y="3031022"/>
            <a:ext cx="485779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먼저 확인할 것 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예산에 반영되어 있는가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? 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119CCE9-DE4F-C205-04BD-7DA8F029930F}"/>
              </a:ext>
            </a:extLst>
          </p:cNvPr>
          <p:cNvSpPr/>
          <p:nvPr/>
        </p:nvSpPr>
        <p:spPr>
          <a:xfrm>
            <a:off x="575501" y="3438269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430C4F8-7D35-75A4-484F-F00FAE7B6CFF}"/>
              </a:ext>
            </a:extLst>
          </p:cNvPr>
          <p:cNvSpPr txBox="1"/>
          <p:nvPr/>
        </p:nvSpPr>
        <p:spPr>
          <a:xfrm>
            <a:off x="777159" y="1511987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개선이 필요한 사항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562CDF9-5109-FE5D-2D77-0ABC1F1E688B}"/>
              </a:ext>
            </a:extLst>
          </p:cNvPr>
          <p:cNvSpPr/>
          <p:nvPr/>
        </p:nvSpPr>
        <p:spPr>
          <a:xfrm>
            <a:off x="975748" y="4236207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1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1FD8AF8-3B41-B6B0-9FFA-D9D8B5381A8A}"/>
              </a:ext>
            </a:extLst>
          </p:cNvPr>
          <p:cNvSpPr/>
          <p:nvPr/>
        </p:nvSpPr>
        <p:spPr>
          <a:xfrm>
            <a:off x="975748" y="4828154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2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E2858AA-BD23-2CB2-8220-16950C2C232D}"/>
              </a:ext>
            </a:extLst>
          </p:cNvPr>
          <p:cNvSpPr/>
          <p:nvPr/>
        </p:nvSpPr>
        <p:spPr>
          <a:xfrm>
            <a:off x="971790" y="5453125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9B6C507-7A43-F234-A50C-76C2664CA3D9}"/>
              </a:ext>
            </a:extLst>
          </p:cNvPr>
          <p:cNvSpPr/>
          <p:nvPr/>
        </p:nvSpPr>
        <p:spPr>
          <a:xfrm>
            <a:off x="971790" y="6026702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4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44B3803F-540C-3AD4-1D46-3456034EC47C}"/>
              </a:ext>
            </a:extLst>
          </p:cNvPr>
          <p:cNvSpPr/>
          <p:nvPr/>
        </p:nvSpPr>
        <p:spPr>
          <a:xfrm>
            <a:off x="898563" y="4050111"/>
            <a:ext cx="221672" cy="301843"/>
          </a:xfrm>
          <a:custGeom>
            <a:avLst/>
            <a:gdLst>
              <a:gd name="csX0" fmla="*/ 0 w 328550"/>
              <a:gd name="csY0" fmla="*/ 240223 h 546025"/>
              <a:gd name="csX1" fmla="*/ 170213 w 328550"/>
              <a:gd name="csY1" fmla="*/ 10634 h 546025"/>
              <a:gd name="csX2" fmla="*/ 91044 w 328550"/>
              <a:gd name="csY2" fmla="*/ 545023 h 546025"/>
              <a:gd name="csX3" fmla="*/ 328550 w 328550"/>
              <a:gd name="csY3" fmla="*/ 117512 h 546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8550" h="546025">
                <a:moveTo>
                  <a:pt x="0" y="240223"/>
                </a:moveTo>
                <a:cubicBezTo>
                  <a:pt x="77519" y="100028"/>
                  <a:pt x="155039" y="-40166"/>
                  <a:pt x="170213" y="10634"/>
                </a:cubicBezTo>
                <a:cubicBezTo>
                  <a:pt x="185387" y="61434"/>
                  <a:pt x="64655" y="527210"/>
                  <a:pt x="91044" y="545023"/>
                </a:cubicBezTo>
                <a:cubicBezTo>
                  <a:pt x="117433" y="562836"/>
                  <a:pt x="222991" y="340174"/>
                  <a:pt x="328550" y="117512"/>
                </a:cubicBezTo>
              </a:path>
            </a:pathLst>
          </a:custGeom>
          <a:noFill/>
          <a:ln w="57150">
            <a:solidFill>
              <a:srgbClr val="E8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665A7B8-B691-D632-77C1-D3A688E62FDB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72E875F-77B3-ADFE-2765-624D0EC9E980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1D22A88-F756-4DB3-AA54-97EF3AF863F8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8B7A644-07D6-FACB-D436-266AA2FDBE3F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749A76B-0D6E-BE28-D07F-4C3C167213F5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B01D2A6-91B2-161E-43B6-64DDE3BC3C8D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1FAA126-79BF-C782-FD16-96F8661505AE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0A83C06-2DDB-A709-6D35-0C274716BF24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C5CCDD-C08B-1266-03EE-E2F29B7DB525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42E2E50-378B-E31A-8DD6-61458BB5ADCE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24E1AB-CC52-96E3-B879-E6672C021D9A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91544D-65EF-AF56-4668-67F6FBBDBC7A}"/>
              </a:ext>
            </a:extLst>
          </p:cNvPr>
          <p:cNvSpPr/>
          <p:nvPr/>
        </p:nvSpPr>
        <p:spPr>
          <a:xfrm>
            <a:off x="391886" y="3049028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2</a:t>
            </a:r>
            <a:endParaRPr lang="ko-KR" altLang="en-US" b="1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F34FC90B-BEDB-F127-C0F3-54E5B5E95271}"/>
              </a:ext>
            </a:extLst>
          </p:cNvPr>
          <p:cNvSpPr txBox="1"/>
          <p:nvPr/>
        </p:nvSpPr>
        <p:spPr>
          <a:xfrm>
            <a:off x="764853" y="3387456"/>
            <a:ext cx="1129887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체육대회 준비는 재정부가 「</a:t>
            </a:r>
            <a:r>
              <a:rPr lang="ko-KR" altLang="en-US" sz="1600" b="1" dirty="0" err="1">
                <a:solidFill>
                  <a:srgbClr val="28759E"/>
                </a:solidFill>
                <a:latin typeface="맑은 고딕"/>
                <a:ea typeface="+mj-ea"/>
              </a:rPr>
              <a:t>구역회</a:t>
            </a:r>
            <a:r>
              <a:rPr lang="ko-KR" altLang="en-US" sz="1600" b="1" dirty="0">
                <a:solidFill>
                  <a:srgbClr val="28759E"/>
                </a:solidFill>
                <a:latin typeface="맑은 고딕"/>
                <a:ea typeface="+mj-ea"/>
              </a:rPr>
              <a:t> </a:t>
            </a:r>
            <a:r>
              <a:rPr lang="ko-KR" altLang="en-US" sz="1600" b="1" dirty="0" err="1">
                <a:solidFill>
                  <a:srgbClr val="28759E"/>
                </a:solidFill>
                <a:latin typeface="맑은 고딕"/>
                <a:ea typeface="+mj-ea"/>
              </a:rPr>
              <a:t>확정예산서</a:t>
            </a:r>
            <a:r>
              <a:rPr lang="ko-KR" altLang="en-US" sz="1600" b="1" dirty="0" err="1">
                <a:solidFill/>
                <a:latin typeface="맑은 고딕"/>
                <a:ea typeface="+mj-ea"/>
              </a:rPr>
              <a:t>」에서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 체육대회 금액을 확인하는 데서 시작</a:t>
            </a:r>
            <a:r>
              <a:rPr lang="en-US" altLang="ko-KR" sz="1000" b="1" i="1" dirty="0">
                <a:solidFill>
                  <a:srgbClr val="199793"/>
                </a:solidFill>
                <a:latin typeface="맑은 고딕"/>
                <a:ea typeface="+mj-ea"/>
              </a:rPr>
              <a:t>- </a:t>
            </a:r>
            <a:r>
              <a:rPr lang="ko-KR" altLang="en-US" sz="1000" b="1" i="1" dirty="0">
                <a:solidFill>
                  <a:srgbClr val="199793"/>
                </a:solidFill>
                <a:latin typeface="맑은 고딕"/>
                <a:ea typeface="+mj-ea"/>
              </a:rPr>
              <a:t>관련근거</a:t>
            </a:r>
            <a:r>
              <a:rPr lang="en-US" altLang="ko-KR" sz="1000" b="1" i="1" dirty="0">
                <a:solidFill>
                  <a:srgbClr val="199793"/>
                </a:solidFill>
                <a:latin typeface="맑은 고딕"/>
                <a:ea typeface="+mj-ea"/>
              </a:rPr>
              <a:t>: </a:t>
            </a:r>
            <a:r>
              <a:rPr lang="ko-KR" altLang="en-US" sz="1000" b="1" i="1" dirty="0">
                <a:solidFill>
                  <a:srgbClr val="199793"/>
                </a:solidFill>
                <a:latin typeface="맑은 고딕"/>
                <a:ea typeface="+mj-ea"/>
              </a:rPr>
              <a:t>기독교대한 </a:t>
            </a:r>
            <a:r>
              <a:rPr lang="ko-KR" altLang="en-US" sz="1000" b="1" i="1" dirty="0" err="1">
                <a:solidFill>
                  <a:srgbClr val="199793"/>
                </a:solidFill>
                <a:latin typeface="맑은 고딕"/>
                <a:ea typeface="+mj-ea"/>
              </a:rPr>
              <a:t>감리회「교리와</a:t>
            </a:r>
            <a:r>
              <a:rPr lang="ko-KR" altLang="en-US" sz="1000" b="1" i="1" dirty="0">
                <a:solidFill>
                  <a:srgbClr val="199793"/>
                </a:solidFill>
                <a:latin typeface="맑은 고딕"/>
                <a:ea typeface="+mj-ea"/>
              </a:rPr>
              <a:t> 장정」 </a:t>
            </a:r>
            <a:r>
              <a:rPr lang="en-US" altLang="ko-KR" sz="1000" b="1" i="1" dirty="0">
                <a:solidFill>
                  <a:srgbClr val="199793"/>
                </a:solidFill>
                <a:latin typeface="맑은 고딕"/>
                <a:ea typeface="+mj-ea"/>
              </a:rPr>
              <a:t>2025</a:t>
            </a:r>
            <a:r>
              <a:rPr lang="ko-KR" altLang="en-US" sz="1000" b="1" i="1" dirty="0">
                <a:solidFill>
                  <a:srgbClr val="199793"/>
                </a:solidFill>
                <a:latin typeface="맑은 고딕"/>
                <a:ea typeface="+mj-ea"/>
              </a:rPr>
              <a:t>년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9C4A9196-D3F5-4B53-A0EA-20DD0DF9B5DD}"/>
              </a:ext>
            </a:extLst>
          </p:cNvPr>
          <p:cNvSpPr txBox="1"/>
          <p:nvPr/>
        </p:nvSpPr>
        <p:spPr>
          <a:xfrm>
            <a:off x="838403" y="894262"/>
            <a:ext cx="485779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이번 행사에서 드러난 문제점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BA1671-E1D7-D9C8-474C-5186F9C53EA1}"/>
              </a:ext>
            </a:extLst>
          </p:cNvPr>
          <p:cNvSpPr/>
          <p:nvPr/>
        </p:nvSpPr>
        <p:spPr>
          <a:xfrm>
            <a:off x="391886" y="912268"/>
            <a:ext cx="312717" cy="265215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/>
              </a:rPr>
              <a:t>1</a:t>
            </a:r>
            <a:endParaRPr lang="ko-KR" altLang="en-US" b="1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E20AACCC-9D4E-FAA3-5834-9AE98F3A8F4C}"/>
              </a:ext>
            </a:extLst>
          </p:cNvPr>
          <p:cNvSpPr/>
          <p:nvPr/>
        </p:nvSpPr>
        <p:spPr>
          <a:xfrm>
            <a:off x="575501" y="155854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B0D6358-CA46-B250-2253-0BEF8093F697}"/>
              </a:ext>
            </a:extLst>
          </p:cNvPr>
          <p:cNvSpPr/>
          <p:nvPr/>
        </p:nvSpPr>
        <p:spPr>
          <a:xfrm>
            <a:off x="714043" y="1792361"/>
            <a:ext cx="3484816" cy="1038855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  <a:latin typeface="맑은 고딕"/>
                <a:ea typeface="+mj-ea"/>
              </a:rPr>
              <a:t>[ 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  <a:ea typeface="+mj-ea"/>
              </a:rPr>
              <a:t>계획 검토 여건 부족 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  <a:latin typeface="맑은 고딕"/>
                <a:ea typeface="+mj-ea"/>
              </a:rPr>
              <a:t>ㆍ계획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  <a:ea typeface="+mj-ea"/>
              </a:rPr>
              <a:t> 제출 기한이 없어 담임목사님 검토가 </a:t>
            </a:r>
            <a:endParaRPr lang="en-US" altLang="ko-KR" sz="1200" b="1" dirty="0">
              <a:solidFill>
                <a:srgbClr val="293B4C"/>
              </a:solidFill>
              <a:latin typeface="맑은 고딕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  <a:latin typeface="맑은 고딕"/>
                <a:ea typeface="+mj-ea"/>
              </a:rPr>
              <a:t>   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  <a:ea typeface="+mj-ea"/>
              </a:rPr>
              <a:t>행사 직전에 이루어짐</a:t>
            </a:r>
            <a:endParaRPr lang="en-US" altLang="ko-KR" sz="1200" b="1" dirty="0">
              <a:solidFill>
                <a:srgbClr val="293B4C"/>
              </a:solidFill>
              <a:latin typeface="맑은 고딕"/>
              <a:ea typeface="+mj-ea"/>
            </a:endParaRPr>
          </a:p>
          <a:p>
            <a:r>
              <a:rPr lang="ko-KR" altLang="en-US" sz="1200" b="1" dirty="0">
                <a:solidFill>
                  <a:srgbClr val="293B4C"/>
                </a:solidFill>
                <a:latin typeface="맑은 고딕"/>
                <a:ea typeface="+mj-ea"/>
              </a:rPr>
              <a:t>   </a:t>
            </a:r>
            <a:r>
              <a:rPr lang="en-US" altLang="ko-KR" sz="1100" b="1" dirty="0">
                <a:solidFill>
                  <a:srgbClr val="D4661F"/>
                </a:solidFill>
                <a:latin typeface="맑은 고딕"/>
                <a:ea typeface="+mj-ea"/>
              </a:rPr>
              <a:t>※ </a:t>
            </a:r>
            <a:r>
              <a:rPr lang="ko-KR" altLang="en-US" sz="1100" b="1" dirty="0" err="1">
                <a:solidFill>
                  <a:srgbClr val="D4661F"/>
                </a:solidFill>
                <a:latin typeface="맑은 고딕"/>
                <a:ea typeface="+mj-ea"/>
              </a:rPr>
              <a:t>유치부</a:t>
            </a:r>
            <a:r>
              <a:rPr lang="en-US" altLang="ko-KR" sz="1100" b="1" dirty="0">
                <a:solidFill>
                  <a:srgbClr val="D4661F"/>
                </a:solidFill>
                <a:latin typeface="맑은 고딕"/>
                <a:ea typeface="+mj-ea"/>
              </a:rPr>
              <a:t>, </a:t>
            </a:r>
            <a:r>
              <a:rPr lang="ko-KR" altLang="en-US" sz="1100" b="1" dirty="0" err="1">
                <a:solidFill>
                  <a:srgbClr val="D4661F"/>
                </a:solidFill>
                <a:latin typeface="맑은 고딕"/>
                <a:ea typeface="+mj-ea"/>
              </a:rPr>
              <a:t>아동부</a:t>
            </a:r>
            <a:r>
              <a:rPr lang="ko-KR" altLang="en-US" sz="1100" b="1" dirty="0">
                <a:solidFill>
                  <a:srgbClr val="D4661F"/>
                </a:solidFill>
                <a:latin typeface="맑은 고딕"/>
                <a:ea typeface="+mj-ea"/>
              </a:rPr>
              <a:t> 종목 급조 운용</a:t>
            </a:r>
            <a:endParaRPr lang="ko-KR" altLang="en-US" sz="1200" b="1" dirty="0">
              <a:solidFill>
                <a:srgbClr val="D4661F"/>
              </a:solidFill>
              <a:latin typeface="맑은 고딕"/>
              <a:ea typeface="+mj-ea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F064B5B-1B94-3A0B-533F-CD9E1BC81309}"/>
              </a:ext>
            </a:extLst>
          </p:cNvPr>
          <p:cNvSpPr/>
          <p:nvPr/>
        </p:nvSpPr>
        <p:spPr>
          <a:xfrm>
            <a:off x="4379851" y="1792361"/>
            <a:ext cx="3955766" cy="1038855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+mj-ea"/>
              </a:rPr>
              <a:t>[ </a:t>
            </a:r>
            <a:r>
              <a:rPr lang="ko-KR" altLang="en-US" sz="1200" b="1" dirty="0">
                <a:solidFill>
                  <a:srgbClr val="000000"/>
                </a:solidFill>
                <a:latin typeface="맑은 고딕"/>
                <a:ea typeface="+mj-ea"/>
              </a:rPr>
              <a:t>승인 전 예산 집행 </a:t>
            </a:r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  <a:latin typeface="맑은 고딕"/>
              </a:rPr>
              <a:t>ㆍ</a:t>
            </a:r>
            <a:r>
              <a:rPr lang="ko-KR" altLang="ko-KR" sz="1200" b="1" dirty="0" err="1">
                <a:solidFill>
                  <a:srgbClr val="000000"/>
                </a:solidFill>
              </a:rPr>
              <a:t>협력</a:t>
            </a:r>
            <a:r>
              <a:rPr lang="ko-KR" altLang="ko-KR" sz="1200" b="1" dirty="0">
                <a:solidFill>
                  <a:srgbClr val="000000"/>
                </a:solidFill>
              </a:rPr>
              <a:t> 선교회 통장에 예산이 입금되자 승인된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</a:rPr>
              <a:t>  </a:t>
            </a:r>
            <a:r>
              <a:rPr lang="ko-KR" altLang="ko-KR" sz="1200" b="1" dirty="0">
                <a:solidFill>
                  <a:srgbClr val="000000"/>
                </a:solidFill>
              </a:rPr>
              <a:t> 것으로</a:t>
            </a:r>
            <a:r>
              <a:rPr lang="en-US" altLang="ko-KR" sz="1200" b="1" dirty="0">
                <a:solidFill>
                  <a:srgbClr val="000000"/>
                </a:solidFill>
              </a:rPr>
              <a:t> </a:t>
            </a:r>
            <a:r>
              <a:rPr lang="ko-KR" altLang="ko-KR" sz="1200" b="1" dirty="0">
                <a:solidFill>
                  <a:srgbClr val="000000"/>
                </a:solidFill>
              </a:rPr>
              <a:t>판단해 집행</a:t>
            </a:r>
            <a:endParaRPr lang="ko-KR" altLang="en-US" sz="1200" b="1" dirty="0">
              <a:solidFill>
                <a:srgbClr val="000000"/>
              </a:solidFill>
              <a:latin typeface="맑은 고딕"/>
              <a:ea typeface="+mj-ea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5C6903D-349E-C165-4BEF-648FCE70FB74}"/>
              </a:ext>
            </a:extLst>
          </p:cNvPr>
          <p:cNvSpPr/>
          <p:nvPr/>
        </p:nvSpPr>
        <p:spPr>
          <a:xfrm>
            <a:off x="8459800" y="1792361"/>
            <a:ext cx="3688641" cy="1038855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+mj-ea"/>
              </a:rPr>
              <a:t>[ </a:t>
            </a:r>
            <a:r>
              <a:rPr lang="ko-KR" altLang="en-US" sz="1200" b="1" dirty="0">
                <a:solidFill>
                  <a:srgbClr val="000000"/>
                </a:solidFill>
                <a:latin typeface="맑은 고딕"/>
                <a:ea typeface="+mj-ea"/>
              </a:rPr>
              <a:t>보고체계 혼선 </a:t>
            </a:r>
            <a:r>
              <a:rPr lang="en-US" altLang="ko-KR" sz="1200" b="1" dirty="0">
                <a:solidFill>
                  <a:srgbClr val="000000"/>
                </a:solidFill>
                <a:latin typeface="맑은 고딕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  <a:latin typeface="맑은 고딕"/>
              </a:rPr>
              <a:t>ㆍ</a:t>
            </a:r>
            <a:r>
              <a:rPr lang="ko-KR" altLang="ko-KR" sz="1200" b="1" dirty="0" err="1">
                <a:solidFill>
                  <a:srgbClr val="000000"/>
                </a:solidFill>
              </a:rPr>
              <a:t>보고</a:t>
            </a:r>
            <a:r>
              <a:rPr lang="ko-KR" altLang="ko-KR" sz="1200" b="1" dirty="0">
                <a:solidFill>
                  <a:srgbClr val="000000"/>
                </a:solidFill>
              </a:rPr>
              <a:t> 책임자가 정해지지 않아 서로 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</a:rPr>
              <a:t>   </a:t>
            </a:r>
            <a:r>
              <a:rPr lang="ko-KR" altLang="ko-KR" sz="1200" b="1" dirty="0" err="1">
                <a:solidFill>
                  <a:srgbClr val="000000"/>
                </a:solidFill>
              </a:rPr>
              <a:t>보고했으리라</a:t>
            </a:r>
            <a:r>
              <a:rPr lang="ko-KR" altLang="ko-KR" sz="1200" b="1" dirty="0">
                <a:solidFill>
                  <a:srgbClr val="000000"/>
                </a:solidFill>
              </a:rPr>
              <a:t> 여김, 주일 광고를 보고로 오인</a:t>
            </a:r>
            <a:endParaRPr lang="ko-KR" altLang="en-US" sz="1200" b="1" dirty="0">
              <a:solidFill>
                <a:srgbClr val="000000"/>
              </a:solidFill>
              <a:latin typeface="맑은 고딕"/>
              <a:ea typeface="+mj-ea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AD83C6B-8B70-E8B5-E29A-2B9BF5D9EBC0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6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DC093-DDC6-1BFB-6006-35AFA10C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54D3EB9-3ADB-1ED9-6A0F-27222C7C7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3910"/>
              </p:ext>
            </p:extLst>
          </p:nvPr>
        </p:nvGraphicFramePr>
        <p:xfrm>
          <a:off x="890359" y="2029838"/>
          <a:ext cx="5371896" cy="4308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272">
                  <a:extLst>
                    <a:ext uri="{9D8B030D-6E8A-4147-A177-3AD203B41FA5}">
                      <a16:colId xmlns:a16="http://schemas.microsoft.com/office/drawing/2014/main" val="1507968014"/>
                    </a:ext>
                  </a:extLst>
                </a:gridCol>
                <a:gridCol w="4216624">
                  <a:extLst>
                    <a:ext uri="{9D8B030D-6E8A-4147-A177-3AD203B41FA5}">
                      <a16:colId xmlns:a16="http://schemas.microsoft.com/office/drawing/2014/main" val="1076660680"/>
                    </a:ext>
                  </a:extLst>
                </a:gridCol>
              </a:tblGrid>
              <a:tr h="2328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구 분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내 용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42738"/>
                  </a:ext>
                </a:extLst>
              </a:tr>
              <a:tr h="79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주최부서와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책임자 지정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담임목사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ㆍ담임목사가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주최 부서와 준비 책임자 임명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ㆍ각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부는 계획을 세워 시행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행정법 제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31, 38, 44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조 등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ㆍ여러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부서와 선교회가 준비위원회를 편성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지출 책임은 </a:t>
                      </a:r>
                      <a:endParaRPr lang="en-US" altLang="ko-KR" sz="1200" b="1" dirty="0">
                        <a:solidFill>
                          <a:srgbClr val="293B4C"/>
                        </a:solidFill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 부서장에게 둠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53829"/>
                  </a:ext>
                </a:extLst>
              </a:tr>
              <a:tr h="6090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체육대회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  계획서 작성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주최부서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ㆍ계획서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항목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오른쪽 표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을 채우고 예산서 붙임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73490"/>
                  </a:ext>
                </a:extLst>
              </a:tr>
              <a:tr h="6090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재정부 검토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재정부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ㆍ예산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확인표에 따라 예산 과목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잔액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필요한 결의를 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확인해 계획 의견 작성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ㆍ참가비나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후원금을 받는다면 수입 처리방법을 함께 결정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38923"/>
                  </a:ext>
                </a:extLst>
              </a:tr>
              <a:tr h="4209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기획위원회   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협의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ㆍ일정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다른 부서 행사의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중복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안전대책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예산 규모 조율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의회법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제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27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조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 </a:t>
                      </a:r>
                      <a:r>
                        <a:rPr lang="en-US" altLang="ko-KR" sz="1200" b="1" i="1" dirty="0">
                          <a:solidFill>
                            <a:srgbClr val="293B4C"/>
                          </a:solidFill>
                        </a:rPr>
                        <a:t>※ </a:t>
                      </a:r>
                      <a:r>
                        <a:rPr lang="ko-KR" altLang="en-US" sz="1200" b="1" i="1" dirty="0">
                          <a:solidFill>
                            <a:srgbClr val="293B4C"/>
                          </a:solidFill>
                        </a:rPr>
                        <a:t>담임목사 포함 </a:t>
                      </a:r>
                      <a:r>
                        <a:rPr lang="en-US" altLang="ko-KR" sz="1200" b="1" i="1" dirty="0">
                          <a:solidFill>
                            <a:srgbClr val="293B4C"/>
                          </a:solidFill>
                        </a:rPr>
                        <a:t>8</a:t>
                      </a:r>
                      <a:r>
                        <a:rPr lang="ko-KR" altLang="en-US" sz="1200" b="1" i="1" dirty="0">
                          <a:solidFill>
                            <a:srgbClr val="293B4C"/>
                          </a:solidFill>
                        </a:rPr>
                        <a:t>명</a:t>
                      </a:r>
                      <a:endParaRPr lang="ko-KR" sz="1200" b="1" i="1" dirty="0">
                        <a:solidFill>
                          <a:srgbClr val="3333FF"/>
                        </a:solidFill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25458"/>
                  </a:ext>
                </a:extLst>
              </a:tr>
              <a:tr h="79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필요한 결의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ㆍ예산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확인결과 임원회 결의나 임시 </a:t>
                      </a: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구역회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의결 필요시 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회의록에 계획서 첨부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ㆍ천막이나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음향장비처럼 행사 뒤에도 교회 비품으로 남는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물품을 사려면 임원회 승인필요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행정법 제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48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조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항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70750"/>
                  </a:ext>
                </a:extLst>
              </a:tr>
              <a:tr h="4209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준비와 시행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주최부서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ㆍ담임자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책임 아래 주최 부서가 준비하고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모든 지출은 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지출절차를 따름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3087"/>
                  </a:ext>
                </a:extLst>
              </a:tr>
              <a:tr h="4209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결과보고</a:t>
                      </a:r>
                      <a:endParaRPr lang="en-US" altLang="ko-KR" sz="1200" b="1" dirty="0"/>
                    </a:p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 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주최부서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ㆍ행사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후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14</a:t>
                      </a: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일이내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결산 보고서와 정산서를 재정부에 제출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903765"/>
                  </a:ext>
                </a:extLst>
              </a:tr>
            </a:tbl>
          </a:graphicData>
        </a:graphic>
      </p:graphicFrame>
      <p:sp>
        <p:nvSpPr>
          <p:cNvPr id="114" name="Text 3">
            <a:extLst>
              <a:ext uri="{FF2B5EF4-FFF2-40B4-BE49-F238E27FC236}">
                <a16:creationId xmlns:a16="http://schemas.microsoft.com/office/drawing/2014/main" id="{1058044E-31C6-4745-FEEF-56F4A764CD6E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계획 절차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DD939F9-C233-52C8-3CE9-39226E7F56A6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2</a:t>
            </a:r>
            <a:endParaRPr lang="ko-KR" altLang="en-US" sz="2400" b="1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8A2F8A5-CF2B-65CF-A85A-A4250E036695}"/>
              </a:ext>
            </a:extLst>
          </p:cNvPr>
          <p:cNvSpPr/>
          <p:nvPr/>
        </p:nvSpPr>
        <p:spPr>
          <a:xfrm>
            <a:off x="760021" y="145409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781E91B-FE24-4634-7497-D569748CA3CC}"/>
              </a:ext>
            </a:extLst>
          </p:cNvPr>
          <p:cNvSpPr txBox="1"/>
          <p:nvPr/>
        </p:nvSpPr>
        <p:spPr>
          <a:xfrm>
            <a:off x="945273" y="1337942"/>
            <a:ext cx="11151723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체육대회는 주최 부서 지정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계획서 작성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재정부 검토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</a:p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기획위원회 협의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필요한 결의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준비와 시행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결과보고순으로 진행</a:t>
            </a:r>
            <a:endParaRPr lang="en-US" sz="1600" b="1" dirty="0">
              <a:latin typeface="+mj-ea"/>
              <a:ea typeface="+mj-ea"/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4152B463-CEBE-B7E1-35DB-76CCBF92AD3C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(2/6)</a:t>
            </a:r>
            <a:endParaRPr lang="ko-KR" altLang="en-US" sz="2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7056270-3E18-2E13-9ED5-20DBB140937A}"/>
              </a:ext>
            </a:extLst>
          </p:cNvPr>
          <p:cNvSpPr txBox="1"/>
          <p:nvPr/>
        </p:nvSpPr>
        <p:spPr>
          <a:xfrm>
            <a:off x="7322330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체육대회 계획서에 담길 내용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9109CF-567D-F4DB-F3E4-9C94EB2CD1A3}"/>
              </a:ext>
            </a:extLst>
          </p:cNvPr>
          <p:cNvSpPr/>
          <p:nvPr/>
        </p:nvSpPr>
        <p:spPr>
          <a:xfrm>
            <a:off x="6822767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3</a:t>
            </a:r>
            <a:endParaRPr lang="ko-KR" altLang="en-US" sz="24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84C132B-5461-BBBD-C122-56634B7C8039}"/>
              </a:ext>
            </a:extLst>
          </p:cNvPr>
          <p:cNvSpPr/>
          <p:nvPr/>
        </p:nvSpPr>
        <p:spPr>
          <a:xfrm>
            <a:off x="7188530" y="143430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DB0D541-5D36-B4B9-CE06-EB2CE725EAFD}"/>
              </a:ext>
            </a:extLst>
          </p:cNvPr>
          <p:cNvSpPr txBox="1"/>
          <p:nvPr/>
        </p:nvSpPr>
        <p:spPr>
          <a:xfrm>
            <a:off x="7373783" y="1381484"/>
            <a:ext cx="441366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>
                <a:solidFill/>
                <a:latin typeface="맑은 고딕"/>
                <a:ea typeface="+mj-ea"/>
              </a:rPr>
              <a:t>계획서 포함 내용 분석 </a:t>
            </a:r>
            <a:endParaRPr lang="en-US" altLang="ko-KR" sz="1600" b="1" dirty="0">
              <a:latin typeface="+mj-ea"/>
              <a:ea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0C20D79-65B4-5769-4AAF-21D76ED6A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66826"/>
              </p:ext>
            </p:extLst>
          </p:nvPr>
        </p:nvGraphicFramePr>
        <p:xfrm>
          <a:off x="6822767" y="2029839"/>
          <a:ext cx="5217513" cy="4362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004">
                  <a:extLst>
                    <a:ext uri="{9D8B030D-6E8A-4147-A177-3AD203B41FA5}">
                      <a16:colId xmlns:a16="http://schemas.microsoft.com/office/drawing/2014/main" val="1507968014"/>
                    </a:ext>
                  </a:extLst>
                </a:gridCol>
                <a:gridCol w="3636509">
                  <a:extLst>
                    <a:ext uri="{9D8B030D-6E8A-4147-A177-3AD203B41FA5}">
                      <a16:colId xmlns:a16="http://schemas.microsoft.com/office/drawing/2014/main" val="1076660680"/>
                    </a:ext>
                  </a:extLst>
                </a:gridCol>
              </a:tblGrid>
              <a:tr h="2264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항 목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포함 내용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42738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행사명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ㆍ조원감리교회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한마음 체육대회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53829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목적과 배경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ㆍ행사를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여는 이유와 기대하는 결과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73490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일시와 장소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ㆍ날짜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시간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장소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우천 시 대체일정 또는 실내 장소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38923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대상과 </a:t>
                      </a:r>
                      <a:endParaRPr lang="en-US" altLang="ko-KR" sz="1100" b="1" dirty="0"/>
                    </a:p>
                    <a:p>
                      <a:pPr algn="l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 예상인원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ㆍ참가대상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예상인원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팀 편성 방법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25458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5.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진행 순서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ㆍ개회예배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종목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식사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시상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폐회 등 시간표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70750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6.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담당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ㆍ주최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부서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책임자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종목ㆍ식사ㆍ안전ㆍ회계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담당자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3087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7.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안전대책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ㆍ구급함과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응급연락처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안전담당자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행사보험 가입여부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903765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8.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재원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ㆍ수입과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지출 예산서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예산 과목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회계 구분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205369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9.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근거 결의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ㆍ구역회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예산 확정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임원회 결의 등 회의록 날짜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039658"/>
                  </a:ext>
                </a:extLst>
              </a:tr>
              <a:tr h="41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10.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평가와 보고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ㆍ결과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보고서 제출 기한과 보고 대상</a:t>
                      </a:r>
                      <a:endParaRPr lang="ko-KR" sz="11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682221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56A1023-555C-269C-512C-1FB32AB579AA}"/>
              </a:ext>
            </a:extLst>
          </p:cNvPr>
          <p:cNvSpPr/>
          <p:nvPr/>
        </p:nvSpPr>
        <p:spPr>
          <a:xfrm>
            <a:off x="7905003" y="2371110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79C4FDD-74DD-37B7-5CF4-77C111337837}"/>
              </a:ext>
            </a:extLst>
          </p:cNvPr>
          <p:cNvSpPr/>
          <p:nvPr/>
        </p:nvSpPr>
        <p:spPr>
          <a:xfrm>
            <a:off x="7825837" y="2770086"/>
            <a:ext cx="565268" cy="193514"/>
          </a:xfrm>
          <a:prstGeom prst="roundRect">
            <a:avLst/>
          </a:prstGeom>
          <a:solidFill>
            <a:srgbClr val="E8704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2F9FC"/>
                </a:solidFill>
              </a:rPr>
              <a:t>미반영</a:t>
            </a:r>
            <a:endParaRPr lang="ko-KR" altLang="en-US" sz="900" b="1" dirty="0">
              <a:solidFill>
                <a:srgbClr val="F2F9FC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67F33C0-D8F0-5C66-BFAF-55A1FD81C23B}"/>
              </a:ext>
            </a:extLst>
          </p:cNvPr>
          <p:cNvSpPr/>
          <p:nvPr/>
        </p:nvSpPr>
        <p:spPr>
          <a:xfrm>
            <a:off x="7905003" y="3194959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6AE5061-FB6A-2FCA-2C79-F9D2DB3D7E18}"/>
              </a:ext>
            </a:extLst>
          </p:cNvPr>
          <p:cNvSpPr/>
          <p:nvPr/>
        </p:nvSpPr>
        <p:spPr>
          <a:xfrm>
            <a:off x="7905003" y="3582886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9E2A4D1-E02C-8717-B5E4-8BE864F64D22}"/>
              </a:ext>
            </a:extLst>
          </p:cNvPr>
          <p:cNvSpPr/>
          <p:nvPr/>
        </p:nvSpPr>
        <p:spPr>
          <a:xfrm>
            <a:off x="7905003" y="4002492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8505362-7C7A-5AC5-3329-4623F71F9E32}"/>
              </a:ext>
            </a:extLst>
          </p:cNvPr>
          <p:cNvSpPr/>
          <p:nvPr/>
        </p:nvSpPr>
        <p:spPr>
          <a:xfrm>
            <a:off x="7905003" y="4431434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D32E5E5-24A4-7EA3-0F8E-F3F6D4ECEB9C}"/>
              </a:ext>
            </a:extLst>
          </p:cNvPr>
          <p:cNvSpPr/>
          <p:nvPr/>
        </p:nvSpPr>
        <p:spPr>
          <a:xfrm>
            <a:off x="7905003" y="4864335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32CF4C5-333C-1072-20E6-A60307C72A5F}"/>
              </a:ext>
            </a:extLst>
          </p:cNvPr>
          <p:cNvSpPr/>
          <p:nvPr/>
        </p:nvSpPr>
        <p:spPr>
          <a:xfrm>
            <a:off x="7905003" y="5256219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반영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C3F9BF4-9039-6A32-4F49-C68457D7AED9}"/>
              </a:ext>
            </a:extLst>
          </p:cNvPr>
          <p:cNvSpPr/>
          <p:nvPr/>
        </p:nvSpPr>
        <p:spPr>
          <a:xfrm>
            <a:off x="7825837" y="5667893"/>
            <a:ext cx="565268" cy="193514"/>
          </a:xfrm>
          <a:prstGeom prst="roundRect">
            <a:avLst/>
          </a:prstGeom>
          <a:solidFill>
            <a:srgbClr val="E8704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2F9FC"/>
                </a:solidFill>
              </a:rPr>
              <a:t>미반영</a:t>
            </a:r>
            <a:endParaRPr lang="ko-KR" altLang="en-US" sz="900" b="1" dirty="0">
              <a:solidFill>
                <a:srgbClr val="F2F9FC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618FC1B-1B55-4020-14E5-487FC4572614}"/>
              </a:ext>
            </a:extLst>
          </p:cNvPr>
          <p:cNvSpPr/>
          <p:nvPr/>
        </p:nvSpPr>
        <p:spPr>
          <a:xfrm>
            <a:off x="7825837" y="6093646"/>
            <a:ext cx="565268" cy="193514"/>
          </a:xfrm>
          <a:prstGeom prst="roundRect">
            <a:avLst/>
          </a:prstGeom>
          <a:solidFill>
            <a:srgbClr val="E8704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2F9FC"/>
                </a:solidFill>
              </a:rPr>
              <a:t>미반영</a:t>
            </a:r>
            <a:endParaRPr lang="ko-KR" altLang="en-US" sz="900" b="1" dirty="0">
              <a:solidFill>
                <a:srgbClr val="F2F9FC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C53ADF-1DA8-DF2E-B481-96C0E857B17D}"/>
              </a:ext>
            </a:extLst>
          </p:cNvPr>
          <p:cNvSpPr/>
          <p:nvPr/>
        </p:nvSpPr>
        <p:spPr>
          <a:xfrm>
            <a:off x="2323605" y="872841"/>
            <a:ext cx="3487387" cy="3898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책임자 지정 후 최종 승인단계가 없음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2F20CF-5451-28F1-0938-09CBC090C22C}"/>
              </a:ext>
            </a:extLst>
          </p:cNvPr>
          <p:cNvSpPr/>
          <p:nvPr/>
        </p:nvSpPr>
        <p:spPr>
          <a:xfrm>
            <a:off x="890359" y="2029839"/>
            <a:ext cx="5371896" cy="4362333"/>
          </a:xfrm>
          <a:prstGeom prst="rect">
            <a:avLst/>
          </a:prstGeom>
          <a:noFill/>
          <a:ln w="57150">
            <a:solidFill>
              <a:srgbClr val="E8704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671C9F4-A7A0-CC32-F14E-996760D5DC60}"/>
              </a:ext>
            </a:extLst>
          </p:cNvPr>
          <p:cNvCxnSpPr/>
          <p:nvPr/>
        </p:nvCxnSpPr>
        <p:spPr>
          <a:xfrm flipH="1">
            <a:off x="2022764" y="1258335"/>
            <a:ext cx="300841" cy="720886"/>
          </a:xfrm>
          <a:prstGeom prst="straightConnector1">
            <a:avLst/>
          </a:prstGeom>
          <a:ln w="38100">
            <a:solidFill>
              <a:srgbClr val="E87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0987A8-7E52-5A1C-06C7-53287467781F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9146C99-88B7-ECA0-C894-3F3186A5215F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6367F67-CEA7-6BC3-005E-1DC15F82A38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4FC10FE-2EA9-40FB-16A5-9148D696BB29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F47299-D210-E16D-C443-29B1793D0E33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064C98B-2B6A-CC61-D383-F071F71BB967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9F21E0-F19A-393F-4097-7E8BE3FD16CA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083FBE-3ABA-F12B-8C28-9ADD07D8B282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A0F004D-CD6B-8A21-9E25-F2BA296778B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86EBAA4-7FD6-9E01-75FA-75FEFBEC0BF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4DE868A-5BD7-A27D-2E9D-5CED9B076A66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 3">
            <a:extLst>
              <a:ext uri="{FF2B5EF4-FFF2-40B4-BE49-F238E27FC236}">
                <a16:creationId xmlns:a16="http://schemas.microsoft.com/office/drawing/2014/main" id="{D034D063-C8CA-34A4-414C-B64A05492C00}"/>
              </a:ext>
            </a:extLst>
          </p:cNvPr>
          <p:cNvSpPr txBox="1"/>
          <p:nvPr/>
        </p:nvSpPr>
        <p:spPr>
          <a:xfrm>
            <a:off x="7373783" y="1730207"/>
            <a:ext cx="441366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400" b="1" dirty="0">
                <a:solidFill>
                  <a:schemeClr val="accent2"/>
                </a:solidFill>
                <a:latin typeface="맑은 고딕"/>
                <a:ea typeface="+mj-ea"/>
              </a:rPr>
              <a:t>※ </a:t>
            </a:r>
            <a:r>
              <a:rPr lang="ko-KR" altLang="en-US" sz="1400" b="1" dirty="0">
                <a:solidFill>
                  <a:schemeClr val="accent2"/>
                </a:solidFill>
                <a:latin typeface="맑은 고딕"/>
                <a:ea typeface="+mj-ea"/>
              </a:rPr>
              <a:t>총 </a:t>
            </a:r>
            <a:r>
              <a:rPr lang="en-US" altLang="ko-KR" sz="1400" b="1" dirty="0">
                <a:solidFill>
                  <a:schemeClr val="accent2"/>
                </a:solidFill>
                <a:latin typeface="맑은 고딕"/>
                <a:ea typeface="+mj-ea"/>
              </a:rPr>
              <a:t>10</a:t>
            </a:r>
            <a:r>
              <a:rPr lang="ko-KR" altLang="en-US" sz="1400" b="1" dirty="0">
                <a:solidFill>
                  <a:schemeClr val="accent2"/>
                </a:solidFill>
                <a:latin typeface="맑은 고딕"/>
                <a:ea typeface="+mj-ea"/>
              </a:rPr>
              <a:t>가지 사항 중 </a:t>
            </a:r>
            <a:r>
              <a:rPr lang="en-US" altLang="ko-KR" sz="1400" b="1" dirty="0">
                <a:solidFill>
                  <a:schemeClr val="accent2"/>
                </a:solidFill>
                <a:latin typeface="맑은 고딕"/>
                <a:ea typeface="+mj-ea"/>
              </a:rPr>
              <a:t>7</a:t>
            </a:r>
            <a:r>
              <a:rPr lang="ko-KR" altLang="en-US" sz="1400" b="1" dirty="0">
                <a:solidFill>
                  <a:schemeClr val="accent2"/>
                </a:solidFill>
                <a:latin typeface="맑은 고딕"/>
                <a:ea typeface="+mj-ea"/>
              </a:rPr>
              <a:t>개 반영 </a:t>
            </a:r>
            <a:endParaRPr lang="en-US" altLang="ko-KR" sz="1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A73BB76-B252-3303-935B-248513CD558F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0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47E5A-1545-2677-8525-D8424264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05225A15-A6AB-D5C6-D634-D19DF17848DA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발전 방안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대안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) – 1/4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B09FED-B56F-F2FC-6B6C-F48DC619C758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4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FB1408B1-55DC-1E75-C75F-596D51D259A7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(3/6)</a:t>
            </a:r>
            <a:endParaRPr lang="ko-KR" altLang="en-US" sz="2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33C153D-7D2F-3DB1-85F4-BC5ADFD226BB}"/>
              </a:ext>
            </a:extLst>
          </p:cNvPr>
          <p:cNvSpPr/>
          <p:nvPr/>
        </p:nvSpPr>
        <p:spPr>
          <a:xfrm>
            <a:off x="760021" y="1465967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419EECF-06B7-D3FE-4E84-8F2E82BF7ABC}"/>
              </a:ext>
            </a:extLst>
          </p:cNvPr>
          <p:cNvSpPr txBox="1"/>
          <p:nvPr/>
        </p:nvSpPr>
        <p:spPr>
          <a:xfrm>
            <a:off x="945273" y="1401271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계획 및 승인절차 개선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89A3D6F9-5993-04CA-5413-B7770F3E29D3}"/>
              </a:ext>
            </a:extLst>
          </p:cNvPr>
          <p:cNvSpPr/>
          <p:nvPr/>
        </p:nvSpPr>
        <p:spPr>
          <a:xfrm>
            <a:off x="961903" y="1809007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84F9B1E-07E6-E1DF-6CC0-578CB25DD084}"/>
              </a:ext>
            </a:extLst>
          </p:cNvPr>
          <p:cNvSpPr txBox="1"/>
          <p:nvPr/>
        </p:nvSpPr>
        <p:spPr>
          <a:xfrm>
            <a:off x="1206531" y="1698290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주최부서지정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계획서 작성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재정부 검토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기획위원회 협의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필요한 결의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>
                  <a:srgbClr val="28759E"/>
                </a:solidFill>
                <a:latin typeface="맑은 고딕"/>
                <a:ea typeface="+mj-ea"/>
              </a:rPr>
              <a:t>담임목사 승인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준비와 시행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결과보고순으로 개선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B6CBC9F9-E054-08E5-0DFA-2782D49F5528}"/>
              </a:ext>
            </a:extLst>
          </p:cNvPr>
          <p:cNvSpPr/>
          <p:nvPr/>
        </p:nvSpPr>
        <p:spPr>
          <a:xfrm>
            <a:off x="961903" y="239679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CF35451-29D8-CF55-9B8B-98075C8E0A9C}"/>
              </a:ext>
            </a:extLst>
          </p:cNvPr>
          <p:cNvSpPr txBox="1"/>
          <p:nvPr/>
        </p:nvSpPr>
        <p:spPr>
          <a:xfrm>
            <a:off x="1206531" y="2286073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담임목사 승인 전에는 예산 집행과 대외 공지를 하지 않는 것으로 정하고 추진</a:t>
            </a:r>
            <a:endParaRPr lang="en-US" sz="1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38B8EE0-96BD-0C0D-62D0-FE51A8F37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90101"/>
              </p:ext>
            </p:extLst>
          </p:nvPr>
        </p:nvGraphicFramePr>
        <p:xfrm>
          <a:off x="4338452" y="2612421"/>
          <a:ext cx="5181637" cy="2756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503">
                  <a:extLst>
                    <a:ext uri="{9D8B030D-6E8A-4147-A177-3AD203B41FA5}">
                      <a16:colId xmlns:a16="http://schemas.microsoft.com/office/drawing/2014/main" val="2396314138"/>
                    </a:ext>
                  </a:extLst>
                </a:gridCol>
                <a:gridCol w="2042918">
                  <a:extLst>
                    <a:ext uri="{9D8B030D-6E8A-4147-A177-3AD203B41FA5}">
                      <a16:colId xmlns:a16="http://schemas.microsoft.com/office/drawing/2014/main" val="2860294527"/>
                    </a:ext>
                  </a:extLst>
                </a:gridCol>
                <a:gridCol w="1431583">
                  <a:extLst>
                    <a:ext uri="{9D8B030D-6E8A-4147-A177-3AD203B41FA5}">
                      <a16:colId xmlns:a16="http://schemas.microsoft.com/office/drawing/2014/main" val="2385732109"/>
                    </a:ext>
                  </a:extLst>
                </a:gridCol>
                <a:gridCol w="1105633">
                  <a:extLst>
                    <a:ext uri="{9D8B030D-6E8A-4147-A177-3AD203B41FA5}">
                      <a16:colId xmlns:a16="http://schemas.microsoft.com/office/drawing/2014/main" val="3399481214"/>
                    </a:ext>
                  </a:extLst>
                </a:gridCol>
              </a:tblGrid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2F9FC"/>
                          </a:solidFill>
                          <a:effectLst/>
                        </a:rPr>
                        <a:t>개선</a:t>
                      </a:r>
                      <a:endParaRPr lang="ko-KR" sz="1200" b="1" dirty="0">
                        <a:solidFill>
                          <a:srgbClr val="F2F9FC"/>
                        </a:solidFill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effectLst/>
                        </a:rPr>
                        <a:t>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ko-KR" sz="1200" b="1" dirty="0">
                          <a:solidFill>
                            <a:srgbClr val="FFFFFF"/>
                          </a:solidFill>
                          <a:effectLst/>
                        </a:rPr>
                        <a:t>계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effectLst/>
                        </a:rPr>
                        <a:t>담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ko-KR" sz="1200" b="1" dirty="0">
                          <a:solidFill>
                            <a:srgbClr val="FFFFFF"/>
                          </a:solidFill>
                          <a:effectLst/>
                        </a:rPr>
                        <a:t>당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effectLst/>
                        </a:rPr>
                        <a:t>비 고</a:t>
                      </a: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19441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1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 부서와 책임자 지정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담임목사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07108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2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계획서 작성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8009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3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재정부</a:t>
                      </a: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 검토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재정부</a:t>
                      </a: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4322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4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기획위원회 협의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기획위원회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09898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5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필요한 결의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임원회 또는 임시 </a:t>
                      </a:r>
                      <a:r>
                        <a:rPr lang="ko-KR" sz="1200" b="1" dirty="0" err="1">
                          <a:solidFill>
                            <a:srgbClr val="293B4C"/>
                          </a:solidFill>
                          <a:effectLst/>
                        </a:rPr>
                        <a:t>구역회</a:t>
                      </a: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43412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6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담임목사 최종 승인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담임목사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절차 추가</a:t>
                      </a: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51321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7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준비와 시행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46383"/>
                  </a:ext>
                </a:extLst>
              </a:tr>
              <a:tr h="29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8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>
                          <a:solidFill>
                            <a:srgbClr val="293B4C"/>
                          </a:solidFill>
                          <a:effectLst/>
                        </a:rPr>
                        <a:t>결과보고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2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2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28988"/>
                  </a:ext>
                </a:extLst>
              </a:tr>
            </a:tbl>
          </a:graphicData>
        </a:graphic>
      </p:graphicFrame>
      <p:sp>
        <p:nvSpPr>
          <p:cNvPr id="23" name="Text 3">
            <a:extLst>
              <a:ext uri="{FF2B5EF4-FFF2-40B4-BE49-F238E27FC236}">
                <a16:creationId xmlns:a16="http://schemas.microsoft.com/office/drawing/2014/main" id="{54D33157-A86C-6834-2A6E-BB3ACC0A2F51}"/>
              </a:ext>
            </a:extLst>
          </p:cNvPr>
          <p:cNvSpPr txBox="1"/>
          <p:nvPr/>
        </p:nvSpPr>
        <p:spPr>
          <a:xfrm>
            <a:off x="1206531" y="1946843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solidFill>
                  <a:srgbClr val="28759E"/>
                </a:solidFill>
                <a:latin typeface="맑은 고딕"/>
                <a:ea typeface="+mj-ea"/>
              </a:rPr>
              <a:t>※ </a:t>
            </a:r>
            <a:r>
              <a:rPr lang="ko-KR" altLang="en-US" sz="1400" b="1" dirty="0">
                <a:solidFill>
                  <a:srgbClr val="28759E"/>
                </a:solidFill>
                <a:latin typeface="맑은 고딕"/>
                <a:ea typeface="+mj-ea"/>
              </a:rPr>
              <a:t>기존 </a:t>
            </a:r>
            <a:r>
              <a:rPr lang="en-US" altLang="ko-KR" sz="1400" b="1" dirty="0">
                <a:solidFill>
                  <a:srgbClr val="28759E"/>
                </a:solidFill>
                <a:latin typeface="맑은 고딕"/>
                <a:ea typeface="+mj-ea"/>
              </a:rPr>
              <a:t>7</a:t>
            </a:r>
            <a:r>
              <a:rPr lang="ko-KR" altLang="en-US" sz="1400" b="1" dirty="0">
                <a:solidFill>
                  <a:srgbClr val="28759E"/>
                </a:solidFill>
                <a:latin typeface="맑은 고딕"/>
                <a:ea typeface="+mj-ea"/>
              </a:rPr>
              <a:t>단계에서 </a:t>
            </a:r>
            <a:r>
              <a:rPr lang="en-US" altLang="ko-KR" sz="1400" b="1" dirty="0">
                <a:solidFill>
                  <a:srgbClr val="28759E"/>
                </a:solidFill>
                <a:latin typeface="맑은 고딕"/>
                <a:ea typeface="+mj-ea"/>
              </a:rPr>
              <a:t>8</a:t>
            </a:r>
            <a:r>
              <a:rPr lang="ko-KR" altLang="en-US" sz="1400" b="1" dirty="0">
                <a:solidFill>
                  <a:srgbClr val="28759E"/>
                </a:solidFill>
                <a:latin typeface="맑은 고딕"/>
                <a:ea typeface="+mj-ea"/>
              </a:rPr>
              <a:t>단계로 변경</a:t>
            </a:r>
            <a:endParaRPr lang="en-US" sz="14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D833804-57E0-61EE-45C9-84F553914D0C}"/>
              </a:ext>
            </a:extLst>
          </p:cNvPr>
          <p:cNvSpPr/>
          <p:nvPr/>
        </p:nvSpPr>
        <p:spPr>
          <a:xfrm>
            <a:off x="760021" y="5608507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E173E18-EDFD-62CE-696B-CA89FDE84C1F}"/>
              </a:ext>
            </a:extLst>
          </p:cNvPr>
          <p:cNvSpPr txBox="1"/>
          <p:nvPr/>
        </p:nvSpPr>
        <p:spPr>
          <a:xfrm>
            <a:off x="945273" y="5543811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단일 보고 창구 원칙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62DDDBB9-906B-9977-CFE0-9CF4DDA399D9}"/>
              </a:ext>
            </a:extLst>
          </p:cNvPr>
          <p:cNvSpPr/>
          <p:nvPr/>
        </p:nvSpPr>
        <p:spPr>
          <a:xfrm>
            <a:off x="961903" y="5934248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489769C9-86A6-EF06-3741-89672D1101CA}"/>
              </a:ext>
            </a:extLst>
          </p:cNvPr>
          <p:cNvSpPr txBox="1"/>
          <p:nvPr/>
        </p:nvSpPr>
        <p:spPr>
          <a:xfrm>
            <a:off x="1206531" y="5823531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담임목사 보고와 결재 상신은 주최 부서장만 실시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협력부서와 선교회는 주최 부서를 통해서만 보고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B11193EE-CF40-BEB4-0CBB-0747CA9F1F2D}"/>
              </a:ext>
            </a:extLst>
          </p:cNvPr>
          <p:cNvSpPr/>
          <p:nvPr/>
        </p:nvSpPr>
        <p:spPr>
          <a:xfrm>
            <a:off x="961903" y="6220574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39B6F97E-9306-FCB6-D257-89ED489E7B31}"/>
              </a:ext>
            </a:extLst>
          </p:cNvPr>
          <p:cNvSpPr txBox="1"/>
          <p:nvPr/>
        </p:nvSpPr>
        <p:spPr>
          <a:xfrm>
            <a:off x="1206531" y="6109857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주일 광고 등 대외 공지는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6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단계 승인 이후에 하며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부득이 광고가 나갔다고 해서 보고나 승인이 끝난 것으로 보지 않음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</a:t>
            </a:r>
            <a:endParaRPr lang="en-US" sz="1400" b="1" dirty="0">
              <a:latin typeface="+mj-ea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2B97C7-8E07-8D96-1DD2-71310620A50B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579D4F9-1B10-1160-A66B-10EC12AEEA1A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90D5D24-006D-C221-6EA8-A3EC755BA28E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85F38FF-3011-13C9-DBB2-461EDA9ABC5E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326FEFD-E29A-F34A-93DD-EB2211994059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CB3A19-CFF1-85A0-3593-C7D970B374C7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3104AED-F9A3-5BAA-1423-1722996423D2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8761970-2DC0-A9D8-ECDF-DA8B34D8A951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F210003-7C3C-D1EC-3E44-97EC5F80FD8A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53A8E39-1D59-FF3E-7DC9-2B44A5442448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34F6A5E-73FD-7820-5B82-1A9F560D41A1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0DFDE05-13BE-C636-C016-057DEB143D01}"/>
              </a:ext>
            </a:extLst>
          </p:cNvPr>
          <p:cNvCxnSpPr>
            <a:cxnSpLocks/>
          </p:cNvCxnSpPr>
          <p:nvPr/>
        </p:nvCxnSpPr>
        <p:spPr>
          <a:xfrm>
            <a:off x="9523074" y="4678612"/>
            <a:ext cx="824190" cy="0"/>
          </a:xfrm>
          <a:prstGeom prst="straightConnector1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748CA20-7AE4-8FBE-3743-00792A3A3F6F}"/>
              </a:ext>
            </a:extLst>
          </p:cNvPr>
          <p:cNvSpPr/>
          <p:nvPr/>
        </p:nvSpPr>
        <p:spPr>
          <a:xfrm>
            <a:off x="10335524" y="4488652"/>
            <a:ext cx="1689385" cy="374478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주일광고 시작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6DC5CF9-3F76-C1CF-0971-14876E04EFAC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B5F815B-00C8-010A-98DA-B7238FC68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33501"/>
              </p:ext>
            </p:extLst>
          </p:nvPr>
        </p:nvGraphicFramePr>
        <p:xfrm>
          <a:off x="1159533" y="2653837"/>
          <a:ext cx="2521818" cy="24481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1818">
                  <a:extLst>
                    <a:ext uri="{9D8B030D-6E8A-4147-A177-3AD203B41FA5}">
                      <a16:colId xmlns:a16="http://schemas.microsoft.com/office/drawing/2014/main" val="1507968014"/>
                    </a:ext>
                  </a:extLst>
                </a:gridCol>
              </a:tblGrid>
              <a:tr h="2703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2F9FC"/>
                          </a:solidFill>
                        </a:rPr>
                        <a:t>교리와 장정 </a:t>
                      </a:r>
                      <a:r>
                        <a:rPr lang="en-US" altLang="ko-KR" sz="1200" b="1" dirty="0">
                          <a:solidFill>
                            <a:srgbClr val="F2F9FC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2F9FC"/>
                          </a:solidFill>
                        </a:rPr>
                        <a:t>기존</a:t>
                      </a:r>
                      <a:r>
                        <a:rPr lang="en-US" altLang="ko-KR" sz="1200" b="1" dirty="0">
                          <a:solidFill>
                            <a:srgbClr val="F2F9FC"/>
                          </a:solidFill>
                        </a:rPr>
                        <a:t>)</a:t>
                      </a:r>
                      <a:endParaRPr lang="ko-KR" sz="1200" b="1" dirty="0">
                        <a:solidFill>
                          <a:srgbClr val="F2F9FC"/>
                        </a:solidFill>
                      </a:endParaRP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42738"/>
                  </a:ext>
                </a:extLst>
              </a:tr>
              <a:tr h="387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1.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주최부서와 책임자 지정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453829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체육대회 계획서 작성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73490"/>
                  </a:ext>
                </a:extLst>
              </a:tr>
              <a:tr h="295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3.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재정부 검토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38923"/>
                  </a:ext>
                </a:extLst>
              </a:tr>
              <a:tr h="270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기획위원회 협의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25458"/>
                  </a:ext>
                </a:extLst>
              </a:tr>
              <a:tr h="3873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필요한 결의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70750"/>
                  </a:ext>
                </a:extLst>
              </a:tr>
              <a:tr h="270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준비와 시행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3087"/>
                  </a:ext>
                </a:extLst>
              </a:tr>
              <a:tr h="270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결과보고</a:t>
                      </a:r>
                      <a:endParaRPr lang="ko-KR" sz="1200" b="1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903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73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44867-9D68-3211-7242-00D5A7C5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099CCDD3-2BA7-19A8-F5AB-24DF758D81CE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발전 방안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대안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) – 2/4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CA2DA11-2D6C-1F20-F2C0-791321D2F131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4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9E31F76E-D8A7-67D4-C095-E9051C81C833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(4/6)</a:t>
            </a:r>
            <a:endParaRPr lang="ko-KR" altLang="en-US" sz="2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1B8337F-D17F-0CB7-D714-1243DCABEC67}"/>
              </a:ext>
            </a:extLst>
          </p:cNvPr>
          <p:cNvSpPr/>
          <p:nvPr/>
        </p:nvSpPr>
        <p:spPr>
          <a:xfrm>
            <a:off x="760021" y="1519271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7243EC3-9231-F867-7C17-3B9F29BECBDD}"/>
              </a:ext>
            </a:extLst>
          </p:cNvPr>
          <p:cNvSpPr txBox="1"/>
          <p:nvPr/>
        </p:nvSpPr>
        <p:spPr>
          <a:xfrm>
            <a:off x="945273" y="1454575"/>
            <a:ext cx="2102727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표준 일정표 제안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C02AC19C-963C-C56F-2D26-A28B6D71CF87}"/>
              </a:ext>
            </a:extLst>
          </p:cNvPr>
          <p:cNvSpPr/>
          <p:nvPr/>
        </p:nvSpPr>
        <p:spPr>
          <a:xfrm>
            <a:off x="961903" y="1793172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0184852-E0B3-5D44-E97E-ACBEF5699153}"/>
              </a:ext>
            </a:extLst>
          </p:cNvPr>
          <p:cNvSpPr txBox="1"/>
          <p:nvPr/>
        </p:nvSpPr>
        <p:spPr>
          <a:xfrm>
            <a:off x="1206531" y="1682455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계획서는 행사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30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일 전까지 제출하고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담임목사 승인은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14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일 전까지 완료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 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7020D5D1-654E-EE1C-4AC9-2B15211575DB}"/>
              </a:ext>
            </a:extLst>
          </p:cNvPr>
          <p:cNvSpPr/>
          <p:nvPr/>
        </p:nvSpPr>
        <p:spPr>
          <a:xfrm>
            <a:off x="961903" y="2048729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DC5E544F-FDBB-AE15-721B-EC6FE23C14F2}"/>
              </a:ext>
            </a:extLst>
          </p:cNvPr>
          <p:cNvSpPr txBox="1"/>
          <p:nvPr/>
        </p:nvSpPr>
        <p:spPr>
          <a:xfrm>
            <a:off x="1206531" y="1938012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아래 기한은 행사일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(D)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기준이며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기획위원회 협의 결과에 따라 조정 가능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</a:t>
            </a:r>
            <a:endParaRPr lang="en-US" sz="1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3F93B98-CC4E-3306-1B66-A8EF247EA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11725"/>
              </p:ext>
            </p:extLst>
          </p:nvPr>
        </p:nvGraphicFramePr>
        <p:xfrm>
          <a:off x="1206529" y="2678914"/>
          <a:ext cx="1085720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480">
                  <a:extLst>
                    <a:ext uri="{9D8B030D-6E8A-4147-A177-3AD203B41FA5}">
                      <a16:colId xmlns:a16="http://schemas.microsoft.com/office/drawing/2014/main" val="2396314138"/>
                    </a:ext>
                  </a:extLst>
                </a:gridCol>
                <a:gridCol w="5914680">
                  <a:extLst>
                    <a:ext uri="{9D8B030D-6E8A-4147-A177-3AD203B41FA5}">
                      <a16:colId xmlns:a16="http://schemas.microsoft.com/office/drawing/2014/main" val="2860294527"/>
                    </a:ext>
                  </a:extLst>
                </a:gridCol>
                <a:gridCol w="3201042">
                  <a:extLst>
                    <a:ext uri="{9D8B030D-6E8A-4147-A177-3AD203B41FA5}">
                      <a16:colId xmlns:a16="http://schemas.microsoft.com/office/drawing/2014/main" val="2385732109"/>
                    </a:ext>
                  </a:extLst>
                </a:gridCol>
              </a:tblGrid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effectLst/>
                        </a:rPr>
                        <a:t>시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ko-KR" sz="1100" b="1" dirty="0">
                          <a:solidFill>
                            <a:srgbClr val="FFFFFF"/>
                          </a:solidFill>
                          <a:effectLst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effectLst/>
                        </a:rPr>
                        <a:t>내 용</a:t>
                      </a:r>
                      <a:endParaRPr lang="ko-KR" sz="11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  <a:effectLst/>
                        </a:rPr>
                        <a:t>담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ko-KR" sz="1100" b="1" dirty="0">
                          <a:solidFill>
                            <a:srgbClr val="FFFFFF"/>
                          </a:solidFill>
                          <a:effectLst/>
                        </a:rPr>
                        <a:t>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19441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D-45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</a:t>
                      </a:r>
                      <a:r>
                        <a:rPr lang="ko-KR" sz="1100" b="1" dirty="0" err="1">
                          <a:solidFill>
                            <a:srgbClr val="293B4C"/>
                          </a:solidFill>
                          <a:effectLst/>
                        </a:rPr>
                        <a:t>부서·준비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책임자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담임목사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07108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D-30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 err="1">
                          <a:solidFill>
                            <a:srgbClr val="293B4C"/>
                          </a:solidFill>
                          <a:effectLst/>
                        </a:rPr>
                        <a:t>계획서·예산서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8009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예산 과목·잔액·필요 결의 검토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재정부</a:t>
                      </a:r>
                      <a:endParaRPr lang="ko-KR" sz="11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4322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D-21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기획위원회 협의(</a:t>
                      </a:r>
                      <a:r>
                        <a:rPr lang="ko-KR" sz="1100" b="1" dirty="0" err="1">
                          <a:solidFill>
                            <a:srgbClr val="293B4C"/>
                          </a:solidFill>
                          <a:effectLst/>
                        </a:rPr>
                        <a:t>일정·중복·안전·예산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규모)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effectLst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필요시 임원회 결의</a:t>
                      </a:r>
                      <a:endParaRPr lang="ko-KR" sz="11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기획위원회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09898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D-14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담임목사 최종 승인</a:t>
                      </a:r>
                      <a:r>
                        <a:rPr lang="ko-KR" altLang="ko-KR" sz="1100" b="1" dirty="0">
                          <a:solidFill>
                            <a:srgbClr val="293B4C"/>
                          </a:solidFill>
                          <a:effectLst/>
                        </a:rPr>
                        <a:t>, 주일 광고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effectLst/>
                        </a:rPr>
                        <a:t>,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effectLst/>
                        </a:rPr>
                        <a:t>선교회ㆍ소그룹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 참가 독려시작</a:t>
                      </a:r>
                      <a:endParaRPr lang="ko-KR" sz="1100" b="1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담임목사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effectLst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선교회장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등</a:t>
                      </a:r>
                      <a:endParaRPr lang="ko-KR" sz="1100" b="1" dirty="0">
                        <a:solidFill>
                          <a:srgbClr val="293B4C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43412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승인 확인 후 예산 집행 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재정부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, 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51321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최종 점검(인원, 물품, 안전, 우천 대비)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46383"/>
                  </a:ext>
                </a:extLst>
              </a:tr>
              <a:tr h="21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>
                          <a:solidFill>
                            <a:srgbClr val="293B4C"/>
                          </a:solidFill>
                          <a:effectLst/>
                        </a:rPr>
                        <a:t>D+14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 err="1">
                          <a:solidFill>
                            <a:srgbClr val="293B4C"/>
                          </a:solidFill>
                          <a:effectLst/>
                        </a:rPr>
                        <a:t>결과보고서·정산서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주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최</a:t>
                      </a:r>
                      <a:r>
                        <a:rPr lang="ko-KR" sz="1100" b="1" dirty="0">
                          <a:solidFill>
                            <a:srgbClr val="293B4C"/>
                          </a:solidFill>
                          <a:effectLst/>
                        </a:rPr>
                        <a:t>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28988"/>
                  </a:ext>
                </a:extLst>
              </a:tr>
            </a:tbl>
          </a:graphicData>
        </a:graphic>
      </p:graphicFrame>
      <p:sp>
        <p:nvSpPr>
          <p:cNvPr id="24" name="타원 23">
            <a:extLst>
              <a:ext uri="{FF2B5EF4-FFF2-40B4-BE49-F238E27FC236}">
                <a16:creationId xmlns:a16="http://schemas.microsoft.com/office/drawing/2014/main" id="{8EAD7F3A-B3C3-E74C-A8A6-C2018498851B}"/>
              </a:ext>
            </a:extLst>
          </p:cNvPr>
          <p:cNvSpPr/>
          <p:nvPr/>
        </p:nvSpPr>
        <p:spPr>
          <a:xfrm>
            <a:off x="760021" y="5224300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11733830-055D-BF94-AE71-A7FCDA53AE10}"/>
              </a:ext>
            </a:extLst>
          </p:cNvPr>
          <p:cNvSpPr txBox="1"/>
          <p:nvPr/>
        </p:nvSpPr>
        <p:spPr>
          <a:xfrm>
            <a:off x="945273" y="5159604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예산 집행 및 지출 절차 개선 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B522C7-E0E7-0EEB-293A-5907F9FB9CD0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4C416A48-FF45-5E69-5FF4-0C65A6CA8AEF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A7D4849-93D6-1C51-DEC3-94DA2B6CDD18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DE1EA9F-2930-116F-B73E-FF94D0C64BFB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D7E1317-92BC-BD87-F922-119CC11D6445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11A9AD2-E1AC-556F-DE34-38F9639AA1A8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5D53347-8C9A-D499-92BF-0F367F47BFAD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4EADE03-B84A-D035-522D-348327BAE4C7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B431C1B-5976-3B92-5646-971EB9594583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CD632A-A127-928C-8610-5988D271AC16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1EAE54A-8CD6-402D-2011-4DB66D28BC49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E213C054-9C52-BFF1-00E3-9AD5508C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" t="11446" r="1997" b="11158"/>
          <a:stretch>
            <a:fillRect/>
          </a:stretch>
        </p:blipFill>
        <p:spPr>
          <a:xfrm>
            <a:off x="1206528" y="2251142"/>
            <a:ext cx="10712339" cy="363083"/>
          </a:xfrm>
          <a:prstGeom prst="rect">
            <a:avLst/>
          </a:prstGeom>
        </p:spPr>
      </p:pic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FDCE4D2-90D0-843E-2625-A0021401A6E5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A182152-C87B-7021-DE28-68B375D441C6}"/>
              </a:ext>
            </a:extLst>
          </p:cNvPr>
          <p:cNvSpPr/>
          <p:nvPr/>
        </p:nvSpPr>
        <p:spPr>
          <a:xfrm>
            <a:off x="866441" y="5426178"/>
            <a:ext cx="7129612" cy="1113168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[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교리와 장정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,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 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25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년 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 err="1">
                <a:solidFill>
                  <a:srgbClr val="293B4C"/>
                </a:solidFill>
                <a:latin typeface="맑은 고딕"/>
                <a:ea typeface="+mj-ea"/>
              </a:rPr>
              <a:t>ㆍ</a:t>
            </a:r>
            <a:r>
              <a:rPr lang="ko-KR" altLang="en-US" sz="1100" b="1" dirty="0" err="1">
                <a:solidFill/>
                <a:latin typeface="맑은 고딕"/>
              </a:rPr>
              <a:t>지출결의서</a:t>
            </a:r>
            <a:r>
              <a:rPr lang="ko-KR" altLang="en-US" sz="1100" b="1" dirty="0">
                <a:solidFill/>
                <a:latin typeface="맑은 고딕"/>
              </a:rPr>
              <a:t> 청구 지급이 원칙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주최 </a:t>
            </a:r>
            <a:r>
              <a:rPr lang="ko-KR" altLang="en-US" sz="1100" b="1" dirty="0" err="1">
                <a:solidFill/>
                <a:latin typeface="맑은 고딕"/>
              </a:rPr>
              <a:t>부서장에의한</a:t>
            </a:r>
            <a:r>
              <a:rPr lang="ko-KR" altLang="en-US" sz="1100" b="1" dirty="0">
                <a:solidFill/>
                <a:latin typeface="맑은 고딕"/>
              </a:rPr>
              <a:t> 지출결의서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증빙</a:t>
            </a:r>
            <a:r>
              <a:rPr lang="en-US" altLang="ko-KR" sz="1100" b="1" dirty="0">
                <a:solidFill/>
                <a:latin typeface="맑은 고딕"/>
              </a:rPr>
              <a:t>(</a:t>
            </a:r>
            <a:r>
              <a:rPr lang="ko-KR" altLang="en-US" sz="1100" b="1" dirty="0">
                <a:solidFill/>
                <a:latin typeface="맑은 고딕"/>
              </a:rPr>
              <a:t>견적서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영수증 등</a:t>
            </a:r>
            <a:r>
              <a:rPr lang="en-US" altLang="ko-KR" sz="1100" b="1" dirty="0">
                <a:solidFill/>
                <a:latin typeface="맑은 고딕"/>
              </a:rPr>
              <a:t>)</a:t>
            </a:r>
            <a:r>
              <a:rPr lang="ko-KR" altLang="en-US" sz="1100" b="1" dirty="0">
                <a:solidFill/>
                <a:latin typeface="맑은 고딕"/>
              </a:rPr>
              <a:t>으로 재정부장 청구</a:t>
            </a:r>
            <a:r>
              <a:rPr lang="en-US" altLang="ko-KR" sz="1100" b="1" dirty="0">
                <a:solidFill/>
                <a:latin typeface="맑은 고딕"/>
              </a:rPr>
              <a:t>.</a:t>
            </a:r>
            <a:endParaRPr lang="en-US" altLang="ko-KR" sz="1100" b="1" dirty="0">
              <a:latin typeface="+mj-ea"/>
            </a:endParaRPr>
          </a:p>
          <a:p>
            <a:r>
              <a:rPr lang="ko-KR" altLang="en-US" sz="1100" b="1" dirty="0" err="1">
                <a:solidFill>
                  <a:srgbClr val="293B4C"/>
                </a:solidFill>
                <a:latin typeface="맑은 고딕"/>
              </a:rPr>
              <a:t>ㆍ</a:t>
            </a:r>
            <a:r>
              <a:rPr lang="ko-KR" altLang="en-US" sz="1100" b="1" dirty="0" err="1">
                <a:solidFill/>
                <a:latin typeface="맑은 고딕"/>
              </a:rPr>
              <a:t>불가피한</a:t>
            </a:r>
            <a:r>
              <a:rPr lang="ko-KR" altLang="en-US" sz="1100" b="1" dirty="0">
                <a:solidFill/>
                <a:latin typeface="맑은 고딕"/>
              </a:rPr>
              <a:t> 경우</a:t>
            </a:r>
            <a:r>
              <a:rPr lang="en-US" altLang="ko-KR" sz="1100" b="1" dirty="0">
                <a:solidFill/>
                <a:latin typeface="맑은 고딕"/>
              </a:rPr>
              <a:t>(</a:t>
            </a:r>
            <a:r>
              <a:rPr lang="ko-KR" altLang="en-US" sz="1100" b="1" dirty="0" err="1">
                <a:solidFill/>
                <a:latin typeface="맑은 고딕"/>
              </a:rPr>
              <a:t>선지급</a:t>
            </a:r>
            <a:r>
              <a:rPr lang="en-US" altLang="ko-KR" sz="1100" b="1" dirty="0">
                <a:solidFill/>
                <a:latin typeface="맑은 고딕"/>
              </a:rPr>
              <a:t>)</a:t>
            </a:r>
            <a:r>
              <a:rPr lang="ko-KR" altLang="en-US" sz="1100" b="1" dirty="0">
                <a:solidFill/>
                <a:latin typeface="맑은 고딕"/>
              </a:rPr>
              <a:t> 가지급금으로 처리 후</a:t>
            </a:r>
            <a:r>
              <a:rPr lang="en-US" altLang="ko-KR" sz="1100" b="1" dirty="0">
                <a:solidFill/>
                <a:latin typeface="맑은 고딕"/>
              </a:rPr>
              <a:t> </a:t>
            </a:r>
            <a:r>
              <a:rPr lang="ko-KR" altLang="en-US" sz="1100" b="1" dirty="0">
                <a:solidFill/>
                <a:latin typeface="맑은 고딕"/>
              </a:rPr>
              <a:t>지급 근거</a:t>
            </a:r>
            <a:r>
              <a:rPr lang="en-US" altLang="ko-KR" sz="1100" b="1" dirty="0">
                <a:solidFill/>
                <a:latin typeface="맑은 고딕"/>
              </a:rPr>
              <a:t>(</a:t>
            </a:r>
            <a:r>
              <a:rPr lang="ko-KR" altLang="en-US" sz="1100" b="1" dirty="0" err="1">
                <a:solidFill/>
                <a:latin typeface="맑은 고딕"/>
              </a:rPr>
              <a:t>결재된</a:t>
            </a:r>
            <a:r>
              <a:rPr lang="ko-KR" altLang="en-US" sz="1100" b="1" dirty="0">
                <a:solidFill/>
                <a:latin typeface="맑은 고딕"/>
              </a:rPr>
              <a:t> 계획서</a:t>
            </a:r>
            <a:r>
              <a:rPr lang="en-US" altLang="ko-KR" sz="1100" b="1" dirty="0">
                <a:solidFill/>
                <a:latin typeface="맑은 고딕"/>
              </a:rPr>
              <a:t>)</a:t>
            </a:r>
            <a:r>
              <a:rPr lang="ko-KR" altLang="en-US" sz="1100" b="1" dirty="0">
                <a:solidFill/>
                <a:latin typeface="맑은 고딕"/>
              </a:rPr>
              <a:t> 기록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주최 기관 통장 이체 금지</a:t>
            </a:r>
            <a:endParaRPr lang="en-US" altLang="ko-KR" sz="1100" b="1" dirty="0">
              <a:solidFill/>
              <a:latin typeface="맑은 고딕"/>
            </a:endParaRPr>
          </a:p>
          <a:p>
            <a:r>
              <a:rPr lang="ko-KR" altLang="en-US" sz="1100" b="1" dirty="0" err="1">
                <a:solidFill>
                  <a:srgbClr val="293B4C"/>
                </a:solidFill>
                <a:latin typeface="맑은 고딕"/>
              </a:rPr>
              <a:t>ㆍ</a:t>
            </a:r>
            <a:r>
              <a:rPr lang="ko-KR" altLang="en-US" sz="1100" b="1" dirty="0" err="1">
                <a:solidFill/>
                <a:latin typeface="맑은 고딕"/>
              </a:rPr>
              <a:t>참가비ㆍ후원금은</a:t>
            </a:r>
            <a:r>
              <a:rPr lang="ko-KR" altLang="en-US" sz="1100" b="1" dirty="0">
                <a:solidFill/>
                <a:latin typeface="맑은 고딕"/>
              </a:rPr>
              <a:t> 교회 회계로 수납하고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주최 부서가 별도로 보관하거나 집행하지 않음</a:t>
            </a:r>
            <a:r>
              <a:rPr lang="en-US" altLang="ko-KR" sz="1100" b="1" dirty="0">
                <a:solidFill/>
                <a:latin typeface="맑은 고딕"/>
              </a:rPr>
              <a:t>.</a:t>
            </a:r>
            <a:endParaRPr lang="en-US" altLang="ko-KR" sz="1100" b="1" dirty="0">
              <a:latin typeface="+mj-ea"/>
            </a:endParaRPr>
          </a:p>
          <a:p>
            <a:r>
              <a:rPr lang="ko-KR" altLang="en-US" sz="1100" b="1" dirty="0" err="1">
                <a:solidFill>
                  <a:srgbClr val="293B4C"/>
                </a:solidFill>
                <a:latin typeface="맑은 고딕"/>
              </a:rPr>
              <a:t>ㆍ</a:t>
            </a:r>
            <a:r>
              <a:rPr lang="ko-KR" altLang="en-US" sz="1100" b="1" dirty="0" err="1">
                <a:solidFill/>
                <a:latin typeface="맑은 고딕"/>
              </a:rPr>
              <a:t>재정부는</a:t>
            </a:r>
            <a:r>
              <a:rPr lang="ko-KR" altLang="en-US" sz="1100" b="1" dirty="0">
                <a:solidFill/>
                <a:latin typeface="맑은 고딕"/>
              </a:rPr>
              <a:t> 이 절차를 재정부 업무지침에도 반영</a:t>
            </a:r>
            <a:r>
              <a:rPr lang="en-US" altLang="ko-KR" sz="1100" b="1" dirty="0">
                <a:solidFill/>
                <a:latin typeface="맑은 고딕"/>
              </a:rPr>
              <a:t>.(</a:t>
            </a:r>
            <a:r>
              <a:rPr lang="ko-KR" altLang="en-US" sz="1100" b="1" dirty="0">
                <a:solidFill/>
                <a:latin typeface="맑은 고딕"/>
              </a:rPr>
              <a:t>조직과 행정법 제 </a:t>
            </a:r>
            <a:r>
              <a:rPr lang="en-US" altLang="ko-KR" sz="1100" b="1" dirty="0">
                <a:solidFill/>
                <a:latin typeface="맑은 고딕"/>
              </a:rPr>
              <a:t>46</a:t>
            </a:r>
            <a:r>
              <a:rPr lang="ko-KR" altLang="en-US" sz="1100" b="1" dirty="0">
                <a:solidFill/>
                <a:latin typeface="맑은 고딕"/>
              </a:rPr>
              <a:t>조 제 </a:t>
            </a:r>
            <a:r>
              <a:rPr lang="en-US" altLang="ko-KR" sz="1100" b="1" dirty="0">
                <a:solidFill/>
                <a:latin typeface="맑은 고딕"/>
              </a:rPr>
              <a:t>3</a:t>
            </a:r>
            <a:r>
              <a:rPr lang="ko-KR" altLang="en-US" sz="1100" b="1" dirty="0">
                <a:solidFill/>
                <a:latin typeface="맑은 고딕"/>
              </a:rPr>
              <a:t>항</a:t>
            </a:r>
            <a:r>
              <a:rPr lang="en-US" altLang="ko-KR" sz="1100" b="1" dirty="0">
                <a:solidFill/>
                <a:latin typeface="맑은 고딕"/>
              </a:rPr>
              <a:t>)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 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 </a:t>
            </a:r>
            <a:endParaRPr lang="ko-KR" altLang="en-US" sz="1100" b="1" dirty="0">
              <a:solidFill>
                <a:srgbClr val="D4661F"/>
              </a:solidFill>
              <a:latin typeface="맑은 고딕"/>
              <a:ea typeface="+mj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32E77B6-E3E9-DB12-F171-052943AD0339}"/>
              </a:ext>
            </a:extLst>
          </p:cNvPr>
          <p:cNvSpPr/>
          <p:nvPr/>
        </p:nvSpPr>
        <p:spPr>
          <a:xfrm>
            <a:off x="2470858" y="5489679"/>
            <a:ext cx="565268" cy="193514"/>
          </a:xfrm>
          <a:prstGeom prst="roundRect">
            <a:avLst/>
          </a:prstGeom>
          <a:solidFill>
            <a:srgbClr val="E8704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절 차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E87D639-52E5-93A6-9D01-9F067C63855A}"/>
              </a:ext>
            </a:extLst>
          </p:cNvPr>
          <p:cNvSpPr/>
          <p:nvPr/>
        </p:nvSpPr>
        <p:spPr>
          <a:xfrm>
            <a:off x="8002721" y="5424819"/>
            <a:ext cx="4150974" cy="1113168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[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대 안 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 err="1">
                <a:solidFill>
                  <a:srgbClr val="293B4C"/>
                </a:solidFill>
                <a:latin typeface="맑은 고딕"/>
                <a:ea typeface="+mj-ea"/>
              </a:rPr>
              <a:t>ㆍ주최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  <a:ea typeface="+mj-ea"/>
              </a:rPr>
              <a:t> 부서에 의한 </a:t>
            </a:r>
            <a:r>
              <a:rPr lang="ko-KR" altLang="en-US" sz="1100" b="1" dirty="0">
                <a:solidFill/>
                <a:latin typeface="맑은 고딕"/>
              </a:rPr>
              <a:t>지출결의서 작성 후</a:t>
            </a:r>
            <a:r>
              <a:rPr lang="en-US" altLang="ko-KR" sz="1100" b="1" dirty="0">
                <a:solidFill/>
                <a:latin typeface="맑은 고딕"/>
              </a:rPr>
              <a:t>, </a:t>
            </a:r>
            <a:r>
              <a:rPr lang="ko-KR" altLang="en-US" sz="1100" b="1" dirty="0">
                <a:solidFill/>
                <a:latin typeface="맑은 고딕"/>
              </a:rPr>
              <a:t>재정부장 청구 이후 </a:t>
            </a:r>
            <a:endParaRPr lang="en-US" altLang="ko-KR" sz="1100" b="1" dirty="0">
              <a:solidFill/>
              <a:latin typeface="맑은 고딕"/>
            </a:endParaRPr>
          </a:p>
          <a:p>
            <a:r>
              <a:rPr lang="en-US" altLang="ko-KR" sz="1100" b="1" dirty="0">
                <a:solidFill/>
                <a:latin typeface="맑은 고딕"/>
              </a:rPr>
              <a:t>   </a:t>
            </a:r>
            <a:r>
              <a:rPr lang="ko-KR" altLang="en-US" sz="1100" b="1" dirty="0">
                <a:solidFill/>
                <a:latin typeface="맑은 고딕"/>
              </a:rPr>
              <a:t>담임목사 승인 후 입금</a:t>
            </a:r>
            <a:endParaRPr lang="en-US" altLang="ko-KR" sz="1100" b="1" dirty="0">
              <a:solidFill/>
              <a:latin typeface="맑은 고딕"/>
            </a:endParaRPr>
          </a:p>
          <a:p>
            <a:r>
              <a:rPr lang="ko-KR" altLang="en-US" sz="1100" b="1" dirty="0" err="1">
                <a:solidFill>
                  <a:srgbClr val="293B4C"/>
                </a:solidFill>
                <a:latin typeface="맑은 고딕"/>
              </a:rPr>
              <a:t>ㆍ입금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 금액을 가지급으로 처리 후 근거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(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결재 계획서</a:t>
            </a:r>
            <a:r>
              <a:rPr lang="en-US" altLang="ko-KR" sz="1100" b="1" dirty="0">
                <a:solidFill>
                  <a:srgbClr val="293B4C"/>
                </a:solidFill>
                <a:latin typeface="맑은 고딕"/>
              </a:rPr>
              <a:t>)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에 기록</a:t>
            </a:r>
            <a:endParaRPr lang="en-US" altLang="ko-KR" sz="1100" b="1" dirty="0">
              <a:solidFill>
                <a:srgbClr val="293B4C"/>
              </a:solidFill>
              <a:latin typeface="맑은 고딕"/>
            </a:endParaRPr>
          </a:p>
          <a:p>
            <a:r>
              <a:rPr lang="ko-KR" altLang="en-US" sz="1100" b="1" dirty="0" err="1">
                <a:solidFill>
                  <a:srgbClr val="293B4C"/>
                </a:solidFill>
                <a:latin typeface="맑은 고딕"/>
              </a:rPr>
              <a:t>ㆍ집행</a:t>
            </a:r>
            <a:r>
              <a:rPr lang="ko-KR" altLang="en-US" sz="1100" b="1" dirty="0">
                <a:solidFill>
                  <a:srgbClr val="293B4C"/>
                </a:solidFill>
                <a:latin typeface="맑은 고딕"/>
              </a:rPr>
              <a:t> 수 결과보고서와 정산서를 제출함으로 업무 종결</a:t>
            </a:r>
            <a:endParaRPr lang="ko-KR" altLang="en-US" sz="1100" b="1" dirty="0">
              <a:solidFill>
                <a:srgbClr val="D4661F"/>
              </a:solidFill>
              <a:latin typeface="맑은 고딕"/>
              <a:ea typeface="+mj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A24E997-E8A6-B440-2E2C-3BAED3D45D5A}"/>
              </a:ext>
            </a:extLst>
          </p:cNvPr>
          <p:cNvSpPr/>
          <p:nvPr/>
        </p:nvSpPr>
        <p:spPr>
          <a:xfrm>
            <a:off x="8704607" y="5518040"/>
            <a:ext cx="486102" cy="193514"/>
          </a:xfrm>
          <a:prstGeom prst="roundRect">
            <a:avLst/>
          </a:prstGeom>
          <a:solidFill>
            <a:srgbClr val="19979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rgbClr val="F2F9FC"/>
                </a:solidFill>
              </a:rPr>
              <a:t>개 선</a:t>
            </a:r>
          </a:p>
        </p:txBody>
      </p:sp>
    </p:spTree>
    <p:extLst>
      <p:ext uri="{BB962C8B-B14F-4D97-AF65-F5344CB8AC3E}">
        <p14:creationId xmlns:p14="http://schemas.microsoft.com/office/powerpoint/2010/main" val="43981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1E27A-43BF-06CA-0EC8-5F890969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FF682693-2C17-DF18-C7FD-64E13E421B01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발전 방안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대안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) - 3/4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1065DAF-B84C-B017-0135-11DEA1B3FF08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4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7678CC29-582F-33DB-F868-1FF41C756621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(5/6)</a:t>
            </a:r>
            <a:endParaRPr lang="ko-KR" altLang="en-US" sz="2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90F47C-F0F6-E2EE-7AF6-2107C7F5A54F}"/>
              </a:ext>
            </a:extLst>
          </p:cNvPr>
          <p:cNvSpPr/>
          <p:nvPr/>
        </p:nvSpPr>
        <p:spPr>
          <a:xfrm>
            <a:off x="760021" y="1434301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E1E17E1-36D9-3D51-42EC-C802D61A9420}"/>
              </a:ext>
            </a:extLst>
          </p:cNvPr>
          <p:cNvSpPr txBox="1"/>
          <p:nvPr/>
        </p:nvSpPr>
        <p:spPr>
          <a:xfrm>
            <a:off x="945273" y="1333982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9B885931-1DD2-7125-D5E7-F7C6E711BB8A}"/>
              </a:ext>
            </a:extLst>
          </p:cNvPr>
          <p:cNvSpPr/>
          <p:nvPr/>
        </p:nvSpPr>
        <p:spPr>
          <a:xfrm>
            <a:off x="961903" y="1717971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0EAAC31-D4D1-1DF3-69D5-27F2E5BF53D0}"/>
              </a:ext>
            </a:extLst>
          </p:cNvPr>
          <p:cNvSpPr txBox="1"/>
          <p:nvPr/>
        </p:nvSpPr>
        <p:spPr>
          <a:xfrm>
            <a:off x="1206531" y="1607254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계획서만 보고도 누가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언제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어디서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누구를 대상으로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어떤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결의ㆍ승인에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근거하는지 알 수 있어야 함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C0C97B95-9E41-5B3F-8DA4-D8AD4DC54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94894"/>
              </p:ext>
            </p:extLst>
          </p:nvPr>
        </p:nvGraphicFramePr>
        <p:xfrm>
          <a:off x="1206530" y="1907827"/>
          <a:ext cx="9048691" cy="341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377">
                  <a:extLst>
                    <a:ext uri="{9D8B030D-6E8A-4147-A177-3AD203B41FA5}">
                      <a16:colId xmlns:a16="http://schemas.microsoft.com/office/drawing/2014/main" val="2396314138"/>
                    </a:ext>
                  </a:extLst>
                </a:gridCol>
                <a:gridCol w="1542846">
                  <a:extLst>
                    <a:ext uri="{9D8B030D-6E8A-4147-A177-3AD203B41FA5}">
                      <a16:colId xmlns:a16="http://schemas.microsoft.com/office/drawing/2014/main" val="2860294527"/>
                    </a:ext>
                  </a:extLst>
                </a:gridCol>
                <a:gridCol w="1669986">
                  <a:extLst>
                    <a:ext uri="{9D8B030D-6E8A-4147-A177-3AD203B41FA5}">
                      <a16:colId xmlns:a16="http://schemas.microsoft.com/office/drawing/2014/main" val="2385732109"/>
                    </a:ext>
                  </a:extLst>
                </a:gridCol>
                <a:gridCol w="5392482">
                  <a:extLst>
                    <a:ext uri="{9D8B030D-6E8A-4147-A177-3AD203B41FA5}">
                      <a16:colId xmlns:a16="http://schemas.microsoft.com/office/drawing/2014/main" val="2556394577"/>
                    </a:ext>
                  </a:extLst>
                </a:gridCol>
              </a:tblGrid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effectLst/>
                        </a:rPr>
                        <a:t>구분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권장</a:t>
                      </a:r>
                      <a:endParaRPr lang="ko-KR"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포함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19441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  <a:effectLst/>
                        </a:rPr>
                        <a:t>1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행사명</a:t>
                      </a:r>
                      <a:endParaRPr lang="ko-KR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예: 조원감리교회 한마음 체육대회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07108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2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목적과 배경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93B4C"/>
                          </a:solidFill>
                        </a:rPr>
                        <a:t>필수</a:t>
                      </a:r>
                      <a:endParaRPr lang="ko-KR" sz="10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행사를 여는 이유와 기대하는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8009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3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일시와 장소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날짜, 시간, 장소, 우천 시 대체 일정 또는 실내 장소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4322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4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대상과 예상 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참가 대상, 예상 인원, 팀 편성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09898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5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프로그램 운영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3333FF"/>
                          </a:solidFill>
                        </a:rPr>
                        <a:t>필수(신설)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유치부·아동부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등 </a:t>
                      </a:r>
                      <a:r>
                        <a:rPr lang="ko-KR" altLang="en-US" sz="1000" b="1" dirty="0">
                          <a:solidFill>
                            <a:srgbClr val="293B4C"/>
                          </a:solidFill>
                        </a:rPr>
                        <a:t>운영 및 전 교인 통합 운영 방식 검토와 선정 근거</a:t>
                      </a:r>
                      <a:endParaRPr lang="ko-KR" sz="10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43412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6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진행 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개회예배, 종목, 식사, 시상, 폐회 등 시간표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51321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7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주</a:t>
                      </a:r>
                      <a:r>
                        <a:rPr lang="ko-KR" altLang="en-US" sz="1000" b="1" dirty="0">
                          <a:solidFill>
                            <a:srgbClr val="293B4C"/>
                          </a:solidFill>
                        </a:rPr>
                        <a:t>최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부서, 책임자, 협력 </a:t>
                      </a: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부서·선교회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종목·식사·안전·회계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46383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  <a:effectLst/>
                        </a:rPr>
                        <a:t>8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안전대책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구급함과 응급연락처, 안전 담당자, 행사보험 가입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28988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9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재원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수입·지출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예산서, 예산 과목, 회계 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099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10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수입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3333FF"/>
                          </a:solidFill>
                        </a:rPr>
                        <a:t>해당 시 필수(신설)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참가비·후원금의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수납 방법과 교회 회계 편입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88769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11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근거 결의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 err="1">
                          <a:solidFill>
                            <a:srgbClr val="293B4C"/>
                          </a:solidFill>
                        </a:rPr>
                        <a:t>구역회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 예산 확정일, 임원회 결의 등 회의록 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87518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12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평가와 보고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결과보고서 제출 기한과 보고 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8406"/>
                  </a:ext>
                </a:extLst>
              </a:tr>
              <a:tr h="156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13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</a:rPr>
                        <a:t>결재란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3333FF"/>
                          </a:solidFill>
                        </a:rPr>
                        <a:t>필수(신설)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작성 부서장 → </a:t>
                      </a:r>
                      <a:r>
                        <a:rPr lang="ko-KR" altLang="en-US" sz="1000" b="1" dirty="0">
                          <a:solidFill>
                            <a:srgbClr val="293B4C"/>
                          </a:solidFill>
                        </a:rPr>
                        <a:t>재정부장</a:t>
                      </a:r>
                      <a:r>
                        <a:rPr lang="ko-KR" sz="1000" b="1" dirty="0">
                          <a:solidFill>
                            <a:srgbClr val="293B4C"/>
                          </a:solidFill>
                        </a:rPr>
                        <a:t>(검토 의견) → 담임목사(승인), 각 서명과 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52293"/>
                  </a:ext>
                </a:extLst>
              </a:tr>
            </a:tbl>
          </a:graphicData>
        </a:graphic>
      </p:graphicFrame>
      <p:sp>
        <p:nvSpPr>
          <p:cNvPr id="3" name="Text 3">
            <a:extLst>
              <a:ext uri="{FF2B5EF4-FFF2-40B4-BE49-F238E27FC236}">
                <a16:creationId xmlns:a16="http://schemas.microsoft.com/office/drawing/2014/main" id="{298B8375-073B-09D0-2F42-C9D88499DC78}"/>
              </a:ext>
            </a:extLst>
          </p:cNvPr>
          <p:cNvSpPr txBox="1"/>
          <p:nvPr/>
        </p:nvSpPr>
        <p:spPr>
          <a:xfrm>
            <a:off x="978921" y="1391381"/>
            <a:ext cx="407600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체육대회 계획서 기재 항목 수정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BB2115F-5B69-BEF4-10E3-DA6E32366457}"/>
              </a:ext>
            </a:extLst>
          </p:cNvPr>
          <p:cNvSpPr/>
          <p:nvPr/>
        </p:nvSpPr>
        <p:spPr>
          <a:xfrm>
            <a:off x="760021" y="5499996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6393AC9-02C5-B09C-AE2E-E9CFD5C32AA1}"/>
              </a:ext>
            </a:extLst>
          </p:cNvPr>
          <p:cNvSpPr txBox="1"/>
          <p:nvPr/>
        </p:nvSpPr>
        <p:spPr>
          <a:xfrm>
            <a:off x="978921" y="5457076"/>
            <a:ext cx="109280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결과보고 및 정산 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주최 부서는 행사 후 </a:t>
            </a:r>
            <a:r>
              <a:rPr lang="en-US" altLang="ko-KR" sz="1600" b="1" dirty="0">
                <a:solidFill>
                  <a:srgbClr val="3333FF"/>
                </a:solidFill>
                <a:latin typeface="맑은 고딕"/>
                <a:ea typeface="+mj-ea"/>
              </a:rPr>
              <a:t>14</a:t>
            </a:r>
            <a:r>
              <a:rPr lang="ko-KR" altLang="en-US" sz="1600" b="1" dirty="0">
                <a:solidFill>
                  <a:srgbClr val="3333FF"/>
                </a:solidFill>
                <a:latin typeface="맑은 고딕"/>
                <a:ea typeface="+mj-ea"/>
              </a:rPr>
              <a:t>일 이내 </a:t>
            </a:r>
            <a:r>
              <a:rPr lang="ko-KR" altLang="en-US" sz="1600" b="1" dirty="0">
                <a:solidFill/>
                <a:latin typeface="맑은 고딕"/>
                <a:ea typeface="+mj-ea"/>
              </a:rPr>
              <a:t>결과보고서와 정산서를 재정부와 담임목사에게 제출</a:t>
            </a:r>
            <a:r>
              <a:rPr lang="en-US" altLang="ko-KR" sz="1600" b="1" dirty="0">
                <a:solidFill/>
                <a:latin typeface="맑은 고딕"/>
                <a:ea typeface="+mj-ea"/>
              </a:rPr>
              <a:t>.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727AF3BD-A5C5-5CBB-2DD9-739AE2D463A3}"/>
              </a:ext>
            </a:extLst>
          </p:cNvPr>
          <p:cNvSpPr/>
          <p:nvPr/>
        </p:nvSpPr>
        <p:spPr>
          <a:xfrm>
            <a:off x="961903" y="5787169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B88405-3A63-C7EB-747F-497C70A435FA}"/>
              </a:ext>
            </a:extLst>
          </p:cNvPr>
          <p:cNvSpPr txBox="1"/>
          <p:nvPr/>
        </p:nvSpPr>
        <p:spPr>
          <a:xfrm>
            <a:off x="1206531" y="5676452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결과보고서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참가인원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진행결과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안전사고 유무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잘된 점과 개선할 점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다음 행사 건의사항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D23A0865-7062-922D-3CE9-AD8B83DA89E4}"/>
              </a:ext>
            </a:extLst>
          </p:cNvPr>
          <p:cNvSpPr/>
          <p:nvPr/>
        </p:nvSpPr>
        <p:spPr>
          <a:xfrm>
            <a:off x="961903" y="6035245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444A2F5-49BC-3907-AC91-2DD69EEFF275}"/>
              </a:ext>
            </a:extLst>
          </p:cNvPr>
          <p:cNvSpPr txBox="1"/>
          <p:nvPr/>
        </p:nvSpPr>
        <p:spPr>
          <a:xfrm>
            <a:off x="1206531" y="5924528"/>
            <a:ext cx="9928565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정산서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예산 대비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집행액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지출 증빙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정산 내역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참가비ㆍ후원금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수입내역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잔액 반납 내역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E5FE05E5-9F36-CA15-5921-3537C2DB1A42}"/>
              </a:ext>
            </a:extLst>
          </p:cNvPr>
          <p:cNvSpPr/>
          <p:nvPr/>
        </p:nvSpPr>
        <p:spPr>
          <a:xfrm>
            <a:off x="961903" y="6294695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78C4CC6-FA4C-B497-2153-F39FA3BB59AD}"/>
              </a:ext>
            </a:extLst>
          </p:cNvPr>
          <p:cNvSpPr txBox="1"/>
          <p:nvPr/>
        </p:nvSpPr>
        <p:spPr>
          <a:xfrm>
            <a:off x="1206531" y="6183978"/>
            <a:ext cx="1085484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보고 경로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: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재정부는 정산 결과를 분기별 임원회에 보고하고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의회법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제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24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조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2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항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),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연간 결산에 반영해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구역회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보고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의회법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제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34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조 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3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항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9E93413-A844-6D7B-8AF4-88BAAFAF408A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AF3B8940-C397-7A6B-EF28-ECC5AA868CB2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B5CB991-D424-7178-642F-79687F27CC98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F9DA197-84C1-0899-9FE8-0E99C7D163B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C27DF1D-F855-A559-BDD7-2AAE4B9E47FE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A5D5537-085D-AE84-E713-9D2D2075E4E5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6EFEDC-5CAC-8FC1-21A8-D36F4BCDAAC8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55AF466-27CB-070D-B48B-BB5F06FEBBDE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1658A02-B425-F609-D45D-3C06E68CFE2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D43A841-A38F-C6EB-C468-18BF73E79A2B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413877A-C5AA-0B7E-4975-443671A2ECE2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708204F-D85E-DA90-1E50-BE98737BB205}"/>
              </a:ext>
            </a:extLst>
          </p:cNvPr>
          <p:cNvCxnSpPr/>
          <p:nvPr/>
        </p:nvCxnSpPr>
        <p:spPr>
          <a:xfrm>
            <a:off x="3087582" y="1907827"/>
            <a:ext cx="0" cy="341376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DE2D04F-00CA-BC95-EC99-757DF5CF3AE8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1C0A7-7D5C-570A-91DE-9490C6A6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ADDC3579-682A-D601-3725-3570AED8173A}"/>
              </a:ext>
            </a:extLst>
          </p:cNvPr>
          <p:cNvSpPr txBox="1"/>
          <p:nvPr/>
        </p:nvSpPr>
        <p:spPr>
          <a:xfrm>
            <a:off x="838403" y="993120"/>
            <a:ext cx="361188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발전 방안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대안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) – 4/4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6AE6B27-5BDD-3C60-A2B5-3F1D79CF5039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/>
              </a:rPr>
              <a:t>4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B30204BE-ECD2-EE8A-D9C1-5FDB5233151F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Ⅱ.</a:t>
            </a:r>
            <a:r>
              <a:rPr lang="ko-KR" altLang="en-US" sz="3200" dirty="0">
                <a:solidFill/>
              </a:rPr>
              <a:t>체육대회 시행 절차 정립 </a:t>
            </a:r>
            <a:r>
              <a:rPr lang="en-US" altLang="ko-KR" sz="2400" dirty="0">
                <a:solidFill/>
              </a:rPr>
              <a:t>(6/6)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329B170-B5F4-B673-C93C-CCA824781517}"/>
              </a:ext>
            </a:extLst>
          </p:cNvPr>
          <p:cNvSpPr/>
          <p:nvPr/>
        </p:nvSpPr>
        <p:spPr>
          <a:xfrm>
            <a:off x="760021" y="149495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4D4EA9F-E95F-14ED-5C03-E423142E220D}"/>
              </a:ext>
            </a:extLst>
          </p:cNvPr>
          <p:cNvSpPr txBox="1"/>
          <p:nvPr/>
        </p:nvSpPr>
        <p:spPr>
          <a:xfrm>
            <a:off x="945273" y="1333982"/>
            <a:ext cx="1119922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F40FB02-162D-DCAA-AB09-5CAC62537BC4}"/>
              </a:ext>
            </a:extLst>
          </p:cNvPr>
          <p:cNvSpPr/>
          <p:nvPr/>
        </p:nvSpPr>
        <p:spPr>
          <a:xfrm>
            <a:off x="961903" y="1856519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55CC77D-098A-48CE-CAF4-A473CD68065D}"/>
              </a:ext>
            </a:extLst>
          </p:cNvPr>
          <p:cNvSpPr txBox="1"/>
          <p:nvPr/>
        </p:nvSpPr>
        <p:spPr>
          <a:xfrm>
            <a:off x="1206531" y="1745802"/>
            <a:ext cx="10436524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400" b="1" dirty="0">
                <a:solidFill/>
                <a:latin typeface="맑은 고딕"/>
                <a:ea typeface="+mj-ea"/>
              </a:rPr>
              <a:t>이번 체육대회의 혼선은 절차에 승인단계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기한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단일 보고 창구가 없었던 데서 비롯됨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따라서 각 문제에 대해 체크리스트를 작성함</a:t>
            </a:r>
            <a:endParaRPr lang="en-US" altLang="ko-KR" sz="1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7C44AA6-BC32-DA86-57C3-EDA15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851984"/>
              </p:ext>
            </p:extLst>
          </p:nvPr>
        </p:nvGraphicFramePr>
        <p:xfrm>
          <a:off x="961904" y="2106854"/>
          <a:ext cx="10871657" cy="2439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720">
                  <a:extLst>
                    <a:ext uri="{9D8B030D-6E8A-4147-A177-3AD203B41FA5}">
                      <a16:colId xmlns:a16="http://schemas.microsoft.com/office/drawing/2014/main" val="2396314138"/>
                    </a:ext>
                  </a:extLst>
                </a:gridCol>
                <a:gridCol w="4320448">
                  <a:extLst>
                    <a:ext uri="{9D8B030D-6E8A-4147-A177-3AD203B41FA5}">
                      <a16:colId xmlns:a16="http://schemas.microsoft.com/office/drawing/2014/main" val="2860294527"/>
                    </a:ext>
                  </a:extLst>
                </a:gridCol>
                <a:gridCol w="2954328">
                  <a:extLst>
                    <a:ext uri="{9D8B030D-6E8A-4147-A177-3AD203B41FA5}">
                      <a16:colId xmlns:a16="http://schemas.microsoft.com/office/drawing/2014/main" val="2385732109"/>
                    </a:ext>
                  </a:extLst>
                </a:gridCol>
                <a:gridCol w="3223161">
                  <a:extLst>
                    <a:ext uri="{9D8B030D-6E8A-4147-A177-3AD203B41FA5}">
                      <a16:colId xmlns:a16="http://schemas.microsoft.com/office/drawing/2014/main" val="2556394577"/>
                    </a:ext>
                  </a:extLst>
                </a:gridCol>
              </a:tblGrid>
              <a:tr h="364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effectLst/>
                        </a:rPr>
                        <a:t>구분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문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제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원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FFFFFF"/>
                          </a:solidFill>
                        </a:rPr>
                        <a:t>개선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19441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  <a:effectLst/>
                        </a:rPr>
                        <a:t>1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계획 검토가 행사 직전에 이루어짐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단계별 기한이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계획서 </a:t>
                      </a:r>
                      <a:r>
                        <a:rPr lang="ko-KR" sz="900" b="1" dirty="0" err="1">
                          <a:solidFill>
                            <a:srgbClr val="293B4C"/>
                          </a:solidFill>
                        </a:rPr>
                        <a:t>D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-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30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 제출, 담임목사 승인 D-14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07108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2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 err="1">
                          <a:solidFill>
                            <a:srgbClr val="293B4C"/>
                          </a:solidFill>
                        </a:rPr>
                        <a:t>유치부·아동부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 별도 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진행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 여부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에 관한 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담임목사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님 충분한 의견 조율 미흡</a:t>
                      </a:r>
                      <a:endParaRPr lang="ko-KR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계획서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전달 및 최종 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최종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 보고 부재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연령별 프로그램 운영 항목 신설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8009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3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주최 부서와 협력 선교회 보고 채널 혼선</a:t>
                      </a:r>
                      <a:endParaRPr lang="ko-KR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명확한 보고 책임자 지정 부재로 주일 광로를 최종</a:t>
                      </a:r>
                      <a:endParaRPr lang="en-US" altLang="ko-KR" sz="900" b="1" dirty="0">
                        <a:solidFill>
                          <a:srgbClr val="293B4C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보고로 판단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주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최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 부서장 단일 보고, 광고는 승인 이후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4322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4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담임목사 승인 전에 예산이 집행됨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절차에 승인 단계가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담임목사 최종 승인 단계 신설, </a:t>
                      </a:r>
                      <a:r>
                        <a:rPr lang="ko-KR" sz="900" b="1" dirty="0" err="1">
                          <a:solidFill>
                            <a:srgbClr val="293B4C"/>
                          </a:solidFill>
                        </a:rPr>
                        <a:t>결재란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09898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 dirty="0">
                          <a:solidFill>
                            <a:srgbClr val="293B4C"/>
                          </a:solidFill>
                          <a:effectLst/>
                        </a:rPr>
                        <a:t>5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통장 입금을 승인으로 판단해 집행함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승인 확인 없이 자치기관 통장으로 일괄 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담임목사 승인 이후 이체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선지급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유지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43412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solidFill>
                            <a:srgbClr val="293B4C"/>
                          </a:solidFill>
                          <a:effectLst/>
                        </a:rPr>
                        <a:t>6</a:t>
                      </a: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예산 확정 시점이 연초 구역회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와 행사 한 달 전 구역회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에서 서로 다름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>
                          <a:solidFill>
                            <a:srgbClr val="293B4C"/>
                          </a:solidFill>
                        </a:rPr>
                        <a:t>예산 확정과 집행계획 확정을 구분하지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예산은 정기 </a:t>
                      </a:r>
                      <a:r>
                        <a:rPr lang="ko-KR" sz="900" b="1" dirty="0" err="1">
                          <a:solidFill>
                            <a:srgbClr val="293B4C"/>
                          </a:solidFill>
                        </a:rPr>
                        <a:t>구역회</a:t>
                      </a:r>
                      <a:r>
                        <a:rPr lang="ko-KR" sz="900" b="1" dirty="0">
                          <a:solidFill>
                            <a:srgbClr val="293B4C"/>
                          </a:solidFill>
                        </a:rPr>
                        <a:t>, 집행계획은 담임목사 승인으로 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51321"/>
                  </a:ext>
                </a:extLst>
              </a:tr>
            </a:tbl>
          </a:graphicData>
        </a:graphic>
      </p:graphicFrame>
      <p:sp>
        <p:nvSpPr>
          <p:cNvPr id="3" name="Text 3">
            <a:extLst>
              <a:ext uri="{FF2B5EF4-FFF2-40B4-BE49-F238E27FC236}">
                <a16:creationId xmlns:a16="http://schemas.microsoft.com/office/drawing/2014/main" id="{3BC1FAFC-081C-C8BE-1548-A57E529EDB21}"/>
              </a:ext>
            </a:extLst>
          </p:cNvPr>
          <p:cNvSpPr txBox="1"/>
          <p:nvPr/>
        </p:nvSpPr>
        <p:spPr>
          <a:xfrm>
            <a:off x="978921" y="1452033"/>
            <a:ext cx="407600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체육대회 간 문제점과 개선 사항 체크리스트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111A442-C9A5-7215-47D4-57011AFAEF29}"/>
              </a:ext>
            </a:extLst>
          </p:cNvPr>
          <p:cNvSpPr/>
          <p:nvPr/>
        </p:nvSpPr>
        <p:spPr>
          <a:xfrm>
            <a:off x="760021" y="4800761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907090-5D78-3621-0EAB-A49C5EEEE091}"/>
              </a:ext>
            </a:extLst>
          </p:cNvPr>
          <p:cNvSpPr txBox="1"/>
          <p:nvPr/>
        </p:nvSpPr>
        <p:spPr>
          <a:xfrm>
            <a:off x="978921" y="4757841"/>
            <a:ext cx="11744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/>
                <a:latin typeface="맑은 고딕"/>
                <a:ea typeface="+mj-ea"/>
              </a:rPr>
              <a:t>후속 과제</a:t>
            </a:r>
            <a:endParaRPr lang="en-US" sz="1000" b="1" i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4E5D4CC-EBCB-66CD-9982-6724E1DA4671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23E36C20-3D95-1FAE-941B-BA0B4FA23A3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359934-3C48-C473-EA3E-0373CEECFD54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A2D5AB4-E065-24D3-BF7A-96B398A1516E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442B08-3D63-025F-7582-C2942D1EAADB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46356CF-2295-6BBF-3EFA-34CEB7B4149A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5934552-1E64-B64A-6496-3731D4C2CAEA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855DA66-741A-F664-BE74-D216E53F77B9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F1DA941-1791-3333-4479-6B81AF9957D4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FA803CC-65B8-C54C-D063-08D3BEA5C21B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8B7C2CD-F17D-6DFA-C62D-FC24E5F49E70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8A18DF-21E4-0EEE-0F46-CCABD86AA9A7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C14FA85-D9A4-6347-BC12-3D5571EFD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19706"/>
              </p:ext>
            </p:extLst>
          </p:nvPr>
        </p:nvGraphicFramePr>
        <p:xfrm>
          <a:off x="961903" y="5046820"/>
          <a:ext cx="10849096" cy="13898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7841">
                  <a:extLst>
                    <a:ext uri="{9D8B030D-6E8A-4147-A177-3AD203B41FA5}">
                      <a16:colId xmlns:a16="http://schemas.microsoft.com/office/drawing/2014/main" val="3124634928"/>
                    </a:ext>
                  </a:extLst>
                </a:gridCol>
                <a:gridCol w="2534657">
                  <a:extLst>
                    <a:ext uri="{9D8B030D-6E8A-4147-A177-3AD203B41FA5}">
                      <a16:colId xmlns:a16="http://schemas.microsoft.com/office/drawing/2014/main" val="2615354044"/>
                    </a:ext>
                  </a:extLst>
                </a:gridCol>
                <a:gridCol w="2776598">
                  <a:extLst>
                    <a:ext uri="{9D8B030D-6E8A-4147-A177-3AD203B41FA5}">
                      <a16:colId xmlns:a16="http://schemas.microsoft.com/office/drawing/2014/main" val="2075905496"/>
                    </a:ext>
                  </a:extLst>
                </a:gridCol>
              </a:tblGrid>
              <a:tr h="364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effectLst/>
                        </a:rPr>
                        <a:t>과  제</a:t>
                      </a:r>
                      <a:endParaRPr lang="ko-KR" sz="10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담  당</a:t>
                      </a:r>
                      <a:endParaRPr lang="ko-KR"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기  한</a:t>
                      </a:r>
                      <a:endParaRPr lang="ko-KR"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096709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93B4C"/>
                          </a:solidFill>
                          <a:effectLst/>
                        </a:rPr>
                        <a:t>신년도 계획안에 체육대회 포함</a:t>
                      </a:r>
                      <a:r>
                        <a:rPr lang="en-US" altLang="ko-KR" sz="1000" b="1" dirty="0">
                          <a:solidFill>
                            <a:srgbClr val="293B4C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293B4C"/>
                          </a:solidFill>
                          <a:effectLst/>
                        </a:rPr>
                        <a:t>정기 구역회에서 예산 확정</a:t>
                      </a:r>
                      <a:endParaRPr lang="ko-KR" sz="1000" b="1" dirty="0">
                        <a:solidFill>
                          <a:srgbClr val="293B4C"/>
                        </a:solidFill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다음 행사 전 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해년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12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월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정기 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당회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 전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361410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293B4C"/>
                          </a:solidFill>
                          <a:effectLst/>
                        </a:rPr>
                        <a:t>재정부 업무지침에 지출 절차 반영</a:t>
                      </a:r>
                      <a:endParaRPr lang="ko-KR" sz="1000" b="1" dirty="0">
                        <a:solidFill>
                          <a:srgbClr val="293B4C"/>
                        </a:solidFill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/>
                        <a:t>재정부</a:t>
                      </a:r>
                      <a:endParaRPr lang="ko-KR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‘26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년 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12</a:t>
                      </a:r>
                      <a:r>
                        <a:rPr lang="ko-KR" altLang="en-US" sz="900" b="1" dirty="0" err="1">
                          <a:solidFill>
                            <a:srgbClr val="293B4C"/>
                          </a:solidFill>
                        </a:rPr>
                        <a:t>월한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361193"/>
                  </a:ext>
                </a:extLst>
              </a:tr>
              <a:tr h="341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 err="1">
                          <a:solidFill>
                            <a:srgbClr val="293B4C"/>
                          </a:solidFill>
                          <a:effectLst/>
                        </a:rPr>
                        <a:t>계획서ㆍ예산서ㆍ지출결의서ㆍ결과보고서</a:t>
                      </a:r>
                      <a:r>
                        <a:rPr lang="ko-KR" altLang="en-US" sz="1000" b="1" dirty="0">
                          <a:solidFill>
                            <a:srgbClr val="293B4C"/>
                          </a:solidFill>
                          <a:effectLst/>
                        </a:rPr>
                        <a:t> 양식 작성</a:t>
                      </a:r>
                      <a:endParaRPr lang="ko-KR" sz="1000" b="1" dirty="0">
                        <a:solidFill>
                          <a:srgbClr val="293B4C"/>
                        </a:solidFill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/>
                        <a:t>문화 </a:t>
                      </a:r>
                      <a:r>
                        <a:rPr lang="ko-KR" altLang="en-US" sz="900" b="1" dirty="0" err="1"/>
                        <a:t>홍보부</a:t>
                      </a:r>
                      <a:endParaRPr lang="ko-KR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‘26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년 </a:t>
                      </a:r>
                      <a:r>
                        <a:rPr lang="en-US" altLang="ko-KR" sz="900" b="1" dirty="0">
                          <a:solidFill>
                            <a:srgbClr val="293B4C"/>
                          </a:solidFill>
                        </a:rPr>
                        <a:t>11</a:t>
                      </a:r>
                      <a:r>
                        <a:rPr lang="ko-KR" altLang="en-US" sz="900" b="1" dirty="0">
                          <a:solidFill>
                            <a:srgbClr val="293B4C"/>
                          </a:solidFill>
                        </a:rPr>
                        <a:t>월 말</a:t>
                      </a:r>
                      <a:endParaRPr lang="ko-KR" sz="900" b="1" dirty="0">
                        <a:solidFill>
                          <a:srgbClr val="293B4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29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66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1096" y="1371629"/>
            <a:ext cx="10972800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6417"/>
                </a:solidFill>
                <a:latin typeface="맑은 고딕"/>
              </a:defRPr>
            </a:pPr>
            <a:r>
              <a:rPr dirty="0" err="1">
                <a:solidFill>
                  <a:srgbClr val="1D3C5C"/>
                </a:solidFill>
                <a:latin typeface="맑은 고딕"/>
              </a:rPr>
              <a:t>수입과</a:t>
            </a:r>
            <a:r>
              <a:rPr dirty="0">
                <a:solidFill>
                  <a:srgbClr val="1D3C5C"/>
                </a:solidFill>
                <a:latin typeface="맑은 고딕"/>
              </a:rPr>
              <a:t> </a:t>
            </a:r>
            <a:r>
              <a:rPr dirty="0" err="1">
                <a:solidFill>
                  <a:srgbClr val="1D3C5C"/>
                </a:solidFill>
                <a:latin typeface="맑은 고딕"/>
              </a:rPr>
              <a:t>지출</a:t>
            </a:r>
            <a:r>
              <a:rPr dirty="0">
                <a:solidFill>
                  <a:srgbClr val="1D3C5C"/>
                </a:solidFill>
                <a:latin typeface="맑은 고딕"/>
              </a:rPr>
              <a:t> </a:t>
            </a:r>
            <a:r>
              <a:rPr dirty="0" err="1">
                <a:solidFill>
                  <a:srgbClr val="1D3C5C"/>
                </a:solidFill>
                <a:latin typeface="맑은 고딕"/>
              </a:rPr>
              <a:t>내역</a:t>
            </a:r>
            <a:r>
              <a:rPr dirty="0">
                <a:solidFill>
                  <a:srgbClr val="1D3C5C"/>
                </a:solidFill>
                <a:latin typeface="맑은 고딕"/>
              </a:rPr>
              <a:t> </a:t>
            </a:r>
            <a:r>
              <a:rPr dirty="0" err="1">
                <a:solidFill>
                  <a:srgbClr val="1D3C5C"/>
                </a:solidFill>
                <a:latin typeface="맑은 고딕"/>
              </a:rPr>
              <a:t>점검하고</a:t>
            </a:r>
            <a:r>
              <a:rPr dirty="0">
                <a:solidFill>
                  <a:srgbClr val="1D3C5C"/>
                </a:solidFill>
                <a:latin typeface="맑은 고딕"/>
              </a:rPr>
              <a:t> </a:t>
            </a:r>
            <a:r>
              <a:rPr dirty="0" err="1">
                <a:solidFill>
                  <a:srgbClr val="1D3C5C"/>
                </a:solidFill>
                <a:latin typeface="맑은 고딕"/>
              </a:rPr>
              <a:t>정산</a:t>
            </a:r>
            <a:r>
              <a:rPr dirty="0">
                <a:solidFill>
                  <a:srgbClr val="1D3C5C"/>
                </a:solidFill>
                <a:latin typeface="맑은 고딕"/>
              </a:rPr>
              <a:t> </a:t>
            </a:r>
            <a:r>
              <a:rPr dirty="0" err="1">
                <a:solidFill>
                  <a:srgbClr val="1D3C5C"/>
                </a:solidFill>
                <a:latin typeface="맑은 고딕"/>
              </a:rPr>
              <a:t>금액</a:t>
            </a:r>
            <a:r>
              <a:rPr lang="en-US" dirty="0">
                <a:solidFill>
                  <a:srgbClr val="1D3C5C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확정 보고 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( 1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인당 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23,470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원 사용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457840" y="6382684"/>
            <a:ext cx="429768" cy="20756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636F"/>
                </a:solidFill>
                <a:latin typeface="맑은 고딕"/>
              </a:defRPr>
            </a:pPr>
            <a:r>
              <a:rPr b="1">
                <a:solidFill>
                  <a:srgbClr val="28759E"/>
                </a:solidFill>
                <a:latin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384" y="1693950"/>
            <a:ext cx="1828800" cy="265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6417"/>
                </a:solidFill>
                <a:latin typeface="맑은 고딕"/>
              </a:defRPr>
            </a:pPr>
            <a:r>
              <a:rPr dirty="0" err="1">
                <a:solidFill>
                  <a:srgbClr val="1D3C5C"/>
                </a:solidFill>
                <a:latin typeface="맑은 고딕"/>
              </a:rPr>
              <a:t>수입</a:t>
            </a:r>
            <a:r>
              <a:rPr lang="en-US">
                <a:solidFill>
                  <a:srgbClr val="1D3C5C"/>
                </a:solidFill>
                <a:latin typeface="맑은 고딕"/>
              </a:rPr>
              <a:t>: 5,703,340</a:t>
            </a:r>
            <a:r>
              <a:rPr lang="ko-KR" altLang="en-US">
                <a:solidFill>
                  <a:srgbClr val="1D3C5C"/>
                </a:solidFill>
                <a:latin typeface="맑은 고딕"/>
              </a:rPr>
              <a:t>원</a:t>
            </a:r>
            <a:endParaRPr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65522"/>
              </p:ext>
            </p:extLst>
          </p:nvPr>
        </p:nvGraphicFramePr>
        <p:xfrm>
          <a:off x="960529" y="2009761"/>
          <a:ext cx="3401362" cy="253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분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금액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원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)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비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고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교회</a:t>
                      </a:r>
                      <a:r>
                        <a:rPr lang="en-US" sz="1100" b="1" baseline="0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lang="ko-KR" altLang="en-US" sz="1100" b="1" baseline="0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재정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3,950,000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기획위원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찬조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8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00,000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b="1" dirty="0">
                          <a:latin typeface="+mj-ea"/>
                          <a:ea typeface="+mj-ea"/>
                        </a:rPr>
                        <a:t>등 상품 등 구매</a:t>
                      </a:r>
                      <a:endParaRPr lang="en-US" altLang="ko-KR" sz="1100" b="1" dirty="0"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9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900" b="1" dirty="0">
                          <a:latin typeface="+mj-ea"/>
                          <a:ea typeface="+mj-ea"/>
                        </a:rPr>
                        <a:t>금 </a:t>
                      </a:r>
                      <a:r>
                        <a:rPr lang="en-US" altLang="ko-KR" sz="900" b="1" dirty="0"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900" b="1" dirty="0">
                          <a:latin typeface="+mj-ea"/>
                          <a:ea typeface="+mj-ea"/>
                        </a:rPr>
                        <a:t>돈 → 다량 품목</a:t>
                      </a:r>
                      <a:r>
                        <a:rPr lang="en-US" altLang="ko-KR" sz="900" b="1" dirty="0">
                          <a:latin typeface="+mj-ea"/>
                          <a:ea typeface="+mj-ea"/>
                        </a:rPr>
                        <a:t>)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총남선교회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endParaRPr lang="en-US" altLang="ko-KR" sz="1100" b="1" dirty="0">
                        <a:solidFill>
                          <a:srgbClr val="263E5C"/>
                        </a:solidFill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찬조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300,000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latin typeface="+mj-ea"/>
                          <a:ea typeface="+mj-ea"/>
                        </a:rPr>
                        <a:t>부족분 보전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92534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총여선교회</a:t>
                      </a:r>
                      <a:endParaRPr lang="en-US" altLang="ko-KR" sz="1100" b="1" dirty="0">
                        <a:solidFill>
                          <a:srgbClr val="263E5C"/>
                        </a:solidFill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찬조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603,340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kern="1200" dirty="0">
                          <a:solidFill>
                            <a:srgbClr val="16385B"/>
                          </a:solidFill>
                          <a:latin typeface="+mj-ea"/>
                          <a:ea typeface="+mn-ea"/>
                          <a:cs typeface="+mn-cs"/>
                        </a:rPr>
                        <a:t>부족분 보전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33715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latin typeface="+mj-ea"/>
                          <a:ea typeface="+mj-ea"/>
                        </a:rPr>
                        <a:t>개인 참조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50,000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kern="1200" dirty="0" err="1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이계일</a:t>
                      </a:r>
                      <a:r>
                        <a:rPr lang="ko-KR" altLang="en-US" sz="11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 집사</a:t>
                      </a:r>
                      <a:endParaRPr lang="ko-KR" altLang="en-US" sz="1100" b="1" kern="1200" dirty="0">
                        <a:solidFill>
                          <a:srgbClr val="16385B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81349"/>
                  </a:ext>
                </a:extLst>
              </a:tr>
              <a:tr h="3620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합</a:t>
                      </a: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계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5,703,340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486606" y="1702150"/>
            <a:ext cx="1828800" cy="265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6417"/>
                </a:solidFill>
                <a:latin typeface="맑은 고딕"/>
              </a:defRPr>
            </a:pPr>
            <a:r>
              <a:rPr dirty="0" err="1">
                <a:solidFill>
                  <a:srgbClr val="1D3C5C"/>
                </a:solidFill>
                <a:latin typeface="맑은 고딕"/>
              </a:rPr>
              <a:t>지출</a:t>
            </a:r>
            <a:r>
              <a:rPr lang="en-US">
                <a:solidFill>
                  <a:srgbClr val="1D3C5C"/>
                </a:solidFill>
                <a:latin typeface="맑은 고딕"/>
              </a:rPr>
              <a:t>: 5,703,340</a:t>
            </a:r>
            <a:r>
              <a:rPr lang="ko-KR" altLang="en-US">
                <a:solidFill>
                  <a:srgbClr val="1D3C5C"/>
                </a:solidFill>
                <a:latin typeface="맑은 고딕"/>
              </a:rPr>
              <a:t>원</a:t>
            </a:r>
            <a:endParaRPr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0936"/>
          </a:xfrm>
          <a:prstGeom prst="rect">
            <a:avLst/>
          </a:prstGeom>
        </p:spPr>
      </p:pic>
      <p:graphicFrame>
        <p:nvGraphicFramePr>
          <p:cNvPr id="17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60861"/>
              </p:ext>
            </p:extLst>
          </p:nvPr>
        </p:nvGraphicFramePr>
        <p:xfrm>
          <a:off x="4486608" y="2013520"/>
          <a:ext cx="3509266" cy="4369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구분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금액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원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)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비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고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식대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2,200,000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10,000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원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*220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명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간식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603,100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개인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간식파우치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행운 경품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1,228,750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911073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기념품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990,600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수건 </a:t>
                      </a:r>
                      <a:r>
                        <a:rPr lang="en-US" altLang="ko-KR" sz="1100" b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240</a:t>
                      </a:r>
                      <a:r>
                        <a:rPr lang="ko-KR" altLang="en-US" sz="1100" b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개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92534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식사 소모품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197,100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도시락 용기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45139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장소 대관료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45,000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영화초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실내체육관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33715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행사 현수막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35,500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81349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감사사례비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92,000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영화초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응원단장 선물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88627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회의비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247,880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준비 및 마무리 회의 식사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87854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기타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63,410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기타 행사 소모품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합계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5,703,340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제목 61">
            <a:extLst>
              <a:ext uri="{FF2B5EF4-FFF2-40B4-BE49-F238E27FC236}">
                <a16:creationId xmlns:a16="http://schemas.microsoft.com/office/drawing/2014/main" id="{51D710C7-4892-EB08-A1FF-8B0A0B3D026B}"/>
              </a:ext>
            </a:extLst>
          </p:cNvPr>
          <p:cNvSpPr txBox="1">
            <a:spLocks/>
          </p:cNvSpPr>
          <p:nvPr/>
        </p:nvSpPr>
        <p:spPr>
          <a:xfrm>
            <a:off x="530352" y="64008"/>
            <a:ext cx="11064240" cy="585216"/>
          </a:xfrm>
          <a:prstGeom prst="rect">
            <a:avLst/>
          </a:prstGeom>
          <a:noFill/>
        </p:spPr>
        <p:txBody>
          <a:bodyPr wrap="non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b="1" dirty="0">
                <a:solidFill>
                  <a:srgbClr val="1D3C5C"/>
                </a:solidFill>
                <a:latin typeface="맑은 고딕"/>
              </a:rPr>
              <a:t>Ⅲ.</a:t>
            </a:r>
            <a:r>
              <a:rPr lang="ko-KR" altLang="en-US" sz="3200" b="1" dirty="0">
                <a:solidFill>
                  <a:srgbClr val="1D3C5C"/>
                </a:solidFill>
                <a:latin typeface="맑은 고딕"/>
              </a:rPr>
              <a:t>예산 집행 및 정산</a:t>
            </a:r>
            <a:endParaRPr lang="ko-KR" altLang="en-US" sz="2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26E6EA-1D05-9358-C283-C9122D69DA26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91D1A1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1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8B98D5BF-03CA-6E48-188E-575A607B2B51}"/>
              </a:ext>
            </a:extLst>
          </p:cNvPr>
          <p:cNvSpPr txBox="1"/>
          <p:nvPr/>
        </p:nvSpPr>
        <p:spPr>
          <a:xfrm>
            <a:off x="838402" y="993120"/>
            <a:ext cx="3098027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수입 전액 집행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1641FF2-671B-4D76-35AF-262860EE9535}"/>
              </a:ext>
            </a:extLst>
          </p:cNvPr>
          <p:cNvSpPr/>
          <p:nvPr/>
        </p:nvSpPr>
        <p:spPr>
          <a:xfrm>
            <a:off x="760021" y="1427378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EF8661D-98E7-41D2-D4EB-CBC44BED0268}"/>
              </a:ext>
            </a:extLst>
          </p:cNvPr>
          <p:cNvSpPr/>
          <p:nvPr/>
        </p:nvSpPr>
        <p:spPr>
          <a:xfrm>
            <a:off x="760021" y="1752064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29439CD-CCCD-3CD8-FBDA-04BFE8CBF479}"/>
              </a:ext>
            </a:extLst>
          </p:cNvPr>
          <p:cNvSpPr/>
          <p:nvPr/>
        </p:nvSpPr>
        <p:spPr>
          <a:xfrm>
            <a:off x="4337673" y="1760264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ACD95-4A54-02A3-E1D9-8D025B52FA69}"/>
              </a:ext>
            </a:extLst>
          </p:cNvPr>
          <p:cNvSpPr txBox="1"/>
          <p:nvPr/>
        </p:nvSpPr>
        <p:spPr>
          <a:xfrm>
            <a:off x="951384" y="5041884"/>
            <a:ext cx="1828800" cy="265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6417"/>
                </a:solidFill>
                <a:latin typeface="맑은 고딕"/>
              </a:defRPr>
            </a:pPr>
            <a:r>
              <a:rPr lang="ko-KR" altLang="en-US">
                <a:solidFill>
                  <a:srgbClr val="1D3C5C"/>
                </a:solidFill>
                <a:latin typeface="맑은 고딕"/>
              </a:rPr>
              <a:t>찬조 물품과 수량</a:t>
            </a:r>
            <a:endParaRPr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5B8A067-7AA3-AF9D-FA33-46452D692DAF}"/>
              </a:ext>
            </a:extLst>
          </p:cNvPr>
          <p:cNvSpPr/>
          <p:nvPr/>
        </p:nvSpPr>
        <p:spPr>
          <a:xfrm>
            <a:off x="760021" y="5099998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07BB32B-8CC6-9D98-9C13-297FB42DC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513193"/>
              </p:ext>
            </p:extLst>
          </p:nvPr>
        </p:nvGraphicFramePr>
        <p:xfrm>
          <a:off x="948908" y="5316659"/>
          <a:ext cx="3412982" cy="74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858">
                  <a:extLst>
                    <a:ext uri="{9D8B030D-6E8A-4147-A177-3AD203B41FA5}">
                      <a16:colId xmlns:a16="http://schemas.microsoft.com/office/drawing/2014/main" val="2175909003"/>
                    </a:ext>
                  </a:extLst>
                </a:gridCol>
                <a:gridCol w="956567">
                  <a:extLst>
                    <a:ext uri="{9D8B030D-6E8A-4147-A177-3AD203B41FA5}">
                      <a16:colId xmlns:a16="http://schemas.microsoft.com/office/drawing/2014/main" val="248324894"/>
                    </a:ext>
                  </a:extLst>
                </a:gridCol>
                <a:gridCol w="1390557">
                  <a:extLst>
                    <a:ext uri="{9D8B030D-6E8A-4147-A177-3AD203B41FA5}">
                      <a16:colId xmlns:a16="http://schemas.microsoft.com/office/drawing/2014/main" val="3834170775"/>
                    </a:ext>
                  </a:extLst>
                </a:gridCol>
              </a:tblGrid>
              <a:tr h="373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분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추정 금액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원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)</a:t>
                      </a:r>
                      <a:endParaRPr sz="11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1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비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+mj-ea"/>
                        </a:rPr>
                        <a:t>고</a:t>
                      </a: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794381"/>
                  </a:ext>
                </a:extLst>
              </a:tr>
              <a:tr h="373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박대웅 장로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 </a:t>
                      </a:r>
                      <a:endParaRPr lang="en-US" altLang="ko-KR" sz="1100" b="1" dirty="0"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등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36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명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1,500,000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화장지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,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광택제</a:t>
                      </a:r>
                      <a:endParaRPr lang="en-US" altLang="ko-KR" sz="1100" b="1" dirty="0"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6385B"/>
                          </a:solidFill>
                          <a:latin typeface="맑은 고딕"/>
                        </a:defRPr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등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61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latin typeface="맑은 고딕"/>
                          <a:ea typeface="+mj-ea"/>
                        </a:rPr>
                        <a:t>점</a:t>
                      </a:r>
                      <a:endParaRPr sz="1100" b="1" dirty="0">
                        <a:latin typeface="+mj-ea"/>
                        <a:ea typeface="+mj-ea"/>
                      </a:endParaRPr>
                    </a:p>
                  </a:txBody>
                  <a:tcPr marL="73152" marR="73152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074672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CEE5AFE2-596E-303A-16C9-B9DCC550B16A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D54ACD28-CE73-3FEA-5613-947802E76056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3BB40EA-CF32-6138-50DB-F984F7DE7983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F2D3FB6-13D5-4050-6B97-CC851C857D1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B09327C-C4DA-A1F5-AEAE-F52CB84FE7FB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352BE79-9946-FCBC-331E-83BEE58B64E8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927C965-6B8C-41DD-6568-3507A135D6F7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A7DCDCF-E2AD-1662-3BA5-A339B2D40637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0753A46-3391-E890-C515-C8F18043C84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B010D02-7B86-83BA-9977-1E6D6D2DF7E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80B2F3A-3481-7644-4BFE-3C5A8CA47238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725F49F-C9FB-A146-5260-DDCF1BE5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989" y="2093042"/>
            <a:ext cx="3893609" cy="2993555"/>
          </a:xfrm>
          <a:prstGeom prst="rect">
            <a:avLst/>
          </a:prstGeom>
          <a:ln w="88900" cap="sq" cmpd="thickThin">
            <a:solidFill>
              <a:srgbClr val="B9CFDA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7" name="Rectangle 36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EBBFA7-98AE-AE5D-B47D-705D30C1F758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B2E597-D6E6-3334-0981-3C7903D1612B}"/>
              </a:ext>
            </a:extLst>
          </p:cNvPr>
          <p:cNvSpPr txBox="1"/>
          <p:nvPr/>
        </p:nvSpPr>
        <p:spPr>
          <a:xfrm>
            <a:off x="873701" y="6061405"/>
            <a:ext cx="2680983" cy="2616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385B"/>
                </a:solidFill>
                <a:latin typeface="맑은 고딕"/>
              </a:defRPr>
            </a:pPr>
            <a:r>
              <a:rPr lang="en-US" altLang="ko-KR" sz="1100" b="1" kern="1200" dirty="0">
                <a:solidFill>
                  <a:srgbClr val="D4661F"/>
                </a:solidFill>
                <a:latin typeface="맑은 고딕"/>
                <a:ea typeface="+mn-ea"/>
                <a:cs typeface="+mn-cs"/>
              </a:rPr>
              <a:t>※ </a:t>
            </a:r>
            <a:r>
              <a:rPr lang="ko-KR" altLang="en-US" sz="1100" b="1" kern="1200" dirty="0">
                <a:solidFill>
                  <a:srgbClr val="D4661F"/>
                </a:solidFill>
                <a:latin typeface="맑은 고딕"/>
                <a:ea typeface="+mn-ea"/>
                <a:cs typeface="+mn-cs"/>
              </a:rPr>
              <a:t>현물은 수입 금액에 포함하지 않음</a:t>
            </a:r>
            <a:endParaRPr lang="en-US" altLang="ko-KR" sz="11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5B1C8-D569-301A-62AE-09985524B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90CBAF92-AB7D-A696-6E28-3402AF1ADCFF}"/>
              </a:ext>
            </a:extLst>
          </p:cNvPr>
          <p:cNvSpPr txBox="1"/>
          <p:nvPr/>
        </p:nvSpPr>
        <p:spPr>
          <a:xfrm>
            <a:off x="838403" y="993120"/>
            <a:ext cx="2220532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설문 수집 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/ 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분석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69B2708-B4C6-3E06-2ABA-DFC0442C567C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91D1A1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1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FE722656-5D4A-EA5F-A1F5-C9E117C0F09A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Ⅳ.</a:t>
            </a:r>
            <a:r>
              <a:rPr lang="ko-KR" altLang="en-US" sz="3200" dirty="0">
                <a:solidFill/>
              </a:rPr>
              <a:t>설문 분석결과</a:t>
            </a:r>
            <a:r>
              <a:rPr lang="en-US" altLang="ko-KR" sz="2400" dirty="0">
                <a:solidFill/>
              </a:rPr>
              <a:t>(1/4)</a:t>
            </a:r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2C24DE-29D4-D903-233C-00C833FD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41459"/>
              </p:ext>
            </p:extLst>
          </p:nvPr>
        </p:nvGraphicFramePr>
        <p:xfrm>
          <a:off x="915965" y="1749263"/>
          <a:ext cx="11000865" cy="54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173">
                  <a:extLst>
                    <a:ext uri="{9D8B030D-6E8A-4147-A177-3AD203B41FA5}">
                      <a16:colId xmlns:a16="http://schemas.microsoft.com/office/drawing/2014/main" val="1015186494"/>
                    </a:ext>
                  </a:extLst>
                </a:gridCol>
                <a:gridCol w="1878208">
                  <a:extLst>
                    <a:ext uri="{9D8B030D-6E8A-4147-A177-3AD203B41FA5}">
                      <a16:colId xmlns:a16="http://schemas.microsoft.com/office/drawing/2014/main" val="2090315965"/>
                    </a:ext>
                  </a:extLst>
                </a:gridCol>
                <a:gridCol w="2522138">
                  <a:extLst>
                    <a:ext uri="{9D8B030D-6E8A-4147-A177-3AD203B41FA5}">
                      <a16:colId xmlns:a16="http://schemas.microsoft.com/office/drawing/2014/main" val="3990032319"/>
                    </a:ext>
                  </a:extLst>
                </a:gridCol>
                <a:gridCol w="2200173">
                  <a:extLst>
                    <a:ext uri="{9D8B030D-6E8A-4147-A177-3AD203B41FA5}">
                      <a16:colId xmlns:a16="http://schemas.microsoft.com/office/drawing/2014/main" val="3919534843"/>
                    </a:ext>
                  </a:extLst>
                </a:gridCol>
                <a:gridCol w="2200173">
                  <a:extLst>
                    <a:ext uri="{9D8B030D-6E8A-4147-A177-3AD203B41FA5}">
                      <a16:colId xmlns:a16="http://schemas.microsoft.com/office/drawing/2014/main" val="2456391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구 분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참가자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D4661F"/>
                          </a:solidFill>
                        </a:rPr>
                        <a:t>설문조사 대상자</a:t>
                      </a:r>
                      <a:r>
                        <a:rPr lang="en-US" altLang="ko-KR" sz="1200" b="1" dirty="0">
                          <a:solidFill>
                            <a:srgbClr val="D4661F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D4661F"/>
                          </a:solidFill>
                        </a:rPr>
                        <a:t>미성년 제외</a:t>
                      </a:r>
                      <a:r>
                        <a:rPr lang="en-US" altLang="ko-KR" sz="1200" b="1" dirty="0">
                          <a:solidFill>
                            <a:srgbClr val="D4661F"/>
                          </a:solidFill>
                        </a:rPr>
                        <a:t>)</a:t>
                      </a:r>
                      <a:endParaRPr lang="ko-KR" sz="1200" b="1" dirty="0">
                        <a:solidFill>
                          <a:srgbClr val="D4661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D4661F"/>
                          </a:solidFill>
                        </a:rPr>
                        <a:t>설문 작성자</a:t>
                      </a:r>
                      <a:endParaRPr lang="ko-KR" sz="1200" b="1" dirty="0">
                        <a:solidFill>
                          <a:srgbClr val="D4661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응답률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(%)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0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단위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명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243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명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rgbClr val="D4661F"/>
                          </a:solidFill>
                        </a:rPr>
                        <a:t>190</a:t>
                      </a:r>
                      <a:r>
                        <a:rPr lang="ko-KR" altLang="en-US" sz="1200" b="1" dirty="0">
                          <a:solidFill>
                            <a:srgbClr val="D4661F"/>
                          </a:solidFill>
                        </a:rPr>
                        <a:t>명</a:t>
                      </a:r>
                      <a:endParaRPr lang="ko-KR" sz="1200" b="1" dirty="0">
                        <a:solidFill>
                          <a:srgbClr val="D4661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rgbClr val="D4661F"/>
                          </a:solidFill>
                        </a:rPr>
                        <a:t>46</a:t>
                      </a:r>
                      <a:r>
                        <a:rPr lang="ko-KR" altLang="en-US" sz="1200" b="1" dirty="0">
                          <a:solidFill>
                            <a:srgbClr val="D4661F"/>
                          </a:solidFill>
                        </a:rPr>
                        <a:t>명</a:t>
                      </a:r>
                      <a:endParaRPr lang="ko-KR" sz="1200" b="1" dirty="0">
                        <a:solidFill>
                          <a:srgbClr val="D4661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24.21%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853606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32F64A43-91CB-D31C-B109-4F936CBF9558}"/>
              </a:ext>
            </a:extLst>
          </p:cNvPr>
          <p:cNvSpPr/>
          <p:nvPr/>
        </p:nvSpPr>
        <p:spPr>
          <a:xfrm>
            <a:off x="760021" y="149298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C2DC338-DEC0-59FB-9188-F72FB13161E0}"/>
              </a:ext>
            </a:extLst>
          </p:cNvPr>
          <p:cNvSpPr txBox="1"/>
          <p:nvPr/>
        </p:nvSpPr>
        <p:spPr>
          <a:xfrm>
            <a:off x="978921" y="1429563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체육대회 설문 응답률 분석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69498DE-D41D-212D-5BCC-08AEE601C60E}"/>
              </a:ext>
            </a:extLst>
          </p:cNvPr>
          <p:cNvSpPr/>
          <p:nvPr/>
        </p:nvSpPr>
        <p:spPr>
          <a:xfrm>
            <a:off x="760021" y="243199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B5811A2-5591-34C8-304E-71E36C6D43B8}"/>
              </a:ext>
            </a:extLst>
          </p:cNvPr>
          <p:cNvSpPr txBox="1"/>
          <p:nvPr/>
        </p:nvSpPr>
        <p:spPr>
          <a:xfrm>
            <a:off x="978921" y="2368572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설문결과 한눈에 보기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F78AD12-5B71-801E-0AF0-D142BFA1B5A2}"/>
              </a:ext>
            </a:extLst>
          </p:cNvPr>
          <p:cNvSpPr/>
          <p:nvPr/>
        </p:nvSpPr>
        <p:spPr>
          <a:xfrm>
            <a:off x="6250040" y="243199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F49B273-892D-FFDF-AB7F-7DC57DC1CAA4}"/>
              </a:ext>
            </a:extLst>
          </p:cNvPr>
          <p:cNvSpPr txBox="1"/>
          <p:nvPr/>
        </p:nvSpPr>
        <p:spPr>
          <a:xfrm>
            <a:off x="6468940" y="2368572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분야별 만족 비율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그렇다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%)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8916F35-6390-15F0-0989-6247AE09FC27}"/>
              </a:ext>
            </a:extLst>
          </p:cNvPr>
          <p:cNvSpPr txBox="1"/>
          <p:nvPr/>
        </p:nvSpPr>
        <p:spPr>
          <a:xfrm>
            <a:off x="913124" y="4917296"/>
            <a:ext cx="648916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8704D"/>
                </a:solidFill>
                <a:ea typeface="+mj-ea"/>
              </a:rPr>
              <a:t>※ </a:t>
            </a:r>
            <a:r>
              <a:rPr lang="ko-KR" altLang="en-US" sz="1200" b="1" dirty="0" err="1">
                <a:solidFill>
                  <a:srgbClr val="E8704D"/>
                </a:solidFill>
                <a:ea typeface="+mj-ea"/>
              </a:rPr>
              <a:t>시설ㆍ시간ㆍ종목</a:t>
            </a:r>
            <a:r>
              <a:rPr lang="ko-KR" altLang="en-US" sz="1200" b="1" dirty="0" err="1">
                <a:solidFill>
                  <a:srgbClr val="E8704D"/>
                </a:solidFill>
              </a:rPr>
              <a:t>ㆍ경품은</a:t>
            </a:r>
            <a:r>
              <a:rPr lang="ko-KR" altLang="en-US" sz="1200" b="1" dirty="0">
                <a:solidFill>
                  <a:srgbClr val="E8704D"/>
                </a:solidFill>
              </a:rPr>
              <a:t> </a:t>
            </a:r>
            <a:r>
              <a:rPr lang="en-US" altLang="ko-KR" sz="1200" b="1" dirty="0">
                <a:solidFill>
                  <a:srgbClr val="E8704D"/>
                </a:solidFill>
              </a:rPr>
              <a:t>88 ~ 91%</a:t>
            </a:r>
            <a:r>
              <a:rPr lang="ko-KR" altLang="en-US" sz="1200" b="1" dirty="0">
                <a:solidFill>
                  <a:srgbClr val="E8704D"/>
                </a:solidFill>
              </a:rPr>
              <a:t>로 우수</a:t>
            </a:r>
            <a:r>
              <a:rPr lang="en-US" altLang="ko-KR" sz="1200" b="1" dirty="0">
                <a:solidFill>
                  <a:srgbClr val="E8704D"/>
                </a:solidFill>
              </a:rPr>
              <a:t>, </a:t>
            </a:r>
            <a:r>
              <a:rPr lang="ko-KR" altLang="en-US" sz="1200" b="1" dirty="0">
                <a:solidFill>
                  <a:srgbClr val="E8704D"/>
                </a:solidFill>
              </a:rPr>
              <a:t>식사는 </a:t>
            </a:r>
            <a:r>
              <a:rPr lang="en-US" altLang="ko-KR" sz="1200" b="1" dirty="0">
                <a:solidFill>
                  <a:srgbClr val="E8704D"/>
                </a:solidFill>
              </a:rPr>
              <a:t>65%</a:t>
            </a:r>
            <a:r>
              <a:rPr lang="ko-KR" altLang="en-US" sz="1200" b="1" dirty="0">
                <a:solidFill>
                  <a:srgbClr val="E8704D"/>
                </a:solidFill>
              </a:rPr>
              <a:t>로 가장 낮음</a:t>
            </a:r>
            <a:endParaRPr lang="en-US" altLang="ko-KR" sz="1200" b="1" dirty="0">
              <a:solidFill>
                <a:srgbClr val="D4661F"/>
              </a:solidFill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D4661F"/>
              </a:solidFill>
              <a:ea typeface="+mj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7FC2955-F8F2-CD0D-72F5-E27D9F61CAC6}"/>
              </a:ext>
            </a:extLst>
          </p:cNvPr>
          <p:cNvSpPr/>
          <p:nvPr/>
        </p:nvSpPr>
        <p:spPr>
          <a:xfrm>
            <a:off x="760021" y="5429149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213EFE5-3032-E247-541F-F4C085517268}"/>
              </a:ext>
            </a:extLst>
          </p:cNvPr>
          <p:cNvSpPr txBox="1"/>
          <p:nvPr/>
        </p:nvSpPr>
        <p:spPr>
          <a:xfrm>
            <a:off x="978921" y="5365729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좋았던 점과 아쉬웠던 점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A11458D-470F-4D86-7AC5-924D7FFF1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341686"/>
              </p:ext>
            </p:extLst>
          </p:nvPr>
        </p:nvGraphicFramePr>
        <p:xfrm>
          <a:off x="915966" y="5646273"/>
          <a:ext cx="10967133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0644">
                  <a:extLst>
                    <a:ext uri="{9D8B030D-6E8A-4147-A177-3AD203B41FA5}">
                      <a16:colId xmlns:a16="http://schemas.microsoft.com/office/drawing/2014/main" val="1015186494"/>
                    </a:ext>
                  </a:extLst>
                </a:gridCol>
                <a:gridCol w="6306489">
                  <a:extLst>
                    <a:ext uri="{9D8B030D-6E8A-4147-A177-3AD203B41FA5}">
                      <a16:colId xmlns:a16="http://schemas.microsoft.com/office/drawing/2014/main" val="3919534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좋았던 점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아쉬웠던 점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0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① 장소까지 이동이 편했다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98% 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② </a:t>
                      </a:r>
                      <a:r>
                        <a:rPr lang="ko-KR" altLang="en-US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추첨</a:t>
                      </a:r>
                      <a:r>
                        <a:rPr lang="en-US" altLang="ko-KR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시상이 공정했다 </a:t>
                      </a:r>
                      <a:r>
                        <a:rPr lang="en-US" altLang="ko-KR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98%</a:t>
                      </a:r>
                      <a:endParaRPr lang="en-US" altLang="ko-K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4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③ 개최 날짜가 적절했다 </a:t>
                      </a:r>
                      <a:r>
                        <a:rPr lang="en-US" altLang="ko-KR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96%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① </a:t>
                      </a:r>
                      <a:r>
                        <a:rPr lang="ko-KR" altLang="en-US" sz="1200" b="1" dirty="0" err="1">
                          <a:solidFill>
                            <a:srgbClr val="293B4C"/>
                          </a:solidFill>
                        </a:rPr>
                        <a:t>배식ㆍ식사장소가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 편했다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57%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불만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17%) 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② 식사 양이 충분했다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70% (</a:t>
                      </a:r>
                      <a:r>
                        <a:rPr lang="ko-KR" altLang="en-US" sz="1200" b="1" dirty="0">
                          <a:solidFill>
                            <a:srgbClr val="293B4C"/>
                          </a:solidFill>
                        </a:rPr>
                        <a:t>불만 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13%)</a:t>
                      </a:r>
                    </a:p>
                    <a:p>
                      <a:pPr algn="l"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③ 모르던 성도와 가까워졌다 </a:t>
                      </a:r>
                      <a:r>
                        <a:rPr lang="en-US" altLang="ko-KR" sz="1200" b="1" kern="1200" dirty="0">
                          <a:solidFill>
                            <a:srgbClr val="293B4C"/>
                          </a:solidFill>
                          <a:latin typeface="맑은 고딕"/>
                          <a:ea typeface="+mn-ea"/>
                          <a:cs typeface="+mn-cs"/>
                        </a:rPr>
                        <a:t>54%</a:t>
                      </a:r>
                      <a:r>
                        <a:rPr lang="en-US" altLang="ko-KR" sz="1200" b="1" dirty="0">
                          <a:solidFill>
                            <a:srgbClr val="293B4C"/>
                          </a:solidFill>
                        </a:rPr>
                        <a:t> </a:t>
                      </a:r>
                      <a:endParaRPr 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853606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7610744B-1022-0182-ED70-F8BB20C878ED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5885A1B-A95C-2C01-ECEB-94F7B0A79A64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9DBD6B5-7B96-AAD8-251A-AF597D65EE0E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68CD21F-C119-93D2-A4CE-C3C4EAD147D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78107CD-55F3-D1CF-8E81-04AA14F1A902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45AFA4C-E1D9-A8AC-1BF3-CA1D477CA81A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18556AE-360E-CC40-313D-E32A5436AA2D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AEBA565-68AE-C9D0-95C6-94D8B5409302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C3EDA84-101A-A6D6-7970-EDF1506A846B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41710A4-7E79-4272-FAAC-802C61B6AC00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5FE634F-8C5B-F430-B6E6-B240B2815DDD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4326F325-B305-9CF9-5988-1F9626C4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63" y="2665673"/>
            <a:ext cx="5378647" cy="2239146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CA745D7-8D0A-A01F-D745-23D56195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280" y="2649116"/>
            <a:ext cx="5420374" cy="2255704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7CFB3E6-C6E0-8C01-0ED5-8F615019AD43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8" name="통계주석"/>
          <p:cNvSpPr txBox="1"/>
          <p:nvPr/>
        </p:nvSpPr>
        <p:spPr>
          <a:xfrm>
            <a:off x="6949440" y="1426464"/>
            <a:ext cx="49377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50" b="1">
                <a:solidFill>
                  <a:srgbClr val="E46C0A"/>
                </a:solidFill>
                <a:latin typeface="맑은 고딕"/>
                <a:ea typeface="맑은 고딕"/>
              </a:rPr>
              <a:t>응답률 = 설문 작성자 ÷ 조사 대상자 (46 ÷ 190 = 24.2%)</a:t>
            </a:r>
          </a:p>
        </p:txBody>
      </p:sp>
      <p:cxnSp>
        <p:nvCxnSpPr>
          <p:cNvPr id="119" name="통계주석 화살표"/>
          <p:cNvCxnSpPr/>
          <p:nvPr/>
        </p:nvCxnSpPr>
        <p:spPr>
          <a:xfrm>
            <a:off x="10661904" y="1655064"/>
            <a:ext cx="0" cy="14630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901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D0F3F-C097-511D-CAB4-DD37C4B1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9589B1DA-CE85-87FA-C94A-16B3B4504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985" y="3681352"/>
            <a:ext cx="5464425" cy="2985568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4" name="Text 3">
            <a:extLst>
              <a:ext uri="{FF2B5EF4-FFF2-40B4-BE49-F238E27FC236}">
                <a16:creationId xmlns:a16="http://schemas.microsoft.com/office/drawing/2014/main" id="{CD0839B9-970E-0B16-1F38-4F6B81B71711}"/>
              </a:ext>
            </a:extLst>
          </p:cNvPr>
          <p:cNvSpPr txBox="1"/>
          <p:nvPr/>
        </p:nvSpPr>
        <p:spPr>
          <a:xfrm>
            <a:off x="838402" y="993120"/>
            <a:ext cx="4041132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처음 참가한 성도는 어떻게 느꼈나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073132F-1178-D30C-AA09-87DE273730D7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91D1A1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2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F0DEF16E-604E-0846-AF61-571901ABC47E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Ⅳ.</a:t>
            </a:r>
            <a:r>
              <a:rPr lang="ko-KR" altLang="en-US" sz="3200" dirty="0">
                <a:solidFill/>
              </a:rPr>
              <a:t>설문 분석결과</a:t>
            </a:r>
            <a:r>
              <a:rPr lang="en-US" altLang="ko-KR" sz="2400" dirty="0">
                <a:solidFill/>
              </a:rPr>
              <a:t>(2/4)</a:t>
            </a:r>
            <a:endParaRPr lang="ko-KR" altLang="en-US" sz="240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FB58B20-5AC2-D05A-A00F-A16B2DEA763F}"/>
              </a:ext>
            </a:extLst>
          </p:cNvPr>
          <p:cNvSpPr/>
          <p:nvPr/>
        </p:nvSpPr>
        <p:spPr>
          <a:xfrm>
            <a:off x="760021" y="1463000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B4D0A9B-D944-9375-814C-DB59A933D1BE}"/>
              </a:ext>
            </a:extLst>
          </p:cNvPr>
          <p:cNvSpPr txBox="1"/>
          <p:nvPr/>
        </p:nvSpPr>
        <p:spPr>
          <a:xfrm>
            <a:off x="978921" y="1399580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이전 교회 체육대회에 한 번도 참가한 적이 없는 성도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10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명과 참가 경험이 있는 성도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35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명 비교 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7C856B-487C-B339-4DF9-9A9E6D7D506F}"/>
              </a:ext>
            </a:extLst>
          </p:cNvPr>
          <p:cNvSpPr/>
          <p:nvPr/>
        </p:nvSpPr>
        <p:spPr>
          <a:xfrm>
            <a:off x="898563" y="1703271"/>
            <a:ext cx="10928849" cy="555504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>
              <a:solidFill>
                <a:srgbClr val="E6F1FB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sz="1400" b="1" dirty="0" err="1">
                <a:solidFill>
                  <a:srgbClr val="293B4C"/>
                </a:solidFill>
              </a:rPr>
              <a:t>ㆍ</a:t>
            </a:r>
            <a:r>
              <a:rPr lang="ko-KR" altLang="ko-KR" sz="1200" b="1" dirty="0" err="1">
                <a:solidFill>
                  <a:srgbClr val="293B4C"/>
                </a:solidFill>
              </a:rPr>
              <a:t>첫</a:t>
            </a:r>
            <a:r>
              <a:rPr lang="ko-KR" altLang="ko-KR" sz="1200" b="1" dirty="0">
                <a:solidFill>
                  <a:srgbClr val="293B4C"/>
                </a:solidFill>
              </a:rPr>
              <a:t> 참가자 10명 중 9명은 신앙 5년 이상(20년 이상 5명)이고, 5년 미만은 1명뿐임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9F845BF-0ABF-0CE3-891D-7A8241174371}"/>
              </a:ext>
            </a:extLst>
          </p:cNvPr>
          <p:cNvSpPr/>
          <p:nvPr/>
        </p:nvSpPr>
        <p:spPr>
          <a:xfrm>
            <a:off x="1041522" y="1692655"/>
            <a:ext cx="4366981" cy="26521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/>
              </a:rPr>
              <a:t>먼저 </a:t>
            </a:r>
            <a:r>
              <a:rPr lang="ko-KR" altLang="en-US" sz="1200" b="1" dirty="0" err="1">
                <a:solidFill/>
              </a:rPr>
              <a:t>알아둘</a:t>
            </a:r>
            <a:r>
              <a:rPr lang="ko-KR" altLang="en-US" sz="1200" b="1" dirty="0">
                <a:solidFill/>
              </a:rPr>
              <a:t> 점 </a:t>
            </a:r>
            <a:r>
              <a:rPr lang="en-US" altLang="ko-KR" sz="1200" b="1" dirty="0">
                <a:solidFill/>
              </a:rPr>
              <a:t>– "</a:t>
            </a:r>
            <a:r>
              <a:rPr lang="ko-KR" altLang="en-US" sz="1200" b="1" dirty="0">
                <a:solidFill/>
              </a:rPr>
              <a:t>첫 참가자</a:t>
            </a:r>
            <a:r>
              <a:rPr lang="en-US" altLang="ko-KR" sz="1200" b="1" dirty="0">
                <a:solidFill/>
              </a:rPr>
              <a:t>"</a:t>
            </a:r>
            <a:r>
              <a:rPr lang="ko-KR" altLang="en-US" sz="1200" b="1" dirty="0">
                <a:solidFill/>
              </a:rPr>
              <a:t>는 대부분 새신자가 아닙니다</a:t>
            </a:r>
            <a:r>
              <a:rPr lang="en-US" altLang="ko-KR" sz="1200" dirty="0">
                <a:solidFill/>
              </a:rPr>
              <a:t>.</a:t>
            </a:r>
            <a:endParaRPr lang="ko-KR" altLang="en-US" sz="12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9FBCE6D-236F-1A89-2D22-85BD85615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63081"/>
              </p:ext>
            </p:extLst>
          </p:nvPr>
        </p:nvGraphicFramePr>
        <p:xfrm>
          <a:off x="898562" y="2287594"/>
          <a:ext cx="10928849" cy="1264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236">
                  <a:extLst>
                    <a:ext uri="{9D8B030D-6E8A-4147-A177-3AD203B41FA5}">
                      <a16:colId xmlns:a16="http://schemas.microsoft.com/office/drawing/2014/main" val="2396314138"/>
                    </a:ext>
                  </a:extLst>
                </a:gridCol>
                <a:gridCol w="4194759">
                  <a:extLst>
                    <a:ext uri="{9D8B030D-6E8A-4147-A177-3AD203B41FA5}">
                      <a16:colId xmlns:a16="http://schemas.microsoft.com/office/drawing/2014/main" val="2860294527"/>
                    </a:ext>
                  </a:extLst>
                </a:gridCol>
                <a:gridCol w="4905854">
                  <a:extLst>
                    <a:ext uri="{9D8B030D-6E8A-4147-A177-3AD203B41FA5}">
                      <a16:colId xmlns:a16="http://schemas.microsoft.com/office/drawing/2014/main" val="2385732109"/>
                    </a:ext>
                  </a:extLst>
                </a:gridCol>
              </a:tblGrid>
              <a:tr h="186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effectLst/>
                        </a:rPr>
                        <a:t>구 분</a:t>
                      </a:r>
                      <a:endParaRPr lang="ko-KR" sz="11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첫 참가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(10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명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이전 참가 경험자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(35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명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19441"/>
                  </a:ext>
                </a:extLst>
              </a:tr>
              <a:tr h="181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성별</a:t>
                      </a:r>
                      <a:endParaRPr lang="ko-KR" sz="11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여성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8, 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남성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</a:t>
                      </a:r>
                      <a:endParaRPr 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여성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24, 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남성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11</a:t>
                      </a:r>
                      <a:endParaRPr 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907108"/>
                  </a:ext>
                </a:extLst>
              </a:tr>
              <a:tr h="181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연령</a:t>
                      </a:r>
                      <a:endParaRPr lang="ko-KR" sz="11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50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4, 60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이상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3, 30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2, 20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</a:t>
                      </a:r>
                      <a:endParaRPr 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60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이상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16,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50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11, 20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4, 40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2, 30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대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</a:t>
                      </a:r>
                      <a:endParaRPr 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8009"/>
                  </a:ext>
                </a:extLst>
              </a:tr>
              <a:tr h="181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신앙 연수</a:t>
                      </a:r>
                      <a:endParaRPr lang="ko-KR" sz="11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이상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5, 10~20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3, 5~10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1, 5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</a:t>
                      </a:r>
                      <a:endParaRPr lang="ko-KR" sz="1050" b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이상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26, 10~20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4, 5~10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3, 5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년 미만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</a:t>
                      </a:r>
                      <a:endParaRPr lang="ko-KR" altLang="ko-KR" sz="1050" b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4322"/>
                  </a:ext>
                </a:extLst>
              </a:tr>
              <a:tr h="181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  <a:effectLst/>
                        </a:rPr>
                        <a:t>이번  체육대회 참가 형태</a:t>
                      </a:r>
                      <a:endParaRPr lang="ko-KR" sz="1100" b="1" dirty="0">
                        <a:effectLst/>
                      </a:endParaRPr>
                    </a:p>
                  </a:txBody>
                  <a:tcPr marL="32965" marR="32965" marT="16482" marB="164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응원ㆍ관람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8, 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경기참여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7, </a:t>
                      </a: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봉사ㆍ진행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3</a:t>
                      </a:r>
                      <a:endParaRPr 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응원ㆍ관람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25, 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경기참여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26, </a:t>
                      </a:r>
                      <a:r>
                        <a:rPr lang="ko-KR" altLang="en-US" sz="1050" b="1" dirty="0" err="1">
                          <a:solidFill>
                            <a:srgbClr val="293B4C"/>
                          </a:solidFill>
                        </a:rPr>
                        <a:t>봉사ㆍ진행</a:t>
                      </a:r>
                      <a:r>
                        <a:rPr lang="ko-KR" altLang="en-US" sz="1050" b="1" dirty="0">
                          <a:solidFill>
                            <a:srgbClr val="293B4C"/>
                          </a:solidFill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293B4C"/>
                          </a:solidFill>
                        </a:rPr>
                        <a:t>10</a:t>
                      </a:r>
                      <a:endParaRPr lang="ko-KR" altLang="ko-KR" sz="105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09898"/>
                  </a:ext>
                </a:extLst>
              </a:tr>
            </a:tbl>
          </a:graphicData>
        </a:graphic>
      </p:graphicFrame>
      <p:sp>
        <p:nvSpPr>
          <p:cNvPr id="12" name="타원 11">
            <a:extLst>
              <a:ext uri="{FF2B5EF4-FFF2-40B4-BE49-F238E27FC236}">
                <a16:creationId xmlns:a16="http://schemas.microsoft.com/office/drawing/2014/main" id="{3C0DBB24-0553-4C33-0C96-3A6168EEF89A}"/>
              </a:ext>
            </a:extLst>
          </p:cNvPr>
          <p:cNvSpPr/>
          <p:nvPr/>
        </p:nvSpPr>
        <p:spPr>
          <a:xfrm>
            <a:off x="760021" y="4113176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77A0999-7165-7D46-9E7A-84A286B516CF}"/>
              </a:ext>
            </a:extLst>
          </p:cNvPr>
          <p:cNvSpPr txBox="1"/>
          <p:nvPr/>
        </p:nvSpPr>
        <p:spPr>
          <a:xfrm>
            <a:off x="978921" y="4066160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처음 온 성도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vs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와 본 적  있는 성도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무엇이 달랐을까요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?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19847E-F2A7-FAC2-AA6B-6088B9CEFDB1}"/>
              </a:ext>
            </a:extLst>
          </p:cNvPr>
          <p:cNvSpPr/>
          <p:nvPr/>
        </p:nvSpPr>
        <p:spPr>
          <a:xfrm>
            <a:off x="7007666" y="4144488"/>
            <a:ext cx="557658" cy="93378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4B2CD4-2889-BBB2-5235-E150556B3466}"/>
              </a:ext>
            </a:extLst>
          </p:cNvPr>
          <p:cNvSpPr/>
          <p:nvPr/>
        </p:nvSpPr>
        <p:spPr>
          <a:xfrm>
            <a:off x="898563" y="4464756"/>
            <a:ext cx="5317717" cy="1986742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rgbClr val="293B4C"/>
                </a:solidFill>
              </a:rPr>
              <a:t> 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</a:rPr>
              <a:t>ㆍ각</a:t>
            </a:r>
            <a:r>
              <a:rPr lang="ko-KR" altLang="en-US" sz="1200" b="1" dirty="0">
                <a:solidFill>
                  <a:srgbClr val="293B4C"/>
                </a:solidFill>
              </a:rPr>
              <a:t> 줄의 주황 점은 처음 온 성도 </a:t>
            </a:r>
            <a:r>
              <a:rPr lang="en-US" altLang="ko-KR" sz="1200" b="1" dirty="0">
                <a:solidFill>
                  <a:srgbClr val="293B4C"/>
                </a:solidFill>
              </a:rPr>
              <a:t>10</a:t>
            </a:r>
            <a:r>
              <a:rPr lang="ko-KR" altLang="en-US" sz="1200" b="1" dirty="0">
                <a:solidFill>
                  <a:srgbClr val="293B4C"/>
                </a:solidFill>
              </a:rPr>
              <a:t>명</a:t>
            </a:r>
            <a:r>
              <a:rPr lang="en-US" altLang="ko-KR" sz="1200" b="1" dirty="0">
                <a:solidFill>
                  <a:srgbClr val="293B4C"/>
                </a:solidFill>
              </a:rPr>
              <a:t>, </a:t>
            </a:r>
            <a:r>
              <a:rPr lang="ko-KR" altLang="en-US" sz="1200" b="1" dirty="0">
                <a:solidFill>
                  <a:srgbClr val="293B4C"/>
                </a:solidFill>
              </a:rPr>
              <a:t>남색 점은 전에 와 본 적 있는 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</a:rPr>
              <a:t>   </a:t>
            </a:r>
            <a:r>
              <a:rPr lang="ko-KR" altLang="en-US" sz="1200" b="1" dirty="0">
                <a:solidFill>
                  <a:srgbClr val="293B4C"/>
                </a:solidFill>
              </a:rPr>
              <a:t>성도 </a:t>
            </a:r>
            <a:r>
              <a:rPr lang="en-US" altLang="ko-KR" sz="1200" b="1" dirty="0">
                <a:solidFill>
                  <a:srgbClr val="293B4C"/>
                </a:solidFill>
              </a:rPr>
              <a:t>35</a:t>
            </a:r>
            <a:r>
              <a:rPr lang="ko-KR" altLang="en-US" sz="1200" b="1" dirty="0">
                <a:solidFill>
                  <a:srgbClr val="293B4C"/>
                </a:solidFill>
              </a:rPr>
              <a:t>명의 평균 점수로</a:t>
            </a:r>
            <a:r>
              <a:rPr lang="en-US" altLang="ko-KR" sz="1200" b="1" dirty="0">
                <a:solidFill>
                  <a:srgbClr val="293B4C"/>
                </a:solidFill>
              </a:rPr>
              <a:t>(100</a:t>
            </a:r>
            <a:r>
              <a:rPr lang="ko-KR" altLang="en-US" sz="1200" b="1" dirty="0">
                <a:solidFill>
                  <a:srgbClr val="293B4C"/>
                </a:solidFill>
              </a:rPr>
              <a:t>점 만점</a:t>
            </a:r>
            <a:r>
              <a:rPr lang="en-US" altLang="ko-KR" sz="1200" b="1" dirty="0">
                <a:solidFill>
                  <a:srgbClr val="293B4C"/>
                </a:solidFill>
              </a:rPr>
              <a:t>) </a:t>
            </a:r>
            <a:r>
              <a:rPr lang="ko-KR" altLang="en-US" sz="1200" b="1" dirty="0">
                <a:solidFill>
                  <a:srgbClr val="293B4C"/>
                </a:solidFill>
              </a:rPr>
              <a:t>두 점 사이가 멀수록 두 그룹의  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</a:rPr>
              <a:t>   </a:t>
            </a:r>
            <a:r>
              <a:rPr lang="ko-KR" altLang="en-US" sz="1200" b="1" dirty="0">
                <a:solidFill>
                  <a:srgbClr val="293B4C"/>
                </a:solidFill>
              </a:rPr>
              <a:t>생각이 달랐다는 뜻이고</a:t>
            </a:r>
            <a:r>
              <a:rPr lang="en-US" altLang="ko-KR" sz="1200" b="1" dirty="0">
                <a:solidFill>
                  <a:srgbClr val="293B4C"/>
                </a:solidFill>
              </a:rPr>
              <a:t>, </a:t>
            </a:r>
            <a:r>
              <a:rPr lang="ko-KR" altLang="en-US" sz="1200" b="1" dirty="0">
                <a:solidFill>
                  <a:srgbClr val="293B4C"/>
                </a:solidFill>
              </a:rPr>
              <a:t>점이 겹쳐 있으면</a:t>
            </a:r>
            <a:r>
              <a:rPr lang="en-US" altLang="ko-KR" sz="1200" b="1" dirty="0">
                <a:solidFill>
                  <a:srgbClr val="293B4C"/>
                </a:solidFill>
              </a:rPr>
              <a:t> </a:t>
            </a:r>
            <a:r>
              <a:rPr lang="ko-KR" altLang="en-US" sz="1200" b="1" dirty="0">
                <a:solidFill>
                  <a:srgbClr val="293B4C"/>
                </a:solidFill>
              </a:rPr>
              <a:t>생각이 같았다는 뜻임</a:t>
            </a:r>
            <a:r>
              <a:rPr lang="en-US" altLang="ko-KR" sz="1200" b="1" dirty="0">
                <a:solidFill>
                  <a:srgbClr val="293B4C"/>
                </a:solidFill>
              </a:rPr>
              <a:t>. </a:t>
            </a:r>
            <a:r>
              <a:rPr lang="ko-KR" altLang="en-US" sz="1200" b="1" dirty="0" err="1">
                <a:solidFill>
                  <a:srgbClr val="293B4C"/>
                </a:solidFill>
              </a:rPr>
              <a:t>ㆍ오른쪽</a:t>
            </a:r>
            <a:r>
              <a:rPr lang="ko-KR" altLang="en-US" sz="1200" b="1" dirty="0">
                <a:solidFill>
                  <a:srgbClr val="293B4C"/>
                </a:solidFill>
              </a:rPr>
              <a:t> 꼬리표의 </a:t>
            </a:r>
            <a:r>
              <a:rPr lang="en-US" altLang="ko-KR" sz="1200" b="1" dirty="0">
                <a:solidFill>
                  <a:srgbClr val="293B4C"/>
                </a:solidFill>
              </a:rPr>
              <a:t>"</a:t>
            </a:r>
            <a:r>
              <a:rPr lang="ko-KR" altLang="en-US" sz="1200" b="1" dirty="0">
                <a:solidFill>
                  <a:srgbClr val="293B4C"/>
                </a:solidFill>
              </a:rPr>
              <a:t>확실한 차이</a:t>
            </a:r>
            <a:r>
              <a:rPr lang="en-US" altLang="ko-KR" sz="1200" b="1" dirty="0">
                <a:solidFill>
                  <a:srgbClr val="293B4C"/>
                </a:solidFill>
              </a:rPr>
              <a:t>"</a:t>
            </a:r>
            <a:r>
              <a:rPr lang="ko-KR" altLang="en-US" sz="1200" b="1" dirty="0">
                <a:solidFill>
                  <a:srgbClr val="293B4C"/>
                </a:solidFill>
              </a:rPr>
              <a:t>는 인원이 적은 것을 감안해도 우연으로 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</a:rPr>
              <a:t>   </a:t>
            </a:r>
            <a:r>
              <a:rPr lang="ko-KR" altLang="en-US" sz="1200" b="1" dirty="0">
                <a:solidFill>
                  <a:srgbClr val="293B4C"/>
                </a:solidFill>
              </a:rPr>
              <a:t>보기 어려울 만큼 차이가 큰 경우이고</a:t>
            </a:r>
            <a:r>
              <a:rPr lang="en-US" altLang="ko-KR" sz="1200" b="1" dirty="0">
                <a:solidFill>
                  <a:srgbClr val="293B4C"/>
                </a:solidFill>
              </a:rPr>
              <a:t>, "</a:t>
            </a:r>
            <a:r>
              <a:rPr lang="ko-KR" altLang="en-US" sz="1200" b="1" dirty="0">
                <a:solidFill>
                  <a:srgbClr val="293B4C"/>
                </a:solidFill>
              </a:rPr>
              <a:t>우연일 수 있음</a:t>
            </a:r>
            <a:r>
              <a:rPr lang="en-US" altLang="ko-KR" sz="1200" b="1" dirty="0">
                <a:solidFill>
                  <a:srgbClr val="293B4C"/>
                </a:solidFill>
              </a:rPr>
              <a:t>"</a:t>
            </a:r>
            <a:r>
              <a:rPr lang="ko-KR" altLang="en-US" sz="1200" b="1" dirty="0">
                <a:solidFill>
                  <a:srgbClr val="293B4C"/>
                </a:solidFill>
              </a:rPr>
              <a:t>은 차이는 </a:t>
            </a:r>
            <a:endParaRPr lang="en-US" altLang="ko-KR" sz="12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293B4C"/>
                </a:solidFill>
              </a:rPr>
              <a:t>   </a:t>
            </a:r>
            <a:r>
              <a:rPr lang="ko-KR" altLang="en-US" sz="1200" b="1" dirty="0">
                <a:solidFill>
                  <a:srgbClr val="293B4C"/>
                </a:solidFill>
              </a:rPr>
              <a:t>보이지만</a:t>
            </a:r>
            <a:r>
              <a:rPr lang="en-US" altLang="ko-KR" sz="1200" b="1" dirty="0">
                <a:solidFill>
                  <a:srgbClr val="293B4C"/>
                </a:solidFill>
              </a:rPr>
              <a:t>, </a:t>
            </a:r>
            <a:r>
              <a:rPr lang="ko-KR" altLang="en-US" sz="1200" b="1" dirty="0">
                <a:solidFill>
                  <a:srgbClr val="293B4C"/>
                </a:solidFill>
              </a:rPr>
              <a:t>설문이 적어 단정하기 어려운 경우임</a:t>
            </a:r>
            <a:r>
              <a:rPr lang="en-US" altLang="ko-KR" sz="1200" b="1" i="1" dirty="0">
                <a:solidFill>
                  <a:srgbClr val="293B4C"/>
                </a:solidFill>
              </a:rPr>
              <a:t>.</a:t>
            </a:r>
            <a:endParaRPr lang="ko-KR" altLang="en-US" sz="1400" b="1" i="1" dirty="0">
              <a:solidFill>
                <a:srgbClr val="000000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748D197-4A7E-CB7A-EC1E-CEB6F933992E}"/>
              </a:ext>
            </a:extLst>
          </p:cNvPr>
          <p:cNvSpPr/>
          <p:nvPr/>
        </p:nvSpPr>
        <p:spPr>
          <a:xfrm>
            <a:off x="1041522" y="4369462"/>
            <a:ext cx="5129653" cy="24933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/>
              </a:rPr>
              <a:t>그림 읽는 법</a:t>
            </a:r>
            <a:r>
              <a:rPr lang="en-US" altLang="ko-KR" sz="1200" b="1" dirty="0">
                <a:solidFill/>
              </a:rPr>
              <a:t> - </a:t>
            </a:r>
            <a:r>
              <a:rPr lang="ko-KR" altLang="en-US" sz="1200" b="1" dirty="0">
                <a:solidFill/>
              </a:rPr>
              <a:t>표본이 작을 때 쓰는 </a:t>
            </a:r>
            <a:r>
              <a:rPr lang="en-US" altLang="ko-KR" sz="1200" b="1" dirty="0">
                <a:solidFill/>
              </a:rPr>
              <a:t>Mann-Whitney </a:t>
            </a:r>
            <a:r>
              <a:rPr lang="ko-KR" altLang="en-US" sz="1200" b="1" dirty="0">
                <a:solidFill/>
              </a:rPr>
              <a:t>검정</a:t>
            </a:r>
            <a:r>
              <a:rPr lang="en-US" altLang="ko-KR" sz="1200" b="1" dirty="0">
                <a:solidFill/>
              </a:rPr>
              <a:t>, p&lt;.05</a:t>
            </a:r>
            <a:endParaRPr lang="ko-KR" altLang="en-US" sz="12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AA775C-551E-3ADB-6ACF-1D296A72A74B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5A3F346-DE6D-77FD-4985-BBC5C56E7C9E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B91D00-78EA-C936-47D6-FB059FD9027D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368E6F5-E72B-1596-9062-A85A9270677D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21A1E5-672A-5970-187B-8003B2EB8183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25020DA-0A02-DA18-0896-F0E1840F3C5B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CA6CFA6-ACA8-60B0-66CE-6B19E8A02319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13216D8-16F3-C4FF-FD20-2D42B779D8B0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39A23FB-29A0-1A68-757C-F43B34C07E5F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0942381-3EE2-7624-5A52-278FC2CC85FC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8426149-2B0A-42F6-F7E5-96BAAAC771E1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20E0CAC-F942-53B3-91A0-875FE017E512}"/>
              </a:ext>
            </a:extLst>
          </p:cNvPr>
          <p:cNvSpPr txBox="1"/>
          <p:nvPr/>
        </p:nvSpPr>
        <p:spPr>
          <a:xfrm>
            <a:off x="893828" y="3568484"/>
            <a:ext cx="6095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E8704D"/>
                </a:solidFill>
                <a:latin typeface="맑은 고딕"/>
                <a:ea typeface="+mj-ea"/>
              </a:rPr>
              <a:t>※ </a:t>
            </a:r>
            <a:r>
              <a:rPr lang="ko-KR" altLang="en-US" sz="1100" b="1" dirty="0">
                <a:solidFill>
                  <a:srgbClr val="E8704D"/>
                </a:solidFill>
                <a:latin typeface="맑은 고딕"/>
                <a:ea typeface="+mj-ea"/>
              </a:rPr>
              <a:t>참가 경험 무응답 </a:t>
            </a:r>
            <a:r>
              <a:rPr lang="en-US" altLang="ko-KR" sz="1100" b="1" dirty="0">
                <a:solidFill>
                  <a:srgbClr val="E8704D"/>
                </a:solidFill>
                <a:latin typeface="맑은 고딕"/>
                <a:ea typeface="+mj-ea"/>
              </a:rPr>
              <a:t>1</a:t>
            </a:r>
            <a:r>
              <a:rPr lang="ko-KR" altLang="en-US" sz="1100" b="1" dirty="0">
                <a:solidFill>
                  <a:srgbClr val="E8704D"/>
                </a:solidFill>
                <a:latin typeface="맑은 고딕"/>
                <a:ea typeface="+mj-ea"/>
              </a:rPr>
              <a:t>명 제외</a:t>
            </a:r>
            <a:endParaRPr lang="ko-KR" altLang="en-US" sz="14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1C1FB02-C1FC-D4A6-E471-89B6D9EB7925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 3">
            <a:extLst>
              <a:ext uri="{FF2B5EF4-FFF2-40B4-BE49-F238E27FC236}">
                <a16:creationId xmlns:a16="http://schemas.microsoft.com/office/drawing/2014/main" id="{3FFEB9E5-325D-2F3E-F67C-5597A052227F}"/>
              </a:ext>
            </a:extLst>
          </p:cNvPr>
          <p:cNvSpPr txBox="1"/>
          <p:nvPr/>
        </p:nvSpPr>
        <p:spPr>
          <a:xfrm>
            <a:off x="7326298" y="1817384"/>
            <a:ext cx="4713287" cy="384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200" b="1" dirty="0">
                <a:solidFill>
                  <a:srgbClr val="D4661F"/>
                </a:solidFill>
                <a:ea typeface="+mj-ea"/>
              </a:rPr>
              <a:t>※</a:t>
            </a:r>
            <a:r>
              <a:rPr lang="ko-KR" altLang="ko-KR" sz="1200" b="1" dirty="0">
                <a:solidFill>
                  <a:srgbClr val="D4661F"/>
                </a:solidFill>
              </a:rPr>
              <a:t> 100점 환산 = (5점 평균 − 1) ÷ 4 × 100. 예: 4.17점 → 79점</a:t>
            </a:r>
            <a:br>
              <a:rPr lang="ko-KR" altLang="ko-KR" sz="1200" b="1" dirty="0">
                <a:solidFill>
                  <a:srgbClr val="D4661F"/>
                </a:solidFill>
              </a:rPr>
            </a:br>
            <a:r>
              <a:rPr lang="ko-KR" altLang="ko-KR" sz="1200" b="1" dirty="0">
                <a:solidFill>
                  <a:srgbClr val="D4661F"/>
                </a:solidFill>
              </a:rPr>
              <a:t>※ 첫 참가자가 10명으로 적어 참고용으로 해석</a:t>
            </a:r>
            <a:endParaRPr lang="en-US" altLang="ko-KR" sz="1200" b="1" dirty="0">
              <a:solidFill>
                <a:srgbClr val="D4661F"/>
              </a:solidFill>
              <a:ea typeface="+mj-ea"/>
            </a:endParaRPr>
          </a:p>
        </p:txBody>
      </p:sp>
      <p:sp>
        <p:nvSpPr>
          <p:cNvPr id="118" name="통계주석"/>
          <p:cNvSpPr txBox="1"/>
          <p:nvPr/>
        </p:nvSpPr>
        <p:spPr>
          <a:xfrm>
            <a:off x="3017520" y="3639312"/>
            <a:ext cx="33101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Mann-Whitney : 적은 인원의 두 그룹을 순위로 비교</a:t>
            </a:r>
          </a:p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p&lt;.05 : 우연일 확률 5% 미만 → ‘확실한 차이’</a:t>
            </a:r>
          </a:p>
        </p:txBody>
      </p:sp>
      <p:cxnSp>
        <p:nvCxnSpPr>
          <p:cNvPr id="119" name="통계주석 화살표"/>
          <p:cNvCxnSpPr/>
          <p:nvPr/>
        </p:nvCxnSpPr>
        <p:spPr>
          <a:xfrm>
            <a:off x="3931920" y="3959352"/>
            <a:ext cx="502920" cy="475488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통계주석 화살표"/>
          <p:cNvCxnSpPr/>
          <p:nvPr/>
        </p:nvCxnSpPr>
        <p:spPr>
          <a:xfrm>
            <a:off x="5486400" y="3959352"/>
            <a:ext cx="137160" cy="475488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06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83403-F7ED-E1DA-C376-E5FE3638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92CBFA8A-80C6-C2CE-75AB-3BF7FCC09C71}"/>
              </a:ext>
            </a:extLst>
          </p:cNvPr>
          <p:cNvSpPr txBox="1"/>
          <p:nvPr/>
        </p:nvSpPr>
        <p:spPr>
          <a:xfrm>
            <a:off x="838402" y="993120"/>
            <a:ext cx="457829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첫 참가자 분석에서 알게 된 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4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가지 사실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B68EB29-267D-D305-8D98-FEDB5B2D8350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91D1A1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3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E4FB0D0C-C017-FC3C-16F4-A6273FC1E503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Ⅳ.</a:t>
            </a:r>
            <a:r>
              <a:rPr lang="ko-KR" altLang="en-US" sz="3200" dirty="0">
                <a:solidFill/>
              </a:rPr>
              <a:t>설문 분석결과</a:t>
            </a:r>
            <a:r>
              <a:rPr lang="en-US" altLang="ko-KR" sz="2400" dirty="0">
                <a:solidFill/>
              </a:rPr>
              <a:t>(3/4)</a:t>
            </a:r>
            <a:endParaRPr lang="ko-KR" alt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981FE5D-C48B-0BE5-2E35-8B388C272A35}"/>
              </a:ext>
            </a:extLst>
          </p:cNvPr>
          <p:cNvSpPr txBox="1"/>
          <p:nvPr/>
        </p:nvSpPr>
        <p:spPr>
          <a:xfrm>
            <a:off x="978921" y="1506451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2D7C58-D345-E1D3-87F2-57B01DA38174}"/>
              </a:ext>
            </a:extLst>
          </p:cNvPr>
          <p:cNvSpPr/>
          <p:nvPr/>
        </p:nvSpPr>
        <p:spPr>
          <a:xfrm>
            <a:off x="898563" y="1785296"/>
            <a:ext cx="10928849" cy="926364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 err="1">
                <a:solidFill>
                  <a:srgbClr val="293B4C"/>
                </a:solidFill>
              </a:rPr>
              <a:t>ㆍ첫</a:t>
            </a:r>
            <a:r>
              <a:rPr lang="ko-KR" altLang="en-US" sz="1400" b="1" dirty="0">
                <a:solidFill>
                  <a:srgbClr val="293B4C"/>
                </a:solidFill>
              </a:rPr>
              <a:t> 참가자는 시설</a:t>
            </a:r>
            <a:r>
              <a:rPr lang="en-US" altLang="ko-KR" sz="1400" b="1" dirty="0">
                <a:solidFill>
                  <a:srgbClr val="293B4C"/>
                </a:solidFill>
              </a:rPr>
              <a:t>(4.17 vs 4.69), </a:t>
            </a:r>
            <a:r>
              <a:rPr lang="ko-KR" altLang="en-US" sz="1400" b="1" dirty="0">
                <a:solidFill>
                  <a:srgbClr val="293B4C"/>
                </a:solidFill>
              </a:rPr>
              <a:t>시간 운영</a:t>
            </a:r>
            <a:r>
              <a:rPr lang="en-US" altLang="ko-KR" sz="1400" b="1" dirty="0">
                <a:solidFill>
                  <a:srgbClr val="293B4C"/>
                </a:solidFill>
              </a:rPr>
              <a:t>(4.17 vs 4.65), </a:t>
            </a:r>
            <a:r>
              <a:rPr lang="ko-KR" altLang="en-US" sz="1400" b="1" dirty="0" err="1">
                <a:solidFill>
                  <a:srgbClr val="293B4C"/>
                </a:solidFill>
              </a:rPr>
              <a:t>종목ㆍ진행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경품</a:t>
            </a:r>
            <a:r>
              <a:rPr lang="en-US" altLang="ko-KR" sz="1400" b="1" dirty="0">
                <a:solidFill>
                  <a:srgbClr val="293B4C"/>
                </a:solidFill>
              </a:rPr>
              <a:t>(3.87 vs 4.59)</a:t>
            </a:r>
            <a:r>
              <a:rPr lang="ko-KR" altLang="en-US" sz="1400" b="1" dirty="0">
                <a:solidFill>
                  <a:srgbClr val="293B4C"/>
                </a:solidFill>
              </a:rPr>
              <a:t>을 경험자보다 낮게  평가했음</a:t>
            </a:r>
            <a:r>
              <a:rPr lang="en-US" altLang="ko-KR" sz="1400" b="1" dirty="0">
                <a:solidFill>
                  <a:srgbClr val="293B4C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rgbClr val="293B4C"/>
                </a:solidFill>
              </a:rPr>
              <a:t>ㆍ특히</a:t>
            </a:r>
            <a:r>
              <a:rPr lang="en-US" altLang="ko-KR" sz="1400" b="1" dirty="0">
                <a:solidFill>
                  <a:srgbClr val="293B4C"/>
                </a:solidFill>
              </a:rPr>
              <a:t>, "</a:t>
            </a:r>
            <a:r>
              <a:rPr lang="ko-KR" altLang="en-US" sz="1400" b="1" dirty="0">
                <a:solidFill>
                  <a:srgbClr val="293B4C"/>
                </a:solidFill>
              </a:rPr>
              <a:t>계획한 시간대로 진행됐다</a:t>
            </a:r>
            <a:r>
              <a:rPr lang="en-US" altLang="ko-KR" sz="1400" b="1" dirty="0">
                <a:solidFill>
                  <a:srgbClr val="293B4C"/>
                </a:solidFill>
              </a:rPr>
              <a:t>"(70% vs 94%)</a:t>
            </a:r>
            <a:r>
              <a:rPr lang="ko-KR" altLang="en-US" sz="1400" b="1" dirty="0">
                <a:solidFill>
                  <a:srgbClr val="293B4C"/>
                </a:solidFill>
              </a:rPr>
              <a:t>와</a:t>
            </a:r>
            <a:r>
              <a:rPr lang="en-US" altLang="ko-KR" sz="1400" b="1" dirty="0">
                <a:solidFill>
                  <a:srgbClr val="293B4C"/>
                </a:solidFill>
              </a:rPr>
              <a:t> </a:t>
            </a:r>
            <a:r>
              <a:rPr lang="ko-KR" altLang="en-US" sz="1400" b="1" dirty="0">
                <a:solidFill>
                  <a:srgbClr val="293B4C"/>
                </a:solidFill>
              </a:rPr>
              <a:t>경품의 </a:t>
            </a:r>
            <a:r>
              <a:rPr lang="ko-KR" altLang="en-US" sz="1400" b="1" dirty="0" err="1">
                <a:solidFill>
                  <a:srgbClr val="293B4C"/>
                </a:solidFill>
              </a:rPr>
              <a:t>종류ㆍ수량</a:t>
            </a:r>
            <a:r>
              <a:rPr lang="en-US" altLang="ko-KR" sz="1400" b="1" dirty="0">
                <a:solidFill>
                  <a:srgbClr val="293B4C"/>
                </a:solidFill>
              </a:rPr>
              <a:t>(60% vs 89%)</a:t>
            </a:r>
            <a:r>
              <a:rPr lang="ko-KR" altLang="en-US" sz="1400" b="1" dirty="0">
                <a:solidFill>
                  <a:srgbClr val="293B4C"/>
                </a:solidFill>
              </a:rPr>
              <a:t>에서 차이가 크게 나타남</a:t>
            </a:r>
            <a:r>
              <a:rPr lang="en-US" altLang="ko-KR" sz="1400" b="1" dirty="0">
                <a:solidFill>
                  <a:srgbClr val="293B4C"/>
                </a:solidFill>
              </a:rPr>
              <a:t>.</a:t>
            </a:r>
          </a:p>
          <a:p>
            <a:r>
              <a:rPr lang="ko-KR" altLang="en-US" sz="1400" b="1" dirty="0" err="1">
                <a:solidFill>
                  <a:srgbClr val="293B4C"/>
                </a:solidFill>
              </a:rPr>
              <a:t>ㆍ진행</a:t>
            </a:r>
            <a:r>
              <a:rPr lang="ko-KR" altLang="en-US" sz="1400" b="1" dirty="0">
                <a:solidFill>
                  <a:srgbClr val="293B4C"/>
                </a:solidFill>
              </a:rPr>
              <a:t> 순서와 경품 방식이 익숙한 사람 기준으로 운영되었을 가능성이 있음</a:t>
            </a:r>
            <a:r>
              <a:rPr lang="en-US" altLang="ko-KR" sz="1400" b="1" dirty="0">
                <a:solidFill>
                  <a:srgbClr val="293B4C"/>
                </a:solidFill>
              </a:rPr>
              <a:t>.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409455B-95FD-3BD1-5534-771074F17259}"/>
              </a:ext>
            </a:extLst>
          </p:cNvPr>
          <p:cNvSpPr/>
          <p:nvPr/>
        </p:nvSpPr>
        <p:spPr>
          <a:xfrm>
            <a:off x="659078" y="1515396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1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DFE09CF-5D49-0E37-7B75-F045F93412E7}"/>
              </a:ext>
            </a:extLst>
          </p:cNvPr>
          <p:cNvSpPr txBox="1"/>
          <p:nvPr/>
        </p:nvSpPr>
        <p:spPr>
          <a:xfrm>
            <a:off x="978921" y="1506451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행사 환경은 처음 온 성도에게 더 낯설었습니다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E90B394-DE50-CF62-306B-B9EFE109911A}"/>
              </a:ext>
            </a:extLst>
          </p:cNvPr>
          <p:cNvSpPr/>
          <p:nvPr/>
        </p:nvSpPr>
        <p:spPr>
          <a:xfrm>
            <a:off x="659078" y="2903346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2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AEC6D7A-7CA2-D248-1DA6-574EC2B1E49F}"/>
              </a:ext>
            </a:extLst>
          </p:cNvPr>
          <p:cNvSpPr txBox="1"/>
          <p:nvPr/>
        </p:nvSpPr>
        <p:spPr>
          <a:xfrm>
            <a:off x="978921" y="2919993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그래도 마음은 같았습니다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CE9064-3171-066B-4352-25FFEFB21EA5}"/>
              </a:ext>
            </a:extLst>
          </p:cNvPr>
          <p:cNvSpPr/>
          <p:nvPr/>
        </p:nvSpPr>
        <p:spPr>
          <a:xfrm>
            <a:off x="898563" y="3212432"/>
            <a:ext cx="10928849" cy="657072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rgbClr val="293B4C"/>
                </a:solidFill>
              </a:rPr>
              <a:t>ㆍ전반적</a:t>
            </a:r>
            <a:r>
              <a:rPr lang="ko-KR" altLang="en-US" sz="1400" b="1" dirty="0">
                <a:solidFill>
                  <a:srgbClr val="293B4C"/>
                </a:solidFill>
              </a:rPr>
              <a:t> 만족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신앙공동체 의미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다시 참가할 마음은 경험자와 뚜렷한 차이를 보이지 없었음</a:t>
            </a:r>
            <a:r>
              <a:rPr lang="en-US" altLang="ko-KR" sz="1400" b="1" dirty="0">
                <a:solidFill>
                  <a:srgbClr val="293B4C"/>
                </a:solidFill>
              </a:rPr>
              <a:t>. </a:t>
            </a:r>
            <a:r>
              <a:rPr lang="ko-KR" altLang="en-US" sz="1400" b="1" dirty="0">
                <a:solidFill>
                  <a:srgbClr val="293B4C"/>
                </a:solidFill>
              </a:rPr>
              <a:t>첫 참가자의 </a:t>
            </a:r>
            <a:r>
              <a:rPr lang="en-US" altLang="ko-KR" sz="1400" b="1" dirty="0">
                <a:solidFill>
                  <a:srgbClr val="293B4C"/>
                </a:solidFill>
              </a:rPr>
              <a:t>90%</a:t>
            </a:r>
            <a:r>
              <a:rPr lang="ko-KR" altLang="en-US" sz="1400" b="1" dirty="0">
                <a:solidFill>
                  <a:srgbClr val="293B4C"/>
                </a:solidFill>
              </a:rPr>
              <a:t>가 다음에도 참가 </a:t>
            </a:r>
            <a:endParaRPr lang="en-US" altLang="ko-KR" sz="1400" b="1" dirty="0">
              <a:solidFill>
                <a:srgbClr val="293B4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293B4C"/>
                </a:solidFill>
              </a:rPr>
              <a:t>  </a:t>
            </a:r>
            <a:r>
              <a:rPr lang="ko-KR" altLang="en-US" sz="1400" b="1" dirty="0">
                <a:solidFill>
                  <a:srgbClr val="293B4C"/>
                </a:solidFill>
              </a:rPr>
              <a:t>여부를 밝혔고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 err="1">
                <a:solidFill>
                  <a:srgbClr val="293B4C"/>
                </a:solidFill>
              </a:rPr>
              <a:t>준비ㆍ진행에</a:t>
            </a:r>
            <a:r>
              <a:rPr lang="ko-KR" altLang="en-US" sz="1400" b="1" dirty="0">
                <a:solidFill>
                  <a:srgbClr val="293B4C"/>
                </a:solidFill>
              </a:rPr>
              <a:t> 함께하겠다는 비율은 </a:t>
            </a:r>
            <a:r>
              <a:rPr lang="en-US" altLang="ko-KR" sz="1400" b="1" dirty="0">
                <a:solidFill>
                  <a:srgbClr val="293B4C"/>
                </a:solidFill>
              </a:rPr>
              <a:t>80%</a:t>
            </a:r>
            <a:r>
              <a:rPr lang="ko-KR" altLang="en-US" sz="1400" b="1" dirty="0">
                <a:solidFill>
                  <a:srgbClr val="293B4C"/>
                </a:solidFill>
              </a:rPr>
              <a:t>로 오히려 경험자</a:t>
            </a:r>
            <a:r>
              <a:rPr lang="en-US" altLang="ko-KR" sz="1400" b="1" dirty="0">
                <a:solidFill>
                  <a:srgbClr val="293B4C"/>
                </a:solidFill>
              </a:rPr>
              <a:t>(51%) </a:t>
            </a:r>
            <a:r>
              <a:rPr lang="ko-KR" altLang="en-US" sz="1400" b="1" dirty="0">
                <a:solidFill>
                  <a:srgbClr val="293B4C"/>
                </a:solidFill>
              </a:rPr>
              <a:t>보다 높았음</a:t>
            </a:r>
            <a:r>
              <a:rPr lang="en-US" altLang="ko-KR" sz="1400" b="1" dirty="0">
                <a:solidFill>
                  <a:srgbClr val="293B4C"/>
                </a:solidFill>
              </a:rPr>
              <a:t>.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0C7AFD6-4A5F-AD19-0EF3-F453CB84667C}"/>
              </a:ext>
            </a:extLst>
          </p:cNvPr>
          <p:cNvSpPr/>
          <p:nvPr/>
        </p:nvSpPr>
        <p:spPr>
          <a:xfrm>
            <a:off x="659078" y="4186786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993520D-AEA1-2F3D-2FE8-F9B8E9779815}"/>
              </a:ext>
            </a:extLst>
          </p:cNvPr>
          <p:cNvSpPr txBox="1"/>
          <p:nvPr/>
        </p:nvSpPr>
        <p:spPr>
          <a:xfrm>
            <a:off x="978921" y="4203433"/>
            <a:ext cx="443777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새 얼굴과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가까워지기는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더 어려웠습니다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B6E3FA-BC0A-D143-7234-821A29E76B09}"/>
              </a:ext>
            </a:extLst>
          </p:cNvPr>
          <p:cNvSpPr/>
          <p:nvPr/>
        </p:nvSpPr>
        <p:spPr>
          <a:xfrm>
            <a:off x="898563" y="4495872"/>
            <a:ext cx="10928849" cy="657072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rgbClr val="293B4C"/>
                </a:solidFill>
              </a:rPr>
              <a:t>ㆍ</a:t>
            </a:r>
            <a:r>
              <a:rPr lang="en-US" altLang="ko-KR" sz="1400" b="1" dirty="0">
                <a:solidFill>
                  <a:srgbClr val="293B4C"/>
                </a:solidFill>
              </a:rPr>
              <a:t>"</a:t>
            </a:r>
            <a:r>
              <a:rPr lang="ko-KR" altLang="en-US" sz="1400" b="1" dirty="0">
                <a:solidFill>
                  <a:srgbClr val="293B4C"/>
                </a:solidFill>
              </a:rPr>
              <a:t>모르던 성도와 가까워졌다</a:t>
            </a:r>
            <a:r>
              <a:rPr lang="en-US" altLang="ko-KR" sz="1400" b="1" dirty="0">
                <a:solidFill>
                  <a:srgbClr val="293B4C"/>
                </a:solidFill>
              </a:rPr>
              <a:t>"</a:t>
            </a:r>
            <a:r>
              <a:rPr lang="ko-KR" altLang="en-US" sz="1400" b="1" dirty="0">
                <a:solidFill>
                  <a:srgbClr val="293B4C"/>
                </a:solidFill>
              </a:rPr>
              <a:t>는 첫 참가자 </a:t>
            </a:r>
            <a:r>
              <a:rPr lang="en-US" altLang="ko-KR" sz="1400" b="1" dirty="0">
                <a:solidFill>
                  <a:srgbClr val="293B4C"/>
                </a:solidFill>
              </a:rPr>
              <a:t>40%, </a:t>
            </a:r>
            <a:r>
              <a:rPr lang="ko-KR" altLang="en-US" sz="1400" b="1" dirty="0">
                <a:solidFill>
                  <a:srgbClr val="293B4C"/>
                </a:solidFill>
              </a:rPr>
              <a:t>경험자 </a:t>
            </a:r>
            <a:r>
              <a:rPr lang="en-US" altLang="ko-KR" sz="1400" b="1" dirty="0">
                <a:solidFill>
                  <a:srgbClr val="293B4C"/>
                </a:solidFill>
              </a:rPr>
              <a:t>60%</a:t>
            </a:r>
            <a:r>
              <a:rPr lang="ko-KR" altLang="en-US" sz="1400" b="1" dirty="0">
                <a:solidFill>
                  <a:srgbClr val="293B4C"/>
                </a:solidFill>
              </a:rPr>
              <a:t>였음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통계적으로 유의한 차이는 아니지만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처음 온 성도가 관계 속으로</a:t>
            </a:r>
            <a:endParaRPr lang="en-US" altLang="ko-KR" sz="1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293B4C"/>
                </a:solidFill>
              </a:rPr>
              <a:t>   </a:t>
            </a:r>
            <a:r>
              <a:rPr lang="ko-KR" altLang="en-US" sz="1400" b="1" dirty="0">
                <a:solidFill>
                  <a:srgbClr val="293B4C"/>
                </a:solidFill>
              </a:rPr>
              <a:t>들어가기 어려웠다는 신호일 수 있음</a:t>
            </a:r>
            <a:r>
              <a:rPr lang="en-US" altLang="ko-KR" sz="1400" b="1" dirty="0">
                <a:solidFill>
                  <a:srgbClr val="293B4C"/>
                </a:solidFill>
              </a:rPr>
              <a:t>. </a:t>
            </a:r>
            <a:r>
              <a:rPr lang="ko-KR" altLang="en-US" sz="1400" b="1" dirty="0">
                <a:solidFill>
                  <a:srgbClr val="293B4C"/>
                </a:solidFill>
              </a:rPr>
              <a:t>첫 참가자는 </a:t>
            </a:r>
            <a:r>
              <a:rPr lang="ko-KR" altLang="en-US" sz="1400" b="1" dirty="0" err="1">
                <a:solidFill>
                  <a:srgbClr val="293B4C"/>
                </a:solidFill>
              </a:rPr>
              <a:t>응원ㆍ관람으로</a:t>
            </a:r>
            <a:r>
              <a:rPr lang="ko-KR" altLang="en-US" sz="1400" b="1" dirty="0">
                <a:solidFill>
                  <a:srgbClr val="293B4C"/>
                </a:solidFill>
              </a:rPr>
              <a:t> 참여한 비율이 높았음</a:t>
            </a:r>
            <a:r>
              <a:rPr lang="en-US" altLang="ko-KR" sz="1400" b="1" dirty="0">
                <a:solidFill>
                  <a:srgbClr val="293B4C"/>
                </a:solidFill>
              </a:rPr>
              <a:t>.(8</a:t>
            </a:r>
            <a:r>
              <a:rPr lang="ko-KR" altLang="en-US" sz="1400" b="1" dirty="0">
                <a:solidFill>
                  <a:srgbClr val="293B4C"/>
                </a:solidFill>
              </a:rPr>
              <a:t>명</a:t>
            </a:r>
            <a:r>
              <a:rPr lang="en-US" altLang="ko-KR" sz="1400" b="1" dirty="0">
                <a:solidFill>
                  <a:srgbClr val="293B4C"/>
                </a:solidFill>
              </a:rPr>
              <a:t>)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82B5D29-0507-B15D-33DB-CC9892A5C9AE}"/>
              </a:ext>
            </a:extLst>
          </p:cNvPr>
          <p:cNvSpPr/>
          <p:nvPr/>
        </p:nvSpPr>
        <p:spPr>
          <a:xfrm>
            <a:off x="659078" y="5464313"/>
            <a:ext cx="239485" cy="230106"/>
          </a:xfrm>
          <a:prstGeom prst="ellipse">
            <a:avLst/>
          </a:prstGeom>
          <a:solidFill>
            <a:srgbClr val="FFD176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4</a:t>
            </a:r>
            <a:endParaRPr lang="ko-KR" altLang="en-US" sz="16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B5BCC0C-D92E-59BF-490B-357002197ADA}"/>
              </a:ext>
            </a:extLst>
          </p:cNvPr>
          <p:cNvSpPr txBox="1"/>
          <p:nvPr/>
        </p:nvSpPr>
        <p:spPr>
          <a:xfrm>
            <a:off x="978921" y="5480960"/>
            <a:ext cx="6500297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첫 참가자를 다시 오게 하는 것은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"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공동체 의미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"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"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권유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</a:rPr>
              <a:t> "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입니다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DD9CE9-2163-0B70-47FB-63434188A12D}"/>
              </a:ext>
            </a:extLst>
          </p:cNvPr>
          <p:cNvSpPr/>
          <p:nvPr/>
        </p:nvSpPr>
        <p:spPr>
          <a:xfrm>
            <a:off x="898563" y="5773399"/>
            <a:ext cx="10928849" cy="657072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rgbClr val="293B4C"/>
                </a:solidFill>
              </a:rPr>
              <a:t>ㆍ첫</a:t>
            </a:r>
            <a:r>
              <a:rPr lang="ko-KR" altLang="en-US" sz="1400" b="1" dirty="0">
                <a:solidFill>
                  <a:srgbClr val="293B4C"/>
                </a:solidFill>
              </a:rPr>
              <a:t> 참가자 안에서 다시 참가할 마음과 함께 움직인 것은 신앙 공동체 의미</a:t>
            </a:r>
            <a:r>
              <a:rPr lang="en-US" altLang="ko-KR" sz="1400" b="1" dirty="0">
                <a:solidFill>
                  <a:srgbClr val="293B4C"/>
                </a:solidFill>
              </a:rPr>
              <a:t>(</a:t>
            </a:r>
            <a:r>
              <a:rPr lang="ko-KR" altLang="en-US" sz="1400" b="1" dirty="0">
                <a:solidFill>
                  <a:srgbClr val="293B4C"/>
                </a:solidFill>
              </a:rPr>
              <a:t>상관 </a:t>
            </a:r>
            <a:r>
              <a:rPr lang="en-US" altLang="ko-KR" sz="1400" b="1" dirty="0">
                <a:solidFill>
                  <a:srgbClr val="293B4C"/>
                </a:solidFill>
              </a:rPr>
              <a:t>0.72)</a:t>
            </a:r>
            <a:r>
              <a:rPr lang="ko-KR" altLang="en-US" sz="1400" b="1" dirty="0">
                <a:solidFill>
                  <a:srgbClr val="293B4C"/>
                </a:solidFill>
              </a:rPr>
              <a:t>와 교우의 권유</a:t>
            </a:r>
            <a:r>
              <a:rPr lang="en-US" altLang="ko-KR" sz="1400" b="1" dirty="0">
                <a:solidFill>
                  <a:srgbClr val="293B4C"/>
                </a:solidFill>
              </a:rPr>
              <a:t>(0.65)</a:t>
            </a:r>
            <a:r>
              <a:rPr lang="ko-KR" altLang="en-US" sz="1400" b="1" dirty="0">
                <a:solidFill>
                  <a:srgbClr val="293B4C"/>
                </a:solidFill>
              </a:rPr>
              <a:t>였고</a:t>
            </a:r>
            <a:r>
              <a:rPr lang="en-US" altLang="ko-KR" sz="1400" b="1" dirty="0">
                <a:solidFill>
                  <a:srgbClr val="293B4C"/>
                </a:solidFill>
              </a:rPr>
              <a:t>, </a:t>
            </a:r>
            <a:r>
              <a:rPr lang="ko-KR" altLang="en-US" sz="1400" b="1" dirty="0">
                <a:solidFill>
                  <a:srgbClr val="293B4C"/>
                </a:solidFill>
              </a:rPr>
              <a:t>행사 만족</a:t>
            </a:r>
            <a:r>
              <a:rPr lang="en-US" altLang="ko-KR" sz="1400" b="1" dirty="0">
                <a:solidFill>
                  <a:srgbClr val="293B4C"/>
                </a:solidFill>
              </a:rPr>
              <a:t>(0.12)</a:t>
            </a:r>
            <a:r>
              <a:rPr lang="ko-KR" altLang="en-US" sz="1400" b="1" dirty="0">
                <a:solidFill>
                  <a:srgbClr val="293B4C"/>
                </a:solidFill>
              </a:rPr>
              <a:t>은</a:t>
            </a:r>
            <a:endParaRPr lang="en-US" altLang="ko-KR" sz="14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293B4C"/>
                </a:solidFill>
              </a:rPr>
              <a:t>   </a:t>
            </a:r>
            <a:r>
              <a:rPr lang="ko-KR" altLang="en-US" sz="1400" b="1" dirty="0">
                <a:solidFill>
                  <a:srgbClr val="293B4C"/>
                </a:solidFill>
              </a:rPr>
              <a:t>거의 관련이 없음</a:t>
            </a:r>
            <a:r>
              <a:rPr lang="en-US" altLang="ko-KR" sz="1400" b="1" dirty="0">
                <a:solidFill>
                  <a:srgbClr val="293B4C"/>
                </a:solidFill>
              </a:rPr>
              <a:t>. </a:t>
            </a:r>
            <a:r>
              <a:rPr lang="ko-KR" altLang="en-US" sz="1400" b="1" dirty="0">
                <a:solidFill>
                  <a:srgbClr val="293B4C"/>
                </a:solidFill>
              </a:rPr>
              <a:t>전체 분석과 같은 방향임</a:t>
            </a:r>
            <a:r>
              <a:rPr lang="en-US" altLang="ko-KR" sz="1400" b="1" dirty="0">
                <a:solidFill>
                  <a:srgbClr val="293B4C"/>
                </a:solidFill>
              </a:rPr>
              <a:t>(10</a:t>
            </a:r>
            <a:r>
              <a:rPr lang="ko-KR" altLang="en-US" sz="1400" b="1" dirty="0">
                <a:solidFill>
                  <a:srgbClr val="293B4C"/>
                </a:solidFill>
              </a:rPr>
              <a:t>명 기준이므로 참고</a:t>
            </a:r>
            <a:r>
              <a:rPr lang="en-US" altLang="ko-KR" sz="1400" b="1" dirty="0">
                <a:solidFill>
                  <a:srgbClr val="293B4C"/>
                </a:solidFill>
              </a:rPr>
              <a:t>)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73F629-D6D1-FA49-17FB-6D565C04A8A7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C7AD069A-3F82-980F-375C-E3465685430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90CDF9E-FEB7-D0E9-EB27-AD06D4594546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EB47676-9D21-5AD8-E964-689C75A5333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7EC8565-7E22-31E9-A333-1817BE8ECC0A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CD15CFD-63C5-284F-E536-52E25507A130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0E21FE-8A19-02C9-B0AD-02A135D9A708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89A257-666A-9829-57AB-B7DBC64C225A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071F072-1AEB-F3CC-98FF-CFB97F0495BB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4BDAB1-8E3A-498A-B01F-BE2123350511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3955693-70FA-FB45-26AC-9C8E69F69EB1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2B6F191-E990-955E-B82D-07C5A49251EC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8" name="통계주석"/>
          <p:cNvSpPr txBox="1"/>
          <p:nvPr/>
        </p:nvSpPr>
        <p:spPr>
          <a:xfrm>
            <a:off x="5120640" y="4206240"/>
            <a:ext cx="67665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통계적으로 유의 = 우연으로 보기 어려운 차이(p&lt;.05). 첫 참가자가 10명뿐이라 이번엔 단정할 수 없음</a:t>
            </a:r>
          </a:p>
        </p:txBody>
      </p:sp>
      <p:cxnSp>
        <p:nvCxnSpPr>
          <p:cNvPr id="119" name="통계주석 화살표"/>
          <p:cNvCxnSpPr/>
          <p:nvPr/>
        </p:nvCxnSpPr>
        <p:spPr>
          <a:xfrm>
            <a:off x="7882127" y="4425696"/>
            <a:ext cx="0" cy="82296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통계주석"/>
          <p:cNvSpPr txBox="1"/>
          <p:nvPr/>
        </p:nvSpPr>
        <p:spPr>
          <a:xfrm>
            <a:off x="7726679" y="5477256"/>
            <a:ext cx="41605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상관 : 두 값이 함께 움직이는 정도(0~1), 0.7 이상 매우 높음</a:t>
            </a:r>
          </a:p>
        </p:txBody>
      </p:sp>
      <p:cxnSp>
        <p:nvCxnSpPr>
          <p:cNvPr id="121" name="통계주석 화살표"/>
          <p:cNvCxnSpPr/>
          <p:nvPr/>
        </p:nvCxnSpPr>
        <p:spPr>
          <a:xfrm flipH="1">
            <a:off x="7589520" y="5687568"/>
            <a:ext cx="182880" cy="91440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855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5A773-1579-1BF3-E5C9-C35F350A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BF16A55D-5348-F87C-0590-C0C9CD4148C0}"/>
              </a:ext>
            </a:extLst>
          </p:cNvPr>
          <p:cNvSpPr txBox="1"/>
          <p:nvPr/>
        </p:nvSpPr>
        <p:spPr>
          <a:xfrm>
            <a:off x="838402" y="993120"/>
            <a:ext cx="457829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제 안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향후 조치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)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769FA62-23AE-B253-F00E-D3908519F4E2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91D1A1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4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DAFF4775-1CEF-9FFB-0713-41E97821992A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Ⅳ.</a:t>
            </a:r>
            <a:r>
              <a:rPr lang="ko-KR" altLang="en-US" sz="3200" dirty="0">
                <a:solidFill/>
              </a:rPr>
              <a:t>설문 분석결과</a:t>
            </a:r>
            <a:r>
              <a:rPr lang="en-US" altLang="ko-KR" sz="2400" dirty="0">
                <a:solidFill/>
              </a:rPr>
              <a:t>(4/4)</a:t>
            </a:r>
            <a:endParaRPr lang="ko-KR" altLang="en-US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CA68FF7-EF5B-1E47-CBE2-808E7756B6CA}"/>
              </a:ext>
            </a:extLst>
          </p:cNvPr>
          <p:cNvSpPr/>
          <p:nvPr/>
        </p:nvSpPr>
        <p:spPr>
          <a:xfrm>
            <a:off x="760021" y="1605504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A6DC55C-7F33-9B77-0B5B-2C4CD4C4E854}"/>
              </a:ext>
            </a:extLst>
          </p:cNvPr>
          <p:cNvSpPr txBox="1"/>
          <p:nvPr/>
        </p:nvSpPr>
        <p:spPr>
          <a:xfrm>
            <a:off x="978921" y="1542084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처음 오는 성도를 위한 안내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진행표를 벽에 붙이고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종목ㆍ점수ㆍ경품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방식을 개회 때 짧게 설명 필요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C177D21-BF5D-24F0-7D18-AE7075CAEAB9}"/>
              </a:ext>
            </a:extLst>
          </p:cNvPr>
          <p:cNvSpPr/>
          <p:nvPr/>
        </p:nvSpPr>
        <p:spPr>
          <a:xfrm>
            <a:off x="760021" y="272821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0A4EE9-779B-F249-96AC-9E247E335AB6}"/>
              </a:ext>
            </a:extLst>
          </p:cNvPr>
          <p:cNvSpPr txBox="1"/>
          <p:nvPr/>
        </p:nvSpPr>
        <p:spPr>
          <a:xfrm>
            <a:off x="978921" y="2677092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"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짝꿍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"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배정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첫 참가자에게 같은 팀의 경험자 한 명을 연결하여 관계 형성 유도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F6845C3-B6BF-8068-DB4B-FD65A323186C}"/>
              </a:ext>
            </a:extLst>
          </p:cNvPr>
          <p:cNvSpPr/>
          <p:nvPr/>
        </p:nvSpPr>
        <p:spPr>
          <a:xfrm>
            <a:off x="760021" y="3737067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8A6A848-75D4-E732-B9E6-E6E736A7A5FD}"/>
              </a:ext>
            </a:extLst>
          </p:cNvPr>
          <p:cNvSpPr txBox="1"/>
          <p:nvPr/>
        </p:nvSpPr>
        <p:spPr>
          <a:xfrm>
            <a:off x="978921" y="3673647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권유는 개인적으로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첫 참가자의 참가 의향은 교우의 권유와 함께 움직임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선교회ㆍ소그룹에서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아직 참가해 본 적 없는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99CADE4-5D8F-51AF-D625-A2FDF2303E69}"/>
              </a:ext>
            </a:extLst>
          </p:cNvPr>
          <p:cNvSpPr txBox="1"/>
          <p:nvPr/>
        </p:nvSpPr>
        <p:spPr>
          <a:xfrm>
            <a:off x="2889714" y="3992785"/>
            <a:ext cx="2641646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성도를 직접 초대 필요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81FF4B4-D5E4-E6BD-A315-D09F09AA8069}"/>
              </a:ext>
            </a:extLst>
          </p:cNvPr>
          <p:cNvSpPr/>
          <p:nvPr/>
        </p:nvSpPr>
        <p:spPr>
          <a:xfrm>
            <a:off x="760021" y="5298704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7E72794-7D42-FE84-64B1-82AD6D66EC83}"/>
              </a:ext>
            </a:extLst>
          </p:cNvPr>
          <p:cNvSpPr txBox="1"/>
          <p:nvPr/>
        </p:nvSpPr>
        <p:spPr>
          <a:xfrm>
            <a:off x="978921" y="5235284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섬김의 자리 열기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: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첫 참가자의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80%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가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준비ㆍ진행에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함께하겠다고 응답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다음 준비위원회에 첫 참가자 초대하는 것이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605D1B25-E316-3A2B-47E3-D61D28DC40F6}"/>
              </a:ext>
            </a:extLst>
          </p:cNvPr>
          <p:cNvSpPr txBox="1"/>
          <p:nvPr/>
        </p:nvSpPr>
        <p:spPr>
          <a:xfrm>
            <a:off x="2733904" y="5538296"/>
            <a:ext cx="2641646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좋은 출발점임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82308FA3-F02F-06CA-D8D9-8885B9165CB6}"/>
              </a:ext>
            </a:extLst>
          </p:cNvPr>
          <p:cNvSpPr/>
          <p:nvPr/>
        </p:nvSpPr>
        <p:spPr>
          <a:xfrm>
            <a:off x="961903" y="1930315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8FF61A7-3990-7F05-49F3-DE5EC46DC5F5}"/>
              </a:ext>
            </a:extLst>
          </p:cNvPr>
          <p:cNvSpPr txBox="1"/>
          <p:nvPr/>
        </p:nvSpPr>
        <p:spPr>
          <a:xfrm>
            <a:off x="1206531" y="1737730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ko-KR" altLang="ko-KR" sz="1400" b="1" dirty="0">
                <a:solidFill/>
              </a:rPr>
              <a:t>첫 참가자는 "계획한 시간대로 진행됐다" 70%(경험자 94%), 경품 만족 60%(경험자 89%)로 진행 방식을 낯설게 느낌. </a:t>
            </a:r>
            <a:endParaRPr lang="en-US" altLang="ko-KR" sz="1400" b="1" dirty="0"/>
          </a:p>
          <a:p>
            <a:pPr>
              <a:lnSpc>
                <a:spcPct val="100000"/>
              </a:lnSpc>
            </a:pPr>
            <a:r>
              <a:rPr lang="ko-KR" altLang="ko-KR" sz="1400" b="1" dirty="0">
                <a:solidFill/>
              </a:rPr>
              <a:t>첫 참가자 자유 의견에도 "일정표를 벽에 붙여 </a:t>
            </a:r>
            <a:r>
              <a:rPr lang="ko-KR" altLang="ko-KR" sz="1400" b="1" dirty="0" err="1">
                <a:solidFill/>
              </a:rPr>
              <a:t>달라"는</a:t>
            </a:r>
            <a:r>
              <a:rPr lang="ko-KR" altLang="ko-KR" sz="1400" b="1" dirty="0">
                <a:solidFill/>
              </a:rPr>
              <a:t> 요청이 있음</a:t>
            </a:r>
            <a:r>
              <a:rPr lang="en-US" altLang="ko-KR" sz="1400" b="1" dirty="0">
                <a:solidFill/>
              </a:rPr>
              <a:t>.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9BD340CB-5173-1B5D-EA14-B5423A543D49}"/>
              </a:ext>
            </a:extLst>
          </p:cNvPr>
          <p:cNvSpPr/>
          <p:nvPr/>
        </p:nvSpPr>
        <p:spPr>
          <a:xfrm>
            <a:off x="961903" y="2231961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8FF0879E-D2F7-5780-FCF1-D380B39F78D6}"/>
              </a:ext>
            </a:extLst>
          </p:cNvPr>
          <p:cNvSpPr/>
          <p:nvPr/>
        </p:nvSpPr>
        <p:spPr>
          <a:xfrm>
            <a:off x="961903" y="3085884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702F9344-EA1A-CDE0-FAEB-8E3B8AE41B34}"/>
              </a:ext>
            </a:extLst>
          </p:cNvPr>
          <p:cNvSpPr txBox="1"/>
          <p:nvPr/>
        </p:nvSpPr>
        <p:spPr>
          <a:xfrm>
            <a:off x="1206531" y="3020273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ko-KR" sz="1400" b="1" dirty="0">
                <a:solidFill/>
              </a:rPr>
              <a:t>첫 참가자</a:t>
            </a:r>
            <a:r>
              <a:rPr lang="ko-KR" altLang="en-US" sz="1400" b="1" dirty="0">
                <a:solidFill/>
              </a:rPr>
              <a:t>들이 경기에는 참여했으나</a:t>
            </a:r>
            <a:r>
              <a:rPr lang="ko-KR" altLang="ko-KR" sz="1400" b="1" dirty="0">
                <a:solidFill/>
              </a:rPr>
              <a:t>, "모르던 성도와 </a:t>
            </a:r>
            <a:r>
              <a:rPr lang="ko-KR" altLang="ko-KR" sz="1400" b="1" dirty="0" err="1">
                <a:solidFill/>
              </a:rPr>
              <a:t>가까워졌다"는</a:t>
            </a:r>
            <a:r>
              <a:rPr lang="ko-KR" altLang="ko-KR" sz="1400" b="1" dirty="0">
                <a:solidFill/>
              </a:rPr>
              <a:t> 40%에 그침(경험자 60%)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87B820C3-6550-E505-6CBF-4927B13E22EB}"/>
              </a:ext>
            </a:extLst>
          </p:cNvPr>
          <p:cNvSpPr/>
          <p:nvPr/>
        </p:nvSpPr>
        <p:spPr>
          <a:xfrm>
            <a:off x="961903" y="4402435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FC4289BF-BA1E-BA65-4618-9617FD668D10}"/>
              </a:ext>
            </a:extLst>
          </p:cNvPr>
          <p:cNvSpPr txBox="1"/>
          <p:nvPr/>
        </p:nvSpPr>
        <p:spPr>
          <a:xfrm>
            <a:off x="1206531" y="4336824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ko-KR" sz="1400" b="1" dirty="0">
                <a:solidFill/>
              </a:rPr>
              <a:t>첫 참가자의 다시 참가하려는 마음은 교우의 권유(</a:t>
            </a:r>
            <a:r>
              <a:rPr lang="en-US" altLang="ko-KR" sz="1400" b="1" dirty="0">
                <a:solidFill/>
              </a:rPr>
              <a:t>r=</a:t>
            </a:r>
            <a:r>
              <a:rPr lang="ko-KR" altLang="ko-KR" sz="1400" b="1" dirty="0">
                <a:solidFill/>
              </a:rPr>
              <a:t>.65)와 함께 움직였고, 행사 만족(</a:t>
            </a:r>
            <a:r>
              <a:rPr lang="en-US" altLang="ko-KR" sz="1400" b="1" dirty="0">
                <a:solidFill/>
              </a:rPr>
              <a:t>r=</a:t>
            </a:r>
            <a:r>
              <a:rPr lang="ko-KR" altLang="ko-KR" sz="1400" b="1" dirty="0">
                <a:solidFill/>
              </a:rPr>
              <a:t>.12)과는 거의 관련이 없었음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86874C0E-E2DF-B4DB-38A5-61A57668644A}"/>
              </a:ext>
            </a:extLst>
          </p:cNvPr>
          <p:cNvSpPr/>
          <p:nvPr/>
        </p:nvSpPr>
        <p:spPr>
          <a:xfrm>
            <a:off x="961903" y="6032761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3BABA51F-C22D-9584-169D-BAB1EE41F0F9}"/>
              </a:ext>
            </a:extLst>
          </p:cNvPr>
          <p:cNvSpPr txBox="1"/>
          <p:nvPr/>
        </p:nvSpPr>
        <p:spPr>
          <a:xfrm>
            <a:off x="1206531" y="5967150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ko-KR" sz="1400" b="1" dirty="0">
                <a:solidFill/>
              </a:rPr>
              <a:t>첫 참가자의 80%가 </a:t>
            </a:r>
            <a:r>
              <a:rPr lang="ko-KR" altLang="ko-KR" sz="1400" b="1" dirty="0" err="1">
                <a:solidFill/>
              </a:rPr>
              <a:t>준비·진행에</a:t>
            </a:r>
            <a:r>
              <a:rPr lang="ko-KR" altLang="ko-KR" sz="1400" b="1" dirty="0">
                <a:solidFill/>
              </a:rPr>
              <a:t> 함께하겠다고 응답했고, 이는 경험자(51%)보다 높음</a:t>
            </a:r>
            <a:endParaRPr lang="en-US" altLang="ko-KR" sz="1400" b="1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A399CF-FEE4-0F38-0B31-C090F94CF9DC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84C7E9-5A2A-0989-61FB-D29C7B2A9D48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EC8BA3-A061-3AFB-7EF5-C0BB6FD0B36B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E687BAB-4C88-DDE4-3956-6A6719010C9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5CCA65B-A651-457C-8C78-F0A9FFFD555D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66D0267-9261-8B4A-BF13-55751A00A207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AFB562A-D35B-1573-0A0B-39D27B8528E1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E4D7C07-46A4-E5EC-076F-84129701BF23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7594853-9EFF-83CF-0FDA-D4441844C3CC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FB842CE-5224-2BCB-7792-81518369ED6B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4F055E1-759C-E306-39C7-C60AF5181EB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BA6EF16-C058-7B28-E7FC-91B61C4401B0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 3">
            <a:extLst>
              <a:ext uri="{FF2B5EF4-FFF2-40B4-BE49-F238E27FC236}">
                <a16:creationId xmlns:a16="http://schemas.microsoft.com/office/drawing/2014/main" id="{8CEFB3C1-B6CC-B889-058C-5E64CD1C8638}"/>
              </a:ext>
            </a:extLst>
          </p:cNvPr>
          <p:cNvSpPr txBox="1"/>
          <p:nvPr/>
        </p:nvSpPr>
        <p:spPr>
          <a:xfrm>
            <a:off x="972988" y="4639836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>
                  <a:srgbClr val="D4661F"/>
                </a:solidFill>
              </a:rPr>
              <a:t>※ </a:t>
            </a:r>
            <a:r>
              <a:rPr lang="ko-KR" altLang="en-US" sz="1400" b="1" dirty="0">
                <a:solidFill>
                  <a:srgbClr val="D4661F"/>
                </a:solidFill>
              </a:rPr>
              <a:t>권유는 모든 교육에게 개인적으로</a:t>
            </a:r>
            <a:r>
              <a:rPr lang="en-US" altLang="ko-KR" sz="1400" b="1" dirty="0">
                <a:solidFill>
                  <a:srgbClr val="D4661F"/>
                </a:solidFill>
              </a:rPr>
              <a:t>, </a:t>
            </a:r>
            <a:r>
              <a:rPr lang="ko-KR" altLang="en-US" sz="1400" b="1" dirty="0">
                <a:solidFill>
                  <a:srgbClr val="D4661F"/>
                </a:solidFill>
              </a:rPr>
              <a:t>집중적으로 </a:t>
            </a:r>
            <a:r>
              <a:rPr lang="ko-KR" altLang="en-US" sz="1400" b="1" dirty="0" err="1">
                <a:solidFill>
                  <a:srgbClr val="D4661F"/>
                </a:solidFill>
              </a:rPr>
              <a:t>시행되어할</a:t>
            </a:r>
            <a:r>
              <a:rPr lang="ko-KR" altLang="en-US" sz="1400" b="1" dirty="0">
                <a:solidFill>
                  <a:srgbClr val="D4661F"/>
                </a:solidFill>
              </a:rPr>
              <a:t> 행사 참여의 의도를 높이는 가장 중요한 요인임</a:t>
            </a:r>
            <a:r>
              <a:rPr lang="en-US" altLang="ko-KR" sz="1400" b="1" dirty="0">
                <a:solidFill>
                  <a:srgbClr val="D4661F"/>
                </a:solidFill>
              </a:rPr>
              <a:t>.</a:t>
            </a:r>
            <a:endParaRPr lang="en-US" altLang="ko-KR" sz="14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  <p:sp>
        <p:nvSpPr>
          <p:cNvPr id="118" name="통계주석"/>
          <p:cNvSpPr txBox="1"/>
          <p:nvPr/>
        </p:nvSpPr>
        <p:spPr>
          <a:xfrm>
            <a:off x="6035040" y="4032504"/>
            <a:ext cx="58521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r(상관계수) : 두 값이 함께 움직이는 정도, 1에 가까울수록 강함 (.65 높음 · .12 거의 없음)</a:t>
            </a:r>
          </a:p>
        </p:txBody>
      </p:sp>
      <p:cxnSp>
        <p:nvCxnSpPr>
          <p:cNvPr id="119" name="통계주석 화살표"/>
          <p:cNvCxnSpPr/>
          <p:nvPr/>
        </p:nvCxnSpPr>
        <p:spPr>
          <a:xfrm flipH="1">
            <a:off x="5532120" y="4242816"/>
            <a:ext cx="576072" cy="14630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022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10314-A565-8181-03C7-1F9F12E8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09BB7B57-2464-FCFF-733F-71F045182E7E}"/>
              </a:ext>
            </a:extLst>
          </p:cNvPr>
          <p:cNvSpPr txBox="1"/>
          <p:nvPr/>
        </p:nvSpPr>
        <p:spPr>
          <a:xfrm>
            <a:off x="838402" y="993120"/>
            <a:ext cx="457829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2000" b="1" dirty="0">
                <a:solidFill/>
                <a:latin typeface="맑은 고딕"/>
                <a:ea typeface="+mj-ea"/>
              </a:rPr>
              <a:t>S-O-R 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모형으로 본 체육대회 설문 분석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809560E-0AD6-A57A-028B-F4F32935D106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1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F2DAA820-8D86-91C8-D6A8-768E66D4B337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(1/6)</a:t>
            </a:r>
            <a:endParaRPr lang="ko-KR" altLang="en-US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6736412-EA29-6882-774C-02F7E5DBFDBC}"/>
              </a:ext>
            </a:extLst>
          </p:cNvPr>
          <p:cNvSpPr/>
          <p:nvPr/>
        </p:nvSpPr>
        <p:spPr>
          <a:xfrm>
            <a:off x="760021" y="1550088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E6A6680-37FB-EAA5-AF4F-F49B065AD623}"/>
              </a:ext>
            </a:extLst>
          </p:cNvPr>
          <p:cNvSpPr txBox="1"/>
          <p:nvPr/>
        </p:nvSpPr>
        <p:spPr>
          <a:xfrm>
            <a:off x="978921" y="1486664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S-O-R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모형이란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?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38F63F-36A1-34BD-9327-F59177960669}"/>
              </a:ext>
            </a:extLst>
          </p:cNvPr>
          <p:cNvSpPr/>
          <p:nvPr/>
        </p:nvSpPr>
        <p:spPr>
          <a:xfrm>
            <a:off x="898563" y="1785610"/>
            <a:ext cx="11091148" cy="615883"/>
          </a:xfrm>
          <a:prstGeom prst="rect">
            <a:avLst/>
          </a:prstGeom>
          <a:solidFill>
            <a:srgbClr val="E2F4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</a:rPr>
              <a:t>ㆍ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S-O-R(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자극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-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유기체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-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반응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) 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모형 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: 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바깥 환경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(S)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이 마음속 평가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(O)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를 바꾸고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, 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그것이 행동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(R)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을 이끌어 낸다는 이론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.  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93B4C"/>
                </a:solidFill>
                <a:latin typeface="맑은 고딕"/>
              </a:rPr>
              <a:t>ㆍ심리학자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 </a:t>
            </a:r>
            <a:r>
              <a:rPr lang="ko-KR" altLang="en-US" sz="1200" b="1" dirty="0" err="1">
                <a:solidFill>
                  <a:srgbClr val="293B4C"/>
                </a:solidFill>
                <a:latin typeface="맑은 고딕"/>
              </a:rPr>
              <a:t>우드워스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(Woodworth, 1929), </a:t>
            </a:r>
            <a:r>
              <a:rPr lang="ko-KR" altLang="en-US" sz="1200" b="1" dirty="0" err="1">
                <a:solidFill>
                  <a:srgbClr val="293B4C"/>
                </a:solidFill>
                <a:latin typeface="맑은 고딕"/>
              </a:rPr>
              <a:t>메라비언과</a:t>
            </a:r>
            <a:r>
              <a:rPr lang="ko-KR" altLang="en-US" sz="1200" b="1" dirty="0">
                <a:solidFill>
                  <a:srgbClr val="293B4C"/>
                </a:solidFill>
                <a:latin typeface="맑은 고딕"/>
              </a:rPr>
              <a:t> 러셀</a:t>
            </a:r>
            <a:r>
              <a:rPr lang="en-US" altLang="ko-KR" sz="1200" b="1" dirty="0">
                <a:solidFill>
                  <a:srgbClr val="293B4C"/>
                </a:solidFill>
                <a:latin typeface="맑은 고딕"/>
              </a:rPr>
              <a:t>(Mehrabian &amp; Russell, 1974)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54589C9-AE5B-6D56-B520-76990F37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64" y="2575702"/>
            <a:ext cx="6482244" cy="1574269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0C526F0E-4524-93F6-AECF-671E18EC2B0E}"/>
              </a:ext>
            </a:extLst>
          </p:cNvPr>
          <p:cNvSpPr/>
          <p:nvPr/>
        </p:nvSpPr>
        <p:spPr>
          <a:xfrm>
            <a:off x="760021" y="4510625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F0BC50F-1B36-161A-5C7A-1ECA7C7D769C}"/>
              </a:ext>
            </a:extLst>
          </p:cNvPr>
          <p:cNvSpPr txBox="1"/>
          <p:nvPr/>
        </p:nvSpPr>
        <p:spPr>
          <a:xfrm>
            <a:off x="987121" y="4447205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S-O-R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설명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808B8E7E-ECA9-7D24-A4CA-EA8A120375C2}"/>
              </a:ext>
            </a:extLst>
          </p:cNvPr>
          <p:cNvSpPr/>
          <p:nvPr/>
        </p:nvSpPr>
        <p:spPr>
          <a:xfrm>
            <a:off x="961903" y="481283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458873C2-ADB0-3BF9-0816-3F75511D0A45}"/>
              </a:ext>
            </a:extLst>
          </p:cNvPr>
          <p:cNvSpPr txBox="1"/>
          <p:nvPr/>
        </p:nvSpPr>
        <p:spPr>
          <a:xfrm>
            <a:off x="1206531" y="474721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S </a:t>
            </a:r>
            <a:r>
              <a:rPr lang="ko-KR" altLang="en-US" sz="1400" b="1" dirty="0">
                <a:solidFill/>
              </a:rPr>
              <a:t>자극</a:t>
            </a:r>
            <a:r>
              <a:rPr lang="en-US" altLang="ko-KR" sz="1400" b="1" dirty="0">
                <a:solidFill/>
              </a:rPr>
              <a:t>(Stimulus) : </a:t>
            </a:r>
            <a:r>
              <a:rPr lang="ko-KR" altLang="en-US" sz="1400" b="1" dirty="0">
                <a:solidFill/>
              </a:rPr>
              <a:t>사람 밖에서 주어지는 모든 환경 요인으로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시설</a:t>
            </a:r>
            <a:r>
              <a:rPr lang="en-US" altLang="ko-KR" sz="1400" b="1" dirty="0">
                <a:solidFill/>
              </a:rPr>
              <a:t>·</a:t>
            </a:r>
            <a:r>
              <a:rPr lang="ko-KR" altLang="en-US" sz="1400" b="1" dirty="0">
                <a:solidFill/>
              </a:rPr>
              <a:t>시간</a:t>
            </a:r>
            <a:r>
              <a:rPr lang="en-US" altLang="ko-KR" sz="1400" b="1" dirty="0">
                <a:solidFill/>
              </a:rPr>
              <a:t>·</a:t>
            </a:r>
            <a:r>
              <a:rPr lang="ko-KR" altLang="en-US" sz="1400" b="1" dirty="0">
                <a:solidFill/>
              </a:rPr>
              <a:t>프로그램 같은 물리적 환경뿐 아니라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주변 사람의 권유 같은 </a:t>
            </a:r>
            <a:endParaRPr lang="en-US" altLang="ko-KR" sz="1400" b="1" dirty="0"/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                         </a:t>
            </a:r>
            <a:r>
              <a:rPr lang="ko-KR" altLang="en-US" sz="1400" b="1" dirty="0">
                <a:solidFill/>
              </a:rPr>
              <a:t>사회적 환경도 포함</a:t>
            </a:r>
            <a:r>
              <a:rPr lang="en-US" altLang="ko-KR" sz="1400" b="1" dirty="0">
                <a:solidFill/>
              </a:rPr>
              <a:t>.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1FE04B85-A434-FE7F-3610-6CE9FD322099}"/>
              </a:ext>
            </a:extLst>
          </p:cNvPr>
          <p:cNvSpPr/>
          <p:nvPr/>
        </p:nvSpPr>
        <p:spPr>
          <a:xfrm>
            <a:off x="961903" y="535408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B32AED4E-1288-B9F2-A0CC-F33670AFC34B}"/>
              </a:ext>
            </a:extLst>
          </p:cNvPr>
          <p:cNvSpPr txBox="1"/>
          <p:nvPr/>
        </p:nvSpPr>
        <p:spPr>
          <a:xfrm>
            <a:off x="1206531" y="528846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O </a:t>
            </a:r>
            <a:r>
              <a:rPr lang="ko-KR" altLang="en-US" sz="1400" b="1" dirty="0">
                <a:solidFill/>
              </a:rPr>
              <a:t>유기체</a:t>
            </a:r>
            <a:r>
              <a:rPr lang="en-US" altLang="ko-KR" sz="1400" b="1" dirty="0">
                <a:solidFill/>
              </a:rPr>
              <a:t>(Organism) : </a:t>
            </a:r>
            <a:r>
              <a:rPr lang="ko-KR" altLang="en-US" sz="1400" b="1" dirty="0">
                <a:solidFill/>
              </a:rPr>
              <a:t>자극을 받은 사람 안에서 일어나는 평가와 감정으로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자극이 곧바로 행동이 되지 않고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이 마음속 단계를  </a:t>
            </a:r>
            <a:endParaRPr lang="en-US" altLang="ko-KR" sz="1400" b="1" dirty="0"/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                              </a:t>
            </a:r>
            <a:r>
              <a:rPr lang="ko-KR" altLang="en-US" sz="1400" b="1" dirty="0">
                <a:solidFill/>
              </a:rPr>
              <a:t>거친다는 점이 모형의 핵심임</a:t>
            </a:r>
            <a:r>
              <a:rPr lang="en-US" altLang="ko-KR" sz="1400" b="1" dirty="0">
                <a:solidFill/>
              </a:rPr>
              <a:t>.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E78F690E-C196-552D-FF56-55906FF610C8}"/>
              </a:ext>
            </a:extLst>
          </p:cNvPr>
          <p:cNvSpPr/>
          <p:nvPr/>
        </p:nvSpPr>
        <p:spPr>
          <a:xfrm>
            <a:off x="961903" y="592913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466D244F-ABF9-DF7D-F783-5A6EC721D5FB}"/>
              </a:ext>
            </a:extLst>
          </p:cNvPr>
          <p:cNvSpPr txBox="1"/>
          <p:nvPr/>
        </p:nvSpPr>
        <p:spPr>
          <a:xfrm>
            <a:off x="1206531" y="586351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R </a:t>
            </a:r>
            <a:r>
              <a:rPr lang="ko-KR" altLang="en-US" sz="1400" b="1" dirty="0">
                <a:solidFill/>
              </a:rPr>
              <a:t>반응</a:t>
            </a:r>
            <a:r>
              <a:rPr lang="en-US" altLang="ko-KR" sz="1400" b="1" dirty="0">
                <a:solidFill/>
              </a:rPr>
              <a:t>(Response) : </a:t>
            </a:r>
            <a:r>
              <a:rPr lang="ko-KR" altLang="en-US" sz="1400" b="1" dirty="0">
                <a:solidFill/>
              </a:rPr>
              <a:t>그 결과 나타나는 행동이나 의도이며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다시 오고 싶고 남에게 권하는 접근 반응과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피하고 </a:t>
            </a:r>
            <a:r>
              <a:rPr lang="ko-KR" altLang="en-US" sz="1400" b="1" dirty="0" err="1">
                <a:solidFill/>
              </a:rPr>
              <a:t>싶어지는</a:t>
            </a:r>
            <a:r>
              <a:rPr lang="ko-KR" altLang="en-US" sz="1400" b="1" dirty="0">
                <a:solidFill/>
              </a:rPr>
              <a:t> 회피</a:t>
            </a:r>
            <a:endParaRPr lang="en-US" altLang="ko-KR" sz="1400" b="1" dirty="0"/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solidFill/>
              </a:rPr>
              <a:t>                          </a:t>
            </a:r>
            <a:r>
              <a:rPr lang="ko-KR" altLang="en-US" sz="1400" b="1" dirty="0">
                <a:solidFill/>
              </a:rPr>
              <a:t>반응으로 구분</a:t>
            </a:r>
            <a:r>
              <a:rPr lang="en-US" altLang="ko-KR" sz="1400" b="1" dirty="0">
                <a:solidFill/>
              </a:rPr>
              <a:t>.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BC987DF-4DC5-C434-8C12-D079DFE938F8}"/>
              </a:ext>
            </a:extLst>
          </p:cNvPr>
          <p:cNvSpPr/>
          <p:nvPr/>
        </p:nvSpPr>
        <p:spPr>
          <a:xfrm>
            <a:off x="7517381" y="2616604"/>
            <a:ext cx="4472330" cy="1495846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rgbClr val="3333FF"/>
                </a:solidFill>
              </a:rPr>
              <a:t>왜 </a:t>
            </a:r>
            <a:r>
              <a:rPr lang="en-US" altLang="ko-KR" sz="1400" b="1" dirty="0">
                <a:solidFill>
                  <a:srgbClr val="3333FF"/>
                </a:solidFill>
              </a:rPr>
              <a:t>S-O-R </a:t>
            </a:r>
            <a:r>
              <a:rPr lang="ko-KR" altLang="en-US" sz="1400" b="1" dirty="0">
                <a:solidFill>
                  <a:srgbClr val="3333FF"/>
                </a:solidFill>
              </a:rPr>
              <a:t>모형을 선택하였는가</a:t>
            </a:r>
            <a:r>
              <a:rPr lang="en-US" altLang="ko-KR" sz="1400" b="1" dirty="0">
                <a:solidFill>
                  <a:srgbClr val="3333FF"/>
                </a:solidFill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rgbClr val="293B4C"/>
                </a:solidFill>
              </a:rPr>
              <a:t>이 모형은 행사가 끝난 뒤의 경험을 파악하는데 적합함</a:t>
            </a:r>
            <a:r>
              <a:rPr lang="en-US" altLang="ko-KR" sz="1200" b="1" dirty="0">
                <a:solidFill>
                  <a:srgbClr val="293B4C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rgbClr val="293B4C"/>
                </a:solidFill>
              </a:rPr>
              <a:t>설문으로 체육대회 후 무엇이 좋았고</a:t>
            </a:r>
            <a:r>
              <a:rPr lang="en-US" altLang="ko-KR" sz="1200" b="1" dirty="0">
                <a:solidFill>
                  <a:srgbClr val="293B4C"/>
                </a:solidFill>
              </a:rPr>
              <a:t>(S),  </a:t>
            </a:r>
            <a:r>
              <a:rPr lang="ko-KR" altLang="en-US" sz="1200" b="1" dirty="0">
                <a:solidFill>
                  <a:srgbClr val="293B4C"/>
                </a:solidFill>
              </a:rPr>
              <a:t>어떻게 느꼈으며</a:t>
            </a:r>
            <a:r>
              <a:rPr lang="en-US" altLang="ko-KR" sz="1200" b="1" dirty="0">
                <a:solidFill>
                  <a:srgbClr val="293B4C"/>
                </a:solidFill>
              </a:rPr>
              <a:t>(O), </a:t>
            </a:r>
            <a:r>
              <a:rPr lang="ko-KR" altLang="en-US" sz="1200" b="1" dirty="0">
                <a:solidFill>
                  <a:srgbClr val="293B4C"/>
                </a:solidFill>
              </a:rPr>
              <a:t>그래서 다음에 어떻게 하겠는가</a:t>
            </a:r>
            <a:r>
              <a:rPr lang="en-US" altLang="ko-KR" sz="1200" b="1" dirty="0">
                <a:solidFill>
                  <a:srgbClr val="293B4C"/>
                </a:solidFill>
              </a:rPr>
              <a:t>(R)</a:t>
            </a:r>
            <a:r>
              <a:rPr lang="ko-KR" altLang="en-US" sz="1200" b="1" dirty="0">
                <a:solidFill>
                  <a:srgbClr val="293B4C"/>
                </a:solidFill>
              </a:rPr>
              <a:t>를 한 흐름으로 알 수 있음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1CBD90-C1CD-E7DC-30DF-6F0B01B2EC0E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FBA7F51-AA90-E308-E352-EA7D0537F36E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4B4836-E2B0-EBC7-6F1E-3C8D9CCCD475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CF52F31-7BBC-D614-B140-2CBE56F74C84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CD1DDF1-E98F-9975-DB9D-9045C1913B31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8A319DA-AA32-2110-154E-53CF3B02DDC1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5D5000-FA0F-35DF-D0D5-804048152E32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5EBA32E-02A6-255A-B1FD-CABB12588475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C12C70-3A8E-4911-BB54-3EC42565ECD9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F51404-D27E-8B38-83E0-F9D4FF7AFDDD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5599DD3-2687-5011-F60D-2F5CB6D9141D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6BF8344-5811-4C22-BE94-FAB395E34EC3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546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770B8-7D86-306D-873E-EADA8FF8A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AB092A29-1FB8-D4CC-2437-0521361A85D7}"/>
              </a:ext>
            </a:extLst>
          </p:cNvPr>
          <p:cNvSpPr txBox="1"/>
          <p:nvPr/>
        </p:nvSpPr>
        <p:spPr>
          <a:xfrm>
            <a:off x="838402" y="993120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자극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(S</a:t>
            </a:r>
            <a:r>
              <a:rPr lang="en-US" altLang="ko-KR" sz="2000" b="1" dirty="0">
                <a:solidFill/>
              </a:rPr>
              <a:t>timulus) : </a:t>
            </a:r>
            <a:r>
              <a:rPr lang="ko-KR" altLang="en-US" sz="2000" b="1" dirty="0">
                <a:solidFill/>
              </a:rPr>
              <a:t>체육대회 환경은 어떠했나</a:t>
            </a:r>
            <a:r>
              <a:rPr lang="en-US" altLang="ko-KR" sz="2000" b="1" dirty="0">
                <a:solidFill/>
              </a:rPr>
              <a:t>?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3776941-205A-E241-CE31-0C7D721BBD2C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2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77A15BAC-D8C0-CF14-F1EA-8463BE13A6D2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(2/6)</a:t>
            </a:r>
            <a:endParaRPr lang="ko-KR" altLang="en-US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43438C9-1D21-9941-F763-46EB57A05954}"/>
              </a:ext>
            </a:extLst>
          </p:cNvPr>
          <p:cNvSpPr/>
          <p:nvPr/>
        </p:nvSpPr>
        <p:spPr>
          <a:xfrm>
            <a:off x="760021" y="149863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3FE31A1-479B-03B1-8DC8-41A0CE2CF1B8}"/>
              </a:ext>
            </a:extLst>
          </p:cNvPr>
          <p:cNvSpPr txBox="1"/>
          <p:nvPr/>
        </p:nvSpPr>
        <p:spPr>
          <a:xfrm>
            <a:off x="978921" y="143521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행사 환경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5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개 요소 중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4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개 요소가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4.4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점 이상으로 높게 평가됨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3AADA36-934D-2FAF-57FE-AABDC156EDC4}"/>
              </a:ext>
            </a:extLst>
          </p:cNvPr>
          <p:cNvSpPr/>
          <p:nvPr/>
        </p:nvSpPr>
        <p:spPr>
          <a:xfrm>
            <a:off x="760021" y="1846185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2FA13FD-07FD-2035-B3A5-685672984DEE}"/>
              </a:ext>
            </a:extLst>
          </p:cNvPr>
          <p:cNvSpPr txBox="1"/>
          <p:nvPr/>
        </p:nvSpPr>
        <p:spPr>
          <a:xfrm>
            <a:off x="978921" y="1782765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식사만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3.84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점으로 낮고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특히 배식 방법과 식사장소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3.57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점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식사량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3.85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점으로 낮게 나타남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F32D0CE-8A3B-432C-9F56-BE012B4954E1}"/>
              </a:ext>
            </a:extLst>
          </p:cNvPr>
          <p:cNvSpPr/>
          <p:nvPr/>
        </p:nvSpPr>
        <p:spPr>
          <a:xfrm>
            <a:off x="760021" y="2451000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EFCED9-9DA4-F843-73A7-363452E33AF8}"/>
              </a:ext>
            </a:extLst>
          </p:cNvPr>
          <p:cNvSpPr txBox="1"/>
          <p:nvPr/>
        </p:nvSpPr>
        <p:spPr>
          <a:xfrm>
            <a:off x="978921" y="2387580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사회적 환경인 권유의 영향은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3.6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점 안팎으로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사람마다 차이가 큼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표준편차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1.2)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330778-5C65-BAD3-C48D-46C1DEE97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84" y="2943212"/>
            <a:ext cx="5574923" cy="3215582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1027B40-84B0-51E7-DE03-173A3863E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296740"/>
              </p:ext>
            </p:extLst>
          </p:nvPr>
        </p:nvGraphicFramePr>
        <p:xfrm>
          <a:off x="6593521" y="2943211"/>
          <a:ext cx="5461500" cy="3207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2691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524857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3193952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64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건 수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64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전 세대가 함께하는 종목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18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어르신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유치부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아동부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청년이 함께할 경기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 1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인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경기 참여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오후 아동 프로그램 부족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64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식사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배식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9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배식 불편과 밥 양 부족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배식 봉사자의 경기 불참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—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도시락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출장뷔페 제안 다수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  <a:tr h="64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진행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운영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7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경품 추첨 소요 시간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일정표 게시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응원 점수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사전 종목 설문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임원 참석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2919"/>
                  </a:ext>
                </a:extLst>
              </a:tr>
              <a:tr h="64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감사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만족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12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질서 있는 진행과 준비 위원 수고에 대한 감사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23698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DCEAFCC5-D9F8-EC0E-0AFD-03A58E36F70E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6B87B14-EDDB-7341-241A-6CE16CCBC98C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087C84F-ED9A-EC8F-C994-8929C9CD3FFE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D857285-CF17-71F5-F9DC-36256B499B4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9032080-71F0-A8F3-E775-6804C4B5783A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F47326E-82DF-7429-21B4-E0C68E42891C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8CCCEB2-AD4F-DB0B-F335-0DBF797466F6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D3BF3BD-CA29-B39C-3D05-6FB1318E5F27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7B721E0-555A-E9B3-218D-0EBBAC060B80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FD01865-D203-7952-B2BE-68B6D8B53190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5D6F1A5-339E-ECBF-2675-60A040311FD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B8FF78D-BA99-8596-8CFA-0C593D9A81F7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6D45F3-C14E-469D-6E82-28A617F22194}"/>
              </a:ext>
            </a:extLst>
          </p:cNvPr>
          <p:cNvSpPr txBox="1"/>
          <p:nvPr/>
        </p:nvSpPr>
        <p:spPr>
          <a:xfrm>
            <a:off x="853038" y="6220188"/>
            <a:ext cx="11354789" cy="27699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ko-KR" altLang="ko-KR" sz="1200" b="1" dirty="0">
                <a:solidFill>
                  <a:srgbClr val="D4661F"/>
                </a:solidFill>
                <a:ea typeface="+mj-ea"/>
              </a:rPr>
              <a:t>※ ‘모르던 성도와 </a:t>
            </a:r>
            <a:r>
              <a:rPr lang="ko-KR" altLang="ko-KR" sz="1200" b="1" dirty="0" err="1">
                <a:solidFill>
                  <a:srgbClr val="D4661F"/>
                </a:solidFill>
                <a:ea typeface="+mj-ea"/>
              </a:rPr>
              <a:t>가까워졌다’는</a:t>
            </a:r>
            <a:r>
              <a:rPr lang="ko-KR" altLang="ko-KR" sz="1200" b="1" dirty="0">
                <a:solidFill>
                  <a:srgbClr val="D4661F"/>
                </a:solidFill>
                <a:ea typeface="+mj-ea"/>
              </a:rPr>
              <a:t> 단일 문항 기준 54%(평균 3.74), </a:t>
            </a:r>
            <a:r>
              <a:rPr lang="ko-KR" altLang="ko-KR" sz="1200" b="1" dirty="0" err="1">
                <a:solidFill>
                  <a:srgbClr val="D4661F"/>
                </a:solidFill>
                <a:ea typeface="+mj-ea"/>
              </a:rPr>
              <a:t>교제·단합력은</a:t>
            </a:r>
            <a:r>
              <a:rPr lang="ko-KR" altLang="ko-KR" sz="1200" b="1" dirty="0">
                <a:solidFill>
                  <a:srgbClr val="D4661F"/>
                </a:solidFill>
                <a:ea typeface="+mj-ea"/>
              </a:rPr>
              <a:t> 3문항 척도 평균 3.83 — 서로 다른 기준임</a:t>
            </a:r>
            <a:endParaRPr lang="ko-KR" altLang="en-US" sz="1200" b="1" dirty="0">
              <a:solidFill>
                <a:srgbClr val="D4661F"/>
              </a:solidFill>
              <a:ea typeface="+mj-ea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AB9F781-D0D9-1F7E-FFB4-8F5882B74AD3}"/>
              </a:ext>
            </a:extLst>
          </p:cNvPr>
          <p:cNvSpPr txBox="1"/>
          <p:nvPr/>
        </p:nvSpPr>
        <p:spPr>
          <a:xfrm>
            <a:off x="972988" y="2070838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>
                  <a:srgbClr val="D4661F"/>
                </a:solidFill>
              </a:rPr>
              <a:t>※ </a:t>
            </a:r>
            <a:r>
              <a:rPr lang="ko-KR" altLang="en-US" sz="1400" b="1" dirty="0">
                <a:solidFill>
                  <a:srgbClr val="D4661F"/>
                </a:solidFill>
              </a:rPr>
              <a:t>잉여 반찬 발생으로</a:t>
            </a:r>
            <a:r>
              <a:rPr lang="en-US" altLang="ko-KR" sz="1400" b="1" dirty="0">
                <a:solidFill>
                  <a:srgbClr val="D4661F"/>
                </a:solidFill>
              </a:rPr>
              <a:t>, </a:t>
            </a:r>
            <a:r>
              <a:rPr lang="ko-KR" altLang="en-US" sz="1400" b="1" dirty="0">
                <a:solidFill>
                  <a:srgbClr val="D4661F"/>
                </a:solidFill>
              </a:rPr>
              <a:t>차주 점심 메뉴로 배정 </a:t>
            </a:r>
            <a:r>
              <a:rPr lang="en-US" altLang="ko-KR" sz="1400" b="1" dirty="0">
                <a:solidFill>
                  <a:srgbClr val="D4661F"/>
                </a:solidFill>
              </a:rPr>
              <a:t>/ </a:t>
            </a:r>
            <a:r>
              <a:rPr lang="ko-KR" altLang="en-US" sz="1400" b="1" dirty="0" err="1">
                <a:solidFill>
                  <a:srgbClr val="D4661F"/>
                </a:solidFill>
              </a:rPr>
              <a:t>배식됨</a:t>
            </a:r>
            <a:r>
              <a:rPr lang="ko-KR" altLang="en-US" sz="1400" b="1" dirty="0">
                <a:solidFill>
                  <a:srgbClr val="D4661F"/>
                </a:solidFill>
              </a:rPr>
              <a:t> </a:t>
            </a:r>
            <a:r>
              <a:rPr lang="en-US" altLang="ko-KR" sz="1400" b="1" dirty="0">
                <a:solidFill>
                  <a:srgbClr val="D4661F"/>
                </a:solidFill>
              </a:rPr>
              <a:t>.</a:t>
            </a:r>
            <a:endParaRPr lang="en-US" altLang="ko-KR" sz="14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18235854-D76C-8EFB-BE49-56EA8C1F819B}"/>
              </a:ext>
            </a:extLst>
          </p:cNvPr>
          <p:cNvSpPr txBox="1"/>
          <p:nvPr/>
        </p:nvSpPr>
        <p:spPr>
          <a:xfrm>
            <a:off x="972988" y="2648266"/>
            <a:ext cx="1050844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ko-KR" sz="1400" b="1" dirty="0">
                <a:solidFill>
                  <a:srgbClr val="D4661F"/>
                </a:solidFill>
              </a:rPr>
              <a:t>※ </a:t>
            </a:r>
            <a:r>
              <a:rPr lang="ko-KR" altLang="en-US" sz="1400" b="1" dirty="0">
                <a:solidFill>
                  <a:srgbClr val="D4661F"/>
                </a:solidFill>
              </a:rPr>
              <a:t>표준편차가 크다는  뜻 </a:t>
            </a:r>
            <a:r>
              <a:rPr lang="en-US" altLang="ko-KR" sz="1400" b="1" dirty="0">
                <a:solidFill>
                  <a:srgbClr val="D4661F"/>
                </a:solidFill>
              </a:rPr>
              <a:t>: “</a:t>
            </a:r>
            <a:r>
              <a:rPr lang="ko-KR" altLang="en-US" sz="1400" b="1" dirty="0">
                <a:solidFill>
                  <a:srgbClr val="D4661F"/>
                </a:solidFill>
              </a:rPr>
              <a:t>사람마다 권유 받은 횟수에 의한  배려의 느낌 정도가 크다</a:t>
            </a:r>
            <a:r>
              <a:rPr lang="en-US" altLang="ko-KR" sz="1400" b="1" dirty="0">
                <a:solidFill>
                  <a:srgbClr val="D4661F"/>
                </a:solidFill>
              </a:rPr>
              <a:t>”(A  0</a:t>
            </a:r>
            <a:r>
              <a:rPr lang="ko-KR" altLang="en-US" sz="1400" b="1" dirty="0">
                <a:solidFill>
                  <a:srgbClr val="D4661F"/>
                </a:solidFill>
              </a:rPr>
              <a:t>회 </a:t>
            </a:r>
            <a:r>
              <a:rPr lang="en-US" altLang="ko-KR" sz="1400" b="1" dirty="0">
                <a:solidFill>
                  <a:srgbClr val="D4661F"/>
                </a:solidFill>
              </a:rPr>
              <a:t>~ B 5</a:t>
            </a:r>
            <a:r>
              <a:rPr lang="ko-KR" altLang="en-US" sz="1400" b="1" dirty="0">
                <a:solidFill>
                  <a:srgbClr val="D4661F"/>
                </a:solidFill>
              </a:rPr>
              <a:t>회 이상</a:t>
            </a:r>
            <a:r>
              <a:rPr lang="en-US" altLang="ko-KR" sz="1400" b="1" dirty="0">
                <a:solidFill>
                  <a:srgbClr val="D4661F"/>
                </a:solidFill>
              </a:rPr>
              <a:t>)</a:t>
            </a:r>
            <a:endParaRPr lang="en-US" altLang="ko-KR" sz="14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7926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0BA0B-B15A-E954-77DA-CFF7D8E8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CD34B8CA-28BD-646D-1BC0-944BBB34F4EF}"/>
              </a:ext>
            </a:extLst>
          </p:cNvPr>
          <p:cNvSpPr txBox="1"/>
          <p:nvPr/>
        </p:nvSpPr>
        <p:spPr>
          <a:xfrm>
            <a:off x="838402" y="993120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유기체</a:t>
            </a:r>
            <a:r>
              <a:rPr lang="en-US" altLang="ko-KR" sz="2000" b="1" dirty="0">
                <a:solidFill/>
              </a:rPr>
              <a:t>(Organism) : </a:t>
            </a:r>
            <a:r>
              <a:rPr lang="ko-KR" altLang="en-US" sz="2000" b="1" dirty="0">
                <a:solidFill/>
              </a:rPr>
              <a:t>성도들은 어떻게 느꼈나</a:t>
            </a:r>
            <a:r>
              <a:rPr lang="en-US" altLang="ko-KR" sz="2000" b="1" dirty="0">
                <a:solidFill/>
              </a:rPr>
              <a:t>?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172186B-9D7C-1978-8AD9-8392845F1CD2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3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50F25C7A-46F0-0046-E3AC-DCB8D7242B0D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(3/6)</a:t>
            </a:r>
            <a:endParaRPr lang="ko-KR" altLang="en-US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1B8F8CE-456B-CC7F-8EEF-D5F3188FAFAF}"/>
              </a:ext>
            </a:extLst>
          </p:cNvPr>
          <p:cNvSpPr/>
          <p:nvPr/>
        </p:nvSpPr>
        <p:spPr>
          <a:xfrm>
            <a:off x="760021" y="1463000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2453E15-7AF1-9E3E-E96F-CD672E19D3FD}"/>
              </a:ext>
            </a:extLst>
          </p:cNvPr>
          <p:cNvSpPr txBox="1"/>
          <p:nvPr/>
        </p:nvSpPr>
        <p:spPr>
          <a:xfrm>
            <a:off x="978921" y="143124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행사 자체에 대한 만족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(4.50)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이 가장 높았고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신앙공동체 활동으로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의미있다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(4.25)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는 인식도 높게 나타남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2408403-15FF-488C-7FA9-C4FC4A0EC4E9}"/>
              </a:ext>
            </a:extLst>
          </p:cNvPr>
          <p:cNvSpPr/>
          <p:nvPr/>
        </p:nvSpPr>
        <p:spPr>
          <a:xfrm>
            <a:off x="760021" y="177519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646F072-D50E-C491-70E4-2C1005982304}"/>
              </a:ext>
            </a:extLst>
          </p:cNvPr>
          <p:cNvSpPr txBox="1"/>
          <p:nvPr/>
        </p:nvSpPr>
        <p:spPr>
          <a:xfrm>
            <a:off x="978921" y="1711772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반면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교제ㆍ단합력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(3.83)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은 상대적으로 낮아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“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좋은 행사였지만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,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평소 모르던 성도와 </a:t>
            </a:r>
            <a:r>
              <a:rPr lang="ko-KR" altLang="en-US" sz="1600" b="1" dirty="0" err="1">
                <a:solidFill>
                  <a:srgbClr val="293B4C"/>
                </a:solidFill>
                <a:latin typeface="맑은 고딕"/>
                <a:ea typeface="+mj-ea"/>
              </a:rPr>
              <a:t>가까워지기까지는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 부족했다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＂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는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D54786-F7B3-A420-B439-E870465CB9B1}"/>
              </a:ext>
            </a:extLst>
          </p:cNvPr>
          <p:cNvSpPr txBox="1"/>
          <p:nvPr/>
        </p:nvSpPr>
        <p:spPr>
          <a:xfrm>
            <a:off x="978921" y="202619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평가로 판단됨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.</a:t>
            </a:r>
            <a:endParaRPr lang="en-US" sz="10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135222-BBD3-4AC7-BE56-6ECBC06D9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01" y="2335973"/>
            <a:ext cx="10948199" cy="1390058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7650913A-2967-DEA0-8081-0944C56066B3}"/>
              </a:ext>
            </a:extLst>
          </p:cNvPr>
          <p:cNvSpPr/>
          <p:nvPr/>
        </p:nvSpPr>
        <p:spPr>
          <a:xfrm>
            <a:off x="760021" y="3940609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1807832-7160-E8E0-39FF-17629A084218}"/>
              </a:ext>
            </a:extLst>
          </p:cNvPr>
          <p:cNvSpPr txBox="1"/>
          <p:nvPr/>
        </p:nvSpPr>
        <p:spPr>
          <a:xfrm>
            <a:off x="978921" y="387718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행사 환경이 성도들의 만족을 만들었나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? –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지지</a:t>
            </a:r>
            <a:r>
              <a:rPr lang="en-US" altLang="ko-KR" sz="1600" b="1" dirty="0">
                <a:solidFill>
                  <a:srgbClr val="28759E"/>
                </a:solidFill>
                <a:latin typeface="맑은 고딕"/>
                <a:ea typeface="+mj-ea"/>
              </a:rPr>
              <a:t>(YES)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8793ECE-033F-1FDB-3710-83631681B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16134"/>
              </p:ext>
            </p:extLst>
          </p:nvPr>
        </p:nvGraphicFramePr>
        <p:xfrm>
          <a:off x="978921" y="4166635"/>
          <a:ext cx="10904178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7363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1817363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1817363">
                  <a:extLst>
                    <a:ext uri="{9D8B030D-6E8A-4147-A177-3AD203B41FA5}">
                      <a16:colId xmlns:a16="http://schemas.microsoft.com/office/drawing/2014/main" val="2190716265"/>
                    </a:ext>
                  </a:extLst>
                </a:gridCol>
                <a:gridCol w="1817363">
                  <a:extLst>
                    <a:ext uri="{9D8B030D-6E8A-4147-A177-3AD203B41FA5}">
                      <a16:colId xmlns:a16="http://schemas.microsoft.com/office/drawing/2014/main" val="2271349455"/>
                    </a:ext>
                  </a:extLst>
                </a:gridCol>
                <a:gridCol w="1817363">
                  <a:extLst>
                    <a:ext uri="{9D8B030D-6E8A-4147-A177-3AD203B41FA5}">
                      <a16:colId xmlns:a16="http://schemas.microsoft.com/office/drawing/2014/main" val="3331380587"/>
                    </a:ext>
                  </a:extLst>
                </a:gridCol>
                <a:gridCol w="1817363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S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자극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t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p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모형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시 설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.38*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2.27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.029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4.61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R² = 0.75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F = 24.15***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시 간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.32†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1.84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.074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프로그램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종목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 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운영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.12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0.66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.511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5.40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2919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식 사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0.90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.372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23698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경 품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0.61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.542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898996"/>
                  </a:ext>
                </a:extLst>
              </a:tr>
            </a:tbl>
          </a:graphicData>
        </a:graphic>
      </p:graphicFrame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4B85EF8-0615-27B1-1B6A-54E94107D404}"/>
              </a:ext>
            </a:extLst>
          </p:cNvPr>
          <p:cNvSpPr/>
          <p:nvPr/>
        </p:nvSpPr>
        <p:spPr>
          <a:xfrm>
            <a:off x="961903" y="581052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BA955D7D-9997-5E0A-7F77-987BC48CFDBB}"/>
              </a:ext>
            </a:extLst>
          </p:cNvPr>
          <p:cNvSpPr txBox="1"/>
          <p:nvPr/>
        </p:nvSpPr>
        <p:spPr>
          <a:xfrm>
            <a:off x="1206531" y="569160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/>
              </a:rPr>
              <a:t>행사 환경이 만족의 </a:t>
            </a:r>
            <a:r>
              <a:rPr lang="en-US" altLang="ko-KR" sz="1400" b="1" dirty="0">
                <a:solidFill/>
              </a:rPr>
              <a:t>75%</a:t>
            </a:r>
            <a:r>
              <a:rPr lang="ko-KR" altLang="en-US" sz="1400" b="1" dirty="0">
                <a:solidFill/>
              </a:rPr>
              <a:t>를 설명함</a:t>
            </a:r>
            <a:r>
              <a:rPr lang="en-US" altLang="ko-KR" sz="1400" b="1" dirty="0">
                <a:solidFill/>
              </a:rPr>
              <a:t>. </a:t>
            </a:r>
            <a:r>
              <a:rPr lang="ko-KR" altLang="en-US" sz="1400" b="1" dirty="0">
                <a:solidFill/>
              </a:rPr>
              <a:t>개별로는 시설의 영향이 가장 컸고</a:t>
            </a:r>
            <a:r>
              <a:rPr lang="en-US" altLang="ko-KR" sz="1400" b="1" dirty="0">
                <a:solidFill/>
              </a:rPr>
              <a:t>(β 0.38), </a:t>
            </a:r>
            <a:r>
              <a:rPr lang="ko-KR" altLang="en-US" sz="1400" b="1" dirty="0">
                <a:solidFill/>
              </a:rPr>
              <a:t>시간은 경향 수준</a:t>
            </a:r>
            <a:r>
              <a:rPr lang="en-US" altLang="ko-KR" sz="1400" b="1" dirty="0">
                <a:solidFill/>
              </a:rPr>
              <a:t>(p = .074)</a:t>
            </a:r>
            <a:r>
              <a:rPr lang="ko-KR" altLang="en-US" sz="1400" b="1" dirty="0">
                <a:solidFill/>
              </a:rPr>
              <a:t>이었음</a:t>
            </a:r>
            <a:r>
              <a:rPr lang="en-US" altLang="ko-KR" sz="1400" b="1" dirty="0">
                <a:solidFill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1400" b="1" dirty="0">
                <a:solidFill/>
              </a:rPr>
              <a:t>시설</a:t>
            </a:r>
            <a:r>
              <a:rPr lang="en-US" altLang="ko-KR" sz="1400" b="1" dirty="0">
                <a:solidFill/>
              </a:rPr>
              <a:t>·</a:t>
            </a:r>
            <a:r>
              <a:rPr lang="ko-KR" altLang="en-US" sz="1400" b="1" dirty="0">
                <a:solidFill/>
              </a:rPr>
              <a:t>시간</a:t>
            </a:r>
            <a:r>
              <a:rPr lang="en-US" altLang="ko-KR" sz="1400" b="1" dirty="0">
                <a:solidFill/>
              </a:rPr>
              <a:t>·</a:t>
            </a:r>
            <a:r>
              <a:rPr lang="ko-KR" altLang="en-US" sz="1400" b="1" dirty="0">
                <a:solidFill/>
              </a:rPr>
              <a:t>프로그램은 서로 매우 비슷하게 평가되어</a:t>
            </a:r>
            <a:r>
              <a:rPr lang="en-US" altLang="ko-KR" sz="1400" b="1" dirty="0">
                <a:solidFill/>
              </a:rPr>
              <a:t>(</a:t>
            </a:r>
            <a:r>
              <a:rPr lang="ko-KR" altLang="en-US" sz="1400" b="1" dirty="0">
                <a:solidFill/>
              </a:rPr>
              <a:t>상관 </a:t>
            </a:r>
            <a:r>
              <a:rPr lang="en-US" altLang="ko-KR" sz="1400" b="1" dirty="0">
                <a:solidFill/>
              </a:rPr>
              <a:t>.78~.86) </a:t>
            </a:r>
            <a:r>
              <a:rPr lang="ko-KR" altLang="en-US" sz="1400" b="1" dirty="0">
                <a:solidFill/>
              </a:rPr>
              <a:t>사실상 ‘현장 운영’ 하나로 작용했으며</a:t>
            </a:r>
            <a:r>
              <a:rPr lang="en-US" altLang="ko-KR" sz="1400" b="1" dirty="0">
                <a:solidFill/>
              </a:rPr>
              <a:t>, </a:t>
            </a:r>
            <a:r>
              <a:rPr lang="ko-KR" altLang="en-US" sz="1400" b="1" dirty="0">
                <a:solidFill/>
              </a:rPr>
              <a:t>식사는 점수는 낮지만</a:t>
            </a:r>
          </a:p>
          <a:p>
            <a:pPr>
              <a:lnSpc>
                <a:spcPct val="100000"/>
              </a:lnSpc>
            </a:pPr>
            <a:r>
              <a:rPr lang="ko-KR" altLang="en-US" sz="1400" b="1" dirty="0">
                <a:solidFill/>
              </a:rPr>
              <a:t>만족을 크게 깎지는 않음</a:t>
            </a:r>
            <a:r>
              <a:rPr lang="en-US" altLang="ko-KR" sz="1400" b="1" dirty="0">
                <a:solidFill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1400" b="1" dirty="0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4C1B718B-743A-0B06-8D8E-506A54AE753E}"/>
              </a:ext>
            </a:extLst>
          </p:cNvPr>
          <p:cNvSpPr/>
          <p:nvPr/>
        </p:nvSpPr>
        <p:spPr>
          <a:xfrm>
            <a:off x="961903" y="6050614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BE327E-B783-4D74-520B-DB8283FF0241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564977D-B2BE-941C-848E-83B5D0B04DF2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907D014-6B8C-0EE9-C9B7-4F403BABD59D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44812DB-039D-36F3-DC45-5614D5C5D4C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8AA1D3-DD2D-321B-A044-506BF692FC31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C0C829-DEEB-C1EA-581A-D809251434BF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FA2D13-D36D-A241-C2D7-25DE8C6CEC2D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773794-D0F0-AC30-5039-237F8CEEC299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00E0F2B-34A7-A5D5-C89F-2C8290118CB0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66D8028-FDA6-9E5F-BF57-B145A797D829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0283E73-8C57-92C1-47AA-5F093BC20405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79E970D-5DE4-2AD0-D903-6C42A8801853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8" name="통계주석"/>
          <p:cNvSpPr txBox="1"/>
          <p:nvPr/>
        </p:nvSpPr>
        <p:spPr>
          <a:xfrm>
            <a:off x="6172200" y="3886200"/>
            <a:ext cx="576072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β 영향력 크기  |  t·p 우연 여부 (p&lt;.05면 의미 있음)  |  VIF 요인끼리 겹침 (10 미만 정상)</a:t>
            </a:r>
          </a:p>
        </p:txBody>
      </p:sp>
      <p:cxnSp>
        <p:nvCxnSpPr>
          <p:cNvPr id="119" name="통계주석 화살표"/>
          <p:cNvCxnSpPr/>
          <p:nvPr/>
        </p:nvCxnSpPr>
        <p:spPr>
          <a:xfrm flipH="1">
            <a:off x="3840480" y="4087368"/>
            <a:ext cx="2377440" cy="14630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통계주석 화살표"/>
          <p:cNvCxnSpPr/>
          <p:nvPr/>
        </p:nvCxnSpPr>
        <p:spPr>
          <a:xfrm flipH="1">
            <a:off x="5623560" y="4114800"/>
            <a:ext cx="1097280" cy="118872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통계주석 화살표"/>
          <p:cNvCxnSpPr/>
          <p:nvPr/>
        </p:nvCxnSpPr>
        <p:spPr>
          <a:xfrm flipH="1">
            <a:off x="7360920" y="4114800"/>
            <a:ext cx="777240" cy="118872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통계주석 화살표"/>
          <p:cNvCxnSpPr/>
          <p:nvPr/>
        </p:nvCxnSpPr>
        <p:spPr>
          <a:xfrm flipH="1">
            <a:off x="9281160" y="4114800"/>
            <a:ext cx="777240" cy="118872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통계주석"/>
          <p:cNvSpPr txBox="1"/>
          <p:nvPr/>
        </p:nvSpPr>
        <p:spPr>
          <a:xfrm>
            <a:off x="10104120" y="4480560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* p&lt;.05  ** p&lt;.01  *** p&lt;.001</a:t>
            </a:r>
          </a:p>
          <a:p>
            <a:pPr algn="ctr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† p&lt;.10 (경향 수준)</a:t>
            </a:r>
          </a:p>
        </p:txBody>
      </p:sp>
      <p:sp>
        <p:nvSpPr>
          <p:cNvPr id="124" name="통계주석"/>
          <p:cNvSpPr txBox="1"/>
          <p:nvPr/>
        </p:nvSpPr>
        <p:spPr>
          <a:xfrm>
            <a:off x="10104120" y="5330952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R² : 만족의 75%를 설명</a:t>
            </a:r>
          </a:p>
          <a:p>
            <a:pPr algn="ctr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F*** : 모형 전체가 의미 있음</a:t>
            </a:r>
          </a:p>
        </p:txBody>
      </p:sp>
      <p:cxnSp>
        <p:nvCxnSpPr>
          <p:cNvPr id="125" name="통계주석 화살표"/>
          <p:cNvCxnSpPr/>
          <p:nvPr/>
        </p:nvCxnSpPr>
        <p:spPr>
          <a:xfrm flipV="1">
            <a:off x="10744200" y="5276088"/>
            <a:ext cx="0" cy="82296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통계주석"/>
          <p:cNvSpPr txBox="1"/>
          <p:nvPr/>
        </p:nvSpPr>
        <p:spPr>
          <a:xfrm>
            <a:off x="4297680" y="6400800"/>
            <a:ext cx="75895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E46C0A"/>
                </a:solidFill>
                <a:latin typeface="맑은 고딕"/>
                <a:ea typeface="맑은 고딕"/>
              </a:rPr>
              <a:t>상관(.78~.86) : 세 항목 점수가 거의 같이 움직임 → 사실상 하나의 요인으로 봄</a:t>
            </a:r>
          </a:p>
        </p:txBody>
      </p:sp>
      <p:cxnSp>
        <p:nvCxnSpPr>
          <p:cNvPr id="127" name="통계주석 화살표"/>
          <p:cNvCxnSpPr/>
          <p:nvPr/>
        </p:nvCxnSpPr>
        <p:spPr>
          <a:xfrm flipV="1">
            <a:off x="5852160" y="6254496"/>
            <a:ext cx="0" cy="164592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892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E9CF3-3451-DE64-EA61-29EF3FC1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4737FB45-C07F-C1BD-4562-A759B218DB74}"/>
              </a:ext>
            </a:extLst>
          </p:cNvPr>
          <p:cNvSpPr txBox="1"/>
          <p:nvPr/>
        </p:nvSpPr>
        <p:spPr>
          <a:xfrm>
            <a:off x="838402" y="993120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유기체</a:t>
            </a:r>
            <a:r>
              <a:rPr lang="en-US" altLang="ko-KR" sz="2000" b="1" dirty="0">
                <a:solidFill/>
              </a:rPr>
              <a:t>(Organism) : </a:t>
            </a:r>
            <a:r>
              <a:rPr lang="ko-KR" altLang="en-US" sz="2000" b="1" dirty="0">
                <a:solidFill/>
              </a:rPr>
              <a:t>성도들은 어떻게 느꼈나</a:t>
            </a:r>
            <a:r>
              <a:rPr lang="en-US" altLang="ko-KR" sz="2000" b="1" dirty="0">
                <a:solidFill/>
              </a:rPr>
              <a:t>?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8DA1654-55D1-2C0F-233B-B8AF370F8E93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3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015E6380-598B-E6D6-0770-156C36E8F843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(4/6)</a:t>
            </a:r>
            <a:endParaRPr lang="ko-KR" altLang="en-US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C2DAB97-BCED-1028-3CC8-FC7295F1477B}"/>
              </a:ext>
            </a:extLst>
          </p:cNvPr>
          <p:cNvSpPr/>
          <p:nvPr/>
        </p:nvSpPr>
        <p:spPr>
          <a:xfrm>
            <a:off x="760021" y="1490711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15C5E3C-A351-6B36-F8AA-1B048348C588}"/>
              </a:ext>
            </a:extLst>
          </p:cNvPr>
          <p:cNvSpPr txBox="1"/>
          <p:nvPr/>
        </p:nvSpPr>
        <p:spPr>
          <a:xfrm>
            <a:off x="978921" y="1427291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권유가 공동체 인식을 만들었나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? -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지지</a:t>
            </a:r>
            <a:r>
              <a:rPr lang="en-US" altLang="ko-KR" sz="1600" b="1" dirty="0">
                <a:solidFill>
                  <a:srgbClr val="28759E"/>
                </a:solidFill>
                <a:latin typeface="맑은 고딕"/>
                <a:ea typeface="+mj-ea"/>
              </a:rPr>
              <a:t>(YES)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4421FC8-B6E4-7B68-0BE8-4694EA54A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91680"/>
              </p:ext>
            </p:extLst>
          </p:nvPr>
        </p:nvGraphicFramePr>
        <p:xfrm>
          <a:off x="6396649" y="1772543"/>
          <a:ext cx="5654861" cy="796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8005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543243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19071626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71349455"/>
                    </a:ext>
                  </a:extLst>
                </a:gridCol>
                <a:gridCol w="511493">
                  <a:extLst>
                    <a:ext uri="{9D8B030D-6E8A-4147-A177-3AD203B41FA5}">
                      <a16:colId xmlns:a16="http://schemas.microsoft.com/office/drawing/2014/main" val="3331380587"/>
                    </a:ext>
                  </a:extLst>
                </a:gridCol>
                <a:gridCol w="1660710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18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신앙공동체 의식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t 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p 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모형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18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교우의 영향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.24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1.05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.299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3.06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R² = 0.24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F = 6.94**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278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목회자ㆍ선교회장의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영향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.27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1.18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.245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3A0DD95-B4F4-6C1E-9216-B2165E967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80924"/>
              </p:ext>
            </p:extLst>
          </p:nvPr>
        </p:nvGraphicFramePr>
        <p:xfrm>
          <a:off x="635578" y="1767320"/>
          <a:ext cx="5654861" cy="796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8005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543243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19071626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71349455"/>
                    </a:ext>
                  </a:extLst>
                </a:gridCol>
                <a:gridCol w="511493">
                  <a:extLst>
                    <a:ext uri="{9D8B030D-6E8A-4147-A177-3AD203B41FA5}">
                      <a16:colId xmlns:a16="http://schemas.microsoft.com/office/drawing/2014/main" val="3331380587"/>
                    </a:ext>
                  </a:extLst>
                </a:gridCol>
                <a:gridCol w="1660710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18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solidFill>
                            <a:srgbClr val="FFFFFF"/>
                          </a:solidFill>
                        </a:rPr>
                        <a:t>교제ㆍ단합력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t 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p 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모형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183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교우의 영향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.38†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1.69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.098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3.06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R² = 0.29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F = 8.90***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278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목회자ㆍ선교회장의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영향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.18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0.82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.417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</a:tbl>
          </a:graphicData>
        </a:graphic>
      </p:graphicFrame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BB72154E-30AA-732A-C4D5-150A0E5CF6D9}"/>
              </a:ext>
            </a:extLst>
          </p:cNvPr>
          <p:cNvSpPr/>
          <p:nvPr/>
        </p:nvSpPr>
        <p:spPr>
          <a:xfrm>
            <a:off x="961903" y="271966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5E6D351-7CBF-80AF-4D6B-24AFE0E205F6}"/>
              </a:ext>
            </a:extLst>
          </p:cNvPr>
          <p:cNvSpPr txBox="1"/>
          <p:nvPr/>
        </p:nvSpPr>
        <p:spPr>
          <a:xfrm>
            <a:off x="1206531" y="265404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en-US" sz="1400" b="1" dirty="0">
                <a:solidFill/>
              </a:rPr>
              <a:t>권유를 많이 받은 성도일수록 </a:t>
            </a:r>
            <a:r>
              <a:rPr lang="ko-KR" altLang="en-US" sz="1400" b="1" dirty="0" err="1">
                <a:solidFill/>
              </a:rPr>
              <a:t>교제ㆍ단합력</a:t>
            </a:r>
            <a:r>
              <a:rPr lang="en-US" altLang="ko-KR" sz="1400" b="1" dirty="0">
                <a:solidFill/>
              </a:rPr>
              <a:t>(</a:t>
            </a:r>
            <a:r>
              <a:rPr lang="ko-KR" altLang="en-US" sz="1400" b="1" dirty="0">
                <a:solidFill/>
              </a:rPr>
              <a:t>설명력 </a:t>
            </a:r>
            <a:r>
              <a:rPr lang="en-US" altLang="ko-KR" sz="1400" b="1" dirty="0">
                <a:solidFill/>
              </a:rPr>
              <a:t>29%)</a:t>
            </a:r>
            <a:r>
              <a:rPr lang="ko-KR" altLang="en-US" sz="1400" b="1" dirty="0">
                <a:solidFill/>
              </a:rPr>
              <a:t>과 신앙공동체 의식</a:t>
            </a:r>
            <a:r>
              <a:rPr lang="en-US" altLang="ko-KR" sz="1400" b="1" dirty="0">
                <a:solidFill/>
              </a:rPr>
              <a:t>(</a:t>
            </a:r>
            <a:r>
              <a:rPr lang="ko-KR" altLang="en-US" sz="1400" b="1" dirty="0">
                <a:solidFill/>
              </a:rPr>
              <a:t>설명력 </a:t>
            </a:r>
            <a:r>
              <a:rPr lang="en-US" altLang="ko-KR" sz="1400" b="1" dirty="0">
                <a:solidFill/>
              </a:rPr>
              <a:t>24%)</a:t>
            </a:r>
            <a:r>
              <a:rPr lang="ko-KR" altLang="en-US" sz="1400" b="1" dirty="0">
                <a:solidFill/>
              </a:rPr>
              <a:t>을 더 높게 느끼고 있음</a:t>
            </a:r>
            <a:r>
              <a:rPr lang="en-US" altLang="ko-KR" sz="1400" b="1" dirty="0">
                <a:solidFill/>
              </a:rPr>
              <a:t>.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C1150788-79B2-3E84-1308-983B39837BC9}"/>
              </a:ext>
            </a:extLst>
          </p:cNvPr>
          <p:cNvSpPr/>
          <p:nvPr/>
        </p:nvSpPr>
        <p:spPr>
          <a:xfrm>
            <a:off x="961903" y="3004109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D233AF33-D4C0-845A-BBC9-E1E78EBF25E6}"/>
              </a:ext>
            </a:extLst>
          </p:cNvPr>
          <p:cNvSpPr txBox="1"/>
          <p:nvPr/>
        </p:nvSpPr>
        <p:spPr>
          <a:xfrm>
            <a:off x="1206531" y="2938498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en-US" sz="1400" b="1" dirty="0" err="1">
                <a:solidFill/>
                <a:latin typeface="맑은 고딕"/>
                <a:ea typeface="+mj-ea"/>
              </a:rPr>
              <a:t>목회자ㆍ선교회장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,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교우의 권유는 거의 같이 움직여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(r = .82) 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하나의 ‘사회적 </a:t>
            </a:r>
            <a:r>
              <a:rPr lang="ko-KR" altLang="en-US" sz="1400" b="1" dirty="0" err="1">
                <a:solidFill/>
                <a:latin typeface="맑은 고딕"/>
                <a:ea typeface="+mj-ea"/>
              </a:rPr>
              <a:t>영향’으로</a:t>
            </a:r>
            <a:r>
              <a:rPr lang="ko-KR" altLang="en-US" sz="1400" b="1" dirty="0">
                <a:solidFill/>
                <a:latin typeface="맑은 고딕"/>
                <a:ea typeface="+mj-ea"/>
              </a:rPr>
              <a:t> 보는 것이 타당함</a:t>
            </a:r>
            <a:r>
              <a:rPr lang="en-US" altLang="ko-KR" sz="1400" b="1" dirty="0">
                <a:solidFill/>
                <a:latin typeface="맑은 고딕"/>
                <a:ea typeface="+mj-ea"/>
              </a:rPr>
              <a:t>.</a:t>
            </a: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B5A70184-2873-A9F9-E6D2-F3CBD2E0BF7B}"/>
              </a:ext>
            </a:extLst>
          </p:cNvPr>
          <p:cNvSpPr txBox="1"/>
          <p:nvPr/>
        </p:nvSpPr>
        <p:spPr>
          <a:xfrm>
            <a:off x="838402" y="3621651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반응</a:t>
            </a:r>
            <a:r>
              <a:rPr lang="en-US" altLang="ko-KR" sz="2000" b="1" dirty="0">
                <a:solidFill/>
              </a:rPr>
              <a:t>(Response) : </a:t>
            </a:r>
            <a:r>
              <a:rPr lang="ko-KR" altLang="en-US" sz="2000" b="1" dirty="0">
                <a:solidFill/>
              </a:rPr>
              <a:t>다음에도 참석하겠는가</a:t>
            </a:r>
            <a:r>
              <a:rPr lang="en-US" altLang="ko-KR" sz="2000" b="1" dirty="0">
                <a:solidFill/>
              </a:rPr>
              <a:t>?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D90137-DF98-3328-EF32-22AEA51D5395}"/>
              </a:ext>
            </a:extLst>
          </p:cNvPr>
          <p:cNvSpPr/>
          <p:nvPr/>
        </p:nvSpPr>
        <p:spPr>
          <a:xfrm>
            <a:off x="338840" y="3598101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4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7B89A44-CF36-8096-BF6C-D77B627D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2" y="4006885"/>
            <a:ext cx="5987329" cy="1605213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0F03F281-1A85-2821-7C35-9098AC22E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52590"/>
              </p:ext>
            </p:extLst>
          </p:nvPr>
        </p:nvGraphicFramePr>
        <p:xfrm>
          <a:off x="6902951" y="4057618"/>
          <a:ext cx="5100821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0238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670243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190716265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271349455"/>
                    </a:ext>
                  </a:extLst>
                </a:gridCol>
                <a:gridCol w="511493">
                  <a:extLst>
                    <a:ext uri="{9D8B030D-6E8A-4147-A177-3AD203B41FA5}">
                      <a16:colId xmlns:a16="http://schemas.microsoft.com/office/drawing/2014/main" val="3331380587"/>
                    </a:ext>
                  </a:extLst>
                </a:gridCol>
                <a:gridCol w="1081062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독립변수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t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p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모형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행사 품질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.07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0.39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.696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R² = 0.63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F = 13.83***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사회적 영향</a:t>
                      </a:r>
                      <a:endParaRPr lang="ko-KR" sz="1100" b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.51***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4.27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&lt; .001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전반적 만족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-.08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-0.43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.672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3.59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2919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, 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단합력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인식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-.05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-0.36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.723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2.03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23698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신앙공동체 의식</a:t>
                      </a:r>
                      <a:endParaRPr lang="ko-KR" sz="1100" b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.45**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3.48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.001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1.82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898996"/>
                  </a:ext>
                </a:extLst>
              </a:tr>
            </a:tbl>
          </a:graphicData>
        </a:graphic>
      </p:graphicFrame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E9836369-CB36-B59B-9AD8-062FBB177612}"/>
              </a:ext>
            </a:extLst>
          </p:cNvPr>
          <p:cNvSpPr/>
          <p:nvPr/>
        </p:nvSpPr>
        <p:spPr>
          <a:xfrm>
            <a:off x="961903" y="5845676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F7F1920A-253E-5BAF-0732-D36447DFD495}"/>
              </a:ext>
            </a:extLst>
          </p:cNvPr>
          <p:cNvSpPr txBox="1"/>
          <p:nvPr/>
        </p:nvSpPr>
        <p:spPr>
          <a:xfrm>
            <a:off x="1206531" y="5780065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solidFill/>
              </a:rPr>
              <a:t>유의하게 행동의도를 높인 변수는 신앙공동체 의식</a:t>
            </a:r>
            <a:r>
              <a:rPr lang="en-US" altLang="ko-KR" sz="1400" b="1" dirty="0">
                <a:solidFill/>
              </a:rPr>
              <a:t>(β 0.45)</a:t>
            </a:r>
            <a:r>
              <a:rPr lang="ko-KR" altLang="en-US" sz="1400" b="1" dirty="0">
                <a:solidFill/>
              </a:rPr>
              <a:t>과 사회적 영향</a:t>
            </a:r>
            <a:r>
              <a:rPr lang="en-US" altLang="ko-KR" sz="1400" b="1" dirty="0">
                <a:solidFill/>
              </a:rPr>
              <a:t>(β 0.51)</a:t>
            </a:r>
            <a:r>
              <a:rPr lang="ko-KR" altLang="en-US" sz="1400" b="1" dirty="0">
                <a:solidFill/>
              </a:rPr>
              <a:t>뿐이었음</a:t>
            </a:r>
            <a:r>
              <a:rPr lang="en-US" altLang="ko-KR" sz="1400" b="1" dirty="0">
                <a:solidFill/>
              </a:rPr>
              <a:t>.</a:t>
            </a:r>
            <a:endParaRPr lang="en-US" altLang="ko-KR" sz="1400" b="1" dirty="0">
              <a:latin typeface="+mj-ea"/>
            </a:endParaRPr>
          </a:p>
          <a:p>
            <a:pPr>
              <a:lnSpc>
                <a:spcPct val="100000"/>
              </a:lnSpc>
            </a:pPr>
            <a:endParaRPr lang="en-US" altLang="ko-KR" sz="1400" b="1" dirty="0"/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0C7BF6-239F-F49A-BD25-E7F63D64DABE}"/>
              </a:ext>
            </a:extLst>
          </p:cNvPr>
          <p:cNvSpPr/>
          <p:nvPr/>
        </p:nvSpPr>
        <p:spPr>
          <a:xfrm>
            <a:off x="961903" y="614625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559EDD8F-DDC3-B98A-52E7-86875AC8C2EF}"/>
              </a:ext>
            </a:extLst>
          </p:cNvPr>
          <p:cNvSpPr txBox="1"/>
          <p:nvPr/>
        </p:nvSpPr>
        <p:spPr>
          <a:xfrm>
            <a:off x="1206531" y="6080639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solidFill/>
              </a:rPr>
              <a:t>전반적 만족은 단독으로는 행동의도와 관련이 있지만</a:t>
            </a:r>
            <a:r>
              <a:rPr lang="en-US" altLang="ko-KR" sz="1400" b="1" dirty="0">
                <a:solidFill/>
              </a:rPr>
              <a:t>(r = .46), </a:t>
            </a:r>
            <a:r>
              <a:rPr lang="ko-KR" altLang="en-US" sz="1400" b="1" dirty="0">
                <a:solidFill/>
              </a:rPr>
              <a:t>다른 변수를 함께 </a:t>
            </a:r>
            <a:r>
              <a:rPr lang="ko-KR" altLang="en-US" sz="1400" b="1" dirty="0" err="1">
                <a:solidFill/>
              </a:rPr>
              <a:t>고려시</a:t>
            </a:r>
            <a:r>
              <a:rPr lang="ko-KR" altLang="en-US" sz="1400" b="1" dirty="0">
                <a:solidFill/>
              </a:rPr>
              <a:t> 영향이 사라짐</a:t>
            </a:r>
            <a:r>
              <a:rPr lang="en-US" altLang="ko-KR" sz="1400" b="1" dirty="0">
                <a:solidFill/>
              </a:rPr>
              <a:t>.</a:t>
            </a:r>
            <a:endParaRPr lang="ko-KR" altLang="en-US" sz="1400" b="1" dirty="0"/>
          </a:p>
          <a:p>
            <a:endParaRPr lang="en-US" altLang="ko-KR" sz="1400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CB3D2DE-AF7B-DA5F-C214-FA86016C44A0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D2FB177-3D6D-2F5E-E598-1F0ABE06E35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0B0DBC8-52A7-01D4-A715-349F064A2759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0FF5C40-05ED-585C-2BDD-B9A5B39ECE72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27D1C1D-7C5C-B46E-E720-D9F50B1C994F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7807C7-8C99-F30B-28EF-A02A5814ECEF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74472C-E31E-A15B-7DAC-0E86ED550FB4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2AEF57D-A2C6-3395-D07C-F9284AAA3DC5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8ADBE02-6231-3B31-2AB2-21503A20FA2A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1CDCF7C-5B8E-9F25-A298-EC8B6FB3CCDC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FAF20F0-7F9E-DE2C-B05A-73637BE487CD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5AD588-78D4-A2A0-E158-3F6C46923212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9139126E-B2BD-7CBE-6075-B8DEBEBCFE4E}"/>
              </a:ext>
            </a:extLst>
          </p:cNvPr>
          <p:cNvSpPr/>
          <p:nvPr/>
        </p:nvSpPr>
        <p:spPr>
          <a:xfrm>
            <a:off x="10307785" y="2691740"/>
            <a:ext cx="125086" cy="130839"/>
          </a:xfrm>
          <a:prstGeom prst="rightArrow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43FB60A-B276-2A05-9A91-9F43C8D9F766}"/>
              </a:ext>
            </a:extLst>
          </p:cNvPr>
          <p:cNvSpPr txBox="1"/>
          <p:nvPr/>
        </p:nvSpPr>
        <p:spPr>
          <a:xfrm>
            <a:off x="10552803" y="2668423"/>
            <a:ext cx="1259573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ko-KR" altLang="en-US" sz="1400" b="1" dirty="0">
                <a:solidFill>
                  <a:srgbClr val="D4661F"/>
                </a:solidFill>
              </a:rPr>
              <a:t>무조건 권유</a:t>
            </a:r>
            <a:endParaRPr lang="en-US" altLang="ko-KR" sz="1400" b="1" dirty="0">
              <a:solidFill>
                <a:srgbClr val="D4661F"/>
              </a:solidFill>
              <a:latin typeface="+mj-ea"/>
              <a:ea typeface="+mj-ea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FED56CD-3CEF-5E85-427E-43CD74CD439B}"/>
              </a:ext>
            </a:extLst>
          </p:cNvPr>
          <p:cNvSpPr txBox="1"/>
          <p:nvPr/>
        </p:nvSpPr>
        <p:spPr>
          <a:xfrm>
            <a:off x="5045814" y="3289574"/>
            <a:ext cx="2704816" cy="1710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ko-KR" sz="1000" b="1" dirty="0">
                <a:solidFill>
                  <a:srgbClr val="D4661F"/>
                </a:solidFill>
              </a:rPr>
              <a:t>상관관계</a:t>
            </a:r>
            <a:r>
              <a:rPr lang="ko-KR" altLang="en-US" sz="1000" b="1" dirty="0">
                <a:solidFill>
                  <a:srgbClr val="D4661F"/>
                </a:solidFill>
              </a:rPr>
              <a:t>를 나타내며</a:t>
            </a:r>
            <a:r>
              <a:rPr lang="ko-KR" altLang="ko-KR" sz="1000" b="1" dirty="0">
                <a:solidFill>
                  <a:srgbClr val="D4661F"/>
                </a:solidFill>
              </a:rPr>
              <a:t>, 매우 높은 수준</a:t>
            </a:r>
            <a:r>
              <a:rPr lang="ko-KR" altLang="en-US" sz="1000" b="1" dirty="0">
                <a:solidFill>
                  <a:srgbClr val="D4661F"/>
                </a:solidFill>
              </a:rPr>
              <a:t>임</a:t>
            </a:r>
            <a:r>
              <a:rPr lang="ko-KR" altLang="ko-KR" sz="1000" b="1" dirty="0">
                <a:solidFill>
                  <a:srgbClr val="D4661F"/>
                </a:solidFill>
              </a:rPr>
              <a:t>.</a:t>
            </a:r>
          </a:p>
          <a:p>
            <a:r>
              <a:rPr lang="ko-KR" altLang="ko-KR" sz="1000" b="1" dirty="0">
                <a:solidFill>
                  <a:srgbClr val="D4661F"/>
                </a:solidFill>
              </a:rPr>
              <a:t>"</a:t>
            </a:r>
            <a:endParaRPr lang="en-US" altLang="ko-KR" sz="1000" b="1" dirty="0">
              <a:solidFill>
                <a:srgbClr val="D4661F"/>
              </a:solidFill>
              <a:ea typeface="+mj-ea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7584D2D-2796-6AB7-146C-CE32C5808287}"/>
              </a:ext>
            </a:extLst>
          </p:cNvPr>
          <p:cNvCxnSpPr>
            <a:cxnSpLocks/>
          </p:cNvCxnSpPr>
          <p:nvPr/>
        </p:nvCxnSpPr>
        <p:spPr>
          <a:xfrm flipV="1">
            <a:off x="5462649" y="3126818"/>
            <a:ext cx="0" cy="155014"/>
          </a:xfrm>
          <a:prstGeom prst="straightConnector1">
            <a:avLst/>
          </a:prstGeom>
          <a:ln w="28575">
            <a:solidFill>
              <a:srgbClr val="D466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통계주석"/>
          <p:cNvSpPr txBox="1"/>
          <p:nvPr/>
        </p:nvSpPr>
        <p:spPr>
          <a:xfrm>
            <a:off x="5577840" y="1426464"/>
            <a:ext cx="626364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R² : 설명력 (0.29 = 29% 설명)  ·  F : 모형 전체가 의미 있는지 (**·*** 확실)</a:t>
            </a:r>
          </a:p>
        </p:txBody>
      </p:sp>
      <p:cxnSp>
        <p:nvCxnSpPr>
          <p:cNvPr id="119" name="통계주석 화살표"/>
          <p:cNvCxnSpPr/>
          <p:nvPr/>
        </p:nvCxnSpPr>
        <p:spPr>
          <a:xfrm flipH="1">
            <a:off x="5440680" y="1645920"/>
            <a:ext cx="274320" cy="51206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통계주석 화살표"/>
          <p:cNvCxnSpPr/>
          <p:nvPr/>
        </p:nvCxnSpPr>
        <p:spPr>
          <a:xfrm>
            <a:off x="9966960" y="1645920"/>
            <a:ext cx="960120" cy="51206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통계주석"/>
          <p:cNvSpPr txBox="1"/>
          <p:nvPr/>
        </p:nvSpPr>
        <p:spPr>
          <a:xfrm>
            <a:off x="6949440" y="3685032"/>
            <a:ext cx="489204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*** p&lt;.001 · ** p&lt;.01 → 우연일 가능성이 거의 없는 확실한 영향</a:t>
            </a:r>
          </a:p>
        </p:txBody>
      </p:sp>
      <p:cxnSp>
        <p:nvCxnSpPr>
          <p:cNvPr id="122" name="통계주석 화살표"/>
          <p:cNvCxnSpPr/>
          <p:nvPr/>
        </p:nvCxnSpPr>
        <p:spPr>
          <a:xfrm>
            <a:off x="8046720" y="3904487"/>
            <a:ext cx="548640" cy="740665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통계주석"/>
          <p:cNvSpPr txBox="1"/>
          <p:nvPr/>
        </p:nvSpPr>
        <p:spPr>
          <a:xfrm>
            <a:off x="4297680" y="6400800"/>
            <a:ext cx="75895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E46C0A"/>
                </a:solidFill>
                <a:latin typeface="맑은 고딕"/>
                <a:ea typeface="맑은 고딕"/>
              </a:rPr>
              <a:t>r = .46 : 만족과 행동의도는 보통 수준으로 함께 움직이지만, 다른 요인과 함께 보면 영향이 사라짐</a:t>
            </a:r>
          </a:p>
        </p:txBody>
      </p:sp>
      <p:cxnSp>
        <p:nvCxnSpPr>
          <p:cNvPr id="124" name="통계주석 화살표"/>
          <p:cNvCxnSpPr/>
          <p:nvPr/>
        </p:nvCxnSpPr>
        <p:spPr>
          <a:xfrm flipV="1">
            <a:off x="5760720" y="6309360"/>
            <a:ext cx="0" cy="109728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717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2E63F-2700-FCD5-66C8-7CC5E5C0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1816AEF6-AC22-925B-CC9C-C6871F83A326}"/>
              </a:ext>
            </a:extLst>
          </p:cNvPr>
          <p:cNvSpPr txBox="1"/>
          <p:nvPr/>
        </p:nvSpPr>
        <p:spPr>
          <a:xfrm>
            <a:off x="838402" y="993120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ko-KR" sz="2000" b="1" dirty="0">
                <a:solidFill/>
                <a:latin typeface="맑은 고딕"/>
                <a:ea typeface="+mj-ea"/>
              </a:rPr>
              <a:t>S-O-R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 전체 흐름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7179749-92DE-3E9D-D7BB-A3B3C4907D33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5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122EBA3E-3A4C-57CC-99E8-1ED1D943E10F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(5/6)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395DAE-4FFD-63EF-626F-3EB3393B6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67" y="1382953"/>
            <a:ext cx="8823366" cy="3314168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F271CE-4C0C-B0C1-F693-FE5F6D47B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91413"/>
              </p:ext>
            </p:extLst>
          </p:nvPr>
        </p:nvGraphicFramePr>
        <p:xfrm>
          <a:off x="898564" y="5330635"/>
          <a:ext cx="8213768" cy="103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1768">
                  <a:extLst>
                    <a:ext uri="{9D8B030D-6E8A-4147-A177-3AD203B41FA5}">
                      <a16:colId xmlns:a16="http://schemas.microsoft.com/office/drawing/2014/main" val="1177352247"/>
                    </a:ext>
                  </a:extLst>
                </a:gridCol>
                <a:gridCol w="734096">
                  <a:extLst>
                    <a:ext uri="{9D8B030D-6E8A-4147-A177-3AD203B41FA5}">
                      <a16:colId xmlns:a16="http://schemas.microsoft.com/office/drawing/2014/main" val="4186920082"/>
                    </a:ext>
                  </a:extLst>
                </a:gridCol>
                <a:gridCol w="866239">
                  <a:extLst>
                    <a:ext uri="{9D8B030D-6E8A-4147-A177-3AD203B41FA5}">
                      <a16:colId xmlns:a16="http://schemas.microsoft.com/office/drawing/2014/main" val="2190716265"/>
                    </a:ext>
                  </a:extLst>
                </a:gridCol>
                <a:gridCol w="866239">
                  <a:extLst>
                    <a:ext uri="{9D8B030D-6E8A-4147-A177-3AD203B41FA5}">
                      <a16:colId xmlns:a16="http://schemas.microsoft.com/office/drawing/2014/main" val="2271349455"/>
                    </a:ext>
                  </a:extLst>
                </a:gridCol>
                <a:gridCol w="1231374">
                  <a:extLst>
                    <a:ext uri="{9D8B030D-6E8A-4147-A177-3AD203B41FA5}">
                      <a16:colId xmlns:a16="http://schemas.microsoft.com/office/drawing/2014/main" val="3331380587"/>
                    </a:ext>
                  </a:extLst>
                </a:gridCol>
                <a:gridCol w="1184052">
                  <a:extLst>
                    <a:ext uri="{9D8B030D-6E8A-4147-A177-3AD203B41FA5}">
                      <a16:colId xmlns:a16="http://schemas.microsoft.com/office/drawing/2014/main" val="3505199389"/>
                    </a:ext>
                  </a:extLst>
                </a:gridCol>
              </a:tblGrid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(S-O-R)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solidFill>
                            <a:srgbClr val="FFFFFF"/>
                          </a:solidFill>
                        </a:rPr>
                        <a:t>총효과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직접효과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간접효과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95%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신뢰구간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54844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행사 품질 → 전반적 만족 → 행동의도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.48***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.32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0.16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[-0.15, 0.45]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매개효과 없음</a:t>
                      </a:r>
                      <a:endParaRPr lang="en-US" alt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05245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사회적 영향 → 교제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 err="1">
                          <a:solidFill>
                            <a:srgbClr val="293B4C"/>
                          </a:solidFill>
                        </a:rPr>
                        <a:t>단합력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 → 행동의도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.70***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.63***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0.07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[-0.04, 0.28]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매개효과 없음</a:t>
                      </a:r>
                      <a:endParaRPr lang="en-US" alt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49219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사회적 영향 → 신앙공동체 의식 → 행동의도</a:t>
                      </a:r>
                      <a:endParaRPr lang="ko-KR" sz="1100" b="1" dirty="0">
                        <a:solidFill>
                          <a:srgbClr val="3333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.70***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.49***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0.21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[0.07, 0.36]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부분 매개</a:t>
                      </a:r>
                      <a:endParaRPr lang="en-US" alt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22919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138EDACB-AC2F-C19A-1E5F-665815A81D2F}"/>
              </a:ext>
            </a:extLst>
          </p:cNvPr>
          <p:cNvSpPr/>
          <p:nvPr/>
        </p:nvSpPr>
        <p:spPr>
          <a:xfrm>
            <a:off x="760021" y="510499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0EB7661C-A0A8-B3F0-DFD9-4D89266056A9}"/>
              </a:ext>
            </a:extLst>
          </p:cNvPr>
          <p:cNvSpPr txBox="1"/>
          <p:nvPr/>
        </p:nvSpPr>
        <p:spPr>
          <a:xfrm>
            <a:off x="978921" y="5041572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O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S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와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R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을 이어 주는가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? – 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매개효과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부트스트랩 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5,000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회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)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DAAA3CC-FDE8-2E36-22A6-3F66ADC78171}"/>
              </a:ext>
            </a:extLst>
          </p:cNvPr>
          <p:cNvSpPr/>
          <p:nvPr/>
        </p:nvSpPr>
        <p:spPr>
          <a:xfrm>
            <a:off x="9551719" y="1511666"/>
            <a:ext cx="2610210" cy="4855290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050" b="1" dirty="0">
              <a:solidFill>
                <a:srgbClr val="293B4C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dirty="0">
                <a:solidFill>
                  <a:srgbClr val="293B4C"/>
                </a:solidFill>
              </a:rPr>
              <a:t>S-O-R </a:t>
            </a:r>
            <a:r>
              <a:rPr lang="ko-KR" altLang="en-US" sz="1050" b="1" dirty="0">
                <a:solidFill>
                  <a:srgbClr val="293B4C"/>
                </a:solidFill>
              </a:rPr>
              <a:t>모형이 말하는 </a:t>
            </a: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dirty="0">
                <a:solidFill>
                  <a:srgbClr val="293B4C"/>
                </a:solidFill>
              </a:rPr>
              <a:t>“</a:t>
            </a:r>
            <a:r>
              <a:rPr lang="ko-KR" altLang="en-US" sz="1050" b="1" dirty="0">
                <a:solidFill>
                  <a:srgbClr val="293B4C"/>
                </a:solidFill>
              </a:rPr>
              <a:t>자극이 마음을 거쳐 행동이 된다</a:t>
            </a:r>
            <a:r>
              <a:rPr lang="en-US" altLang="ko-KR" sz="1050" b="1" dirty="0">
                <a:solidFill>
                  <a:srgbClr val="293B4C"/>
                </a:solidFill>
              </a:rPr>
              <a:t>”</a:t>
            </a:r>
            <a:r>
              <a:rPr lang="ko-KR" altLang="en-US" sz="1050" b="1" dirty="0">
                <a:solidFill>
                  <a:srgbClr val="293B4C"/>
                </a:solidFill>
              </a:rPr>
              <a:t>는 흐름이 확인된 경로는 </a:t>
            </a: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rgbClr val="293B4C"/>
                </a:solidFill>
              </a:rPr>
              <a:t>사회적 영향 → 신앙공동체 의식 → 행동의도 하나임</a:t>
            </a: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dirty="0">
                <a:solidFill>
                  <a:srgbClr val="293B4C"/>
                </a:solidFill>
              </a:rPr>
              <a:t>(</a:t>
            </a:r>
            <a:r>
              <a:rPr lang="ko-KR" altLang="en-US" sz="1050" b="1" dirty="0">
                <a:solidFill>
                  <a:srgbClr val="293B4C"/>
                </a:solidFill>
              </a:rPr>
              <a:t>간접효과 </a:t>
            </a:r>
            <a:r>
              <a:rPr lang="en-US" altLang="ko-KR" sz="1050" b="1" dirty="0">
                <a:solidFill>
                  <a:srgbClr val="293B4C"/>
                </a:solidFill>
              </a:rPr>
              <a:t>0.21, </a:t>
            </a:r>
            <a:r>
              <a:rPr lang="ko-KR" altLang="en-US" sz="1050" b="1" dirty="0">
                <a:solidFill>
                  <a:srgbClr val="293B4C"/>
                </a:solidFill>
              </a:rPr>
              <a:t>신뢰구간 </a:t>
            </a:r>
            <a:r>
              <a:rPr lang="en-US" altLang="ko-KR" sz="1050" b="1" dirty="0">
                <a:solidFill>
                  <a:srgbClr val="293B4C"/>
                </a:solidFill>
              </a:rPr>
              <a:t>0.07~0.36). </a:t>
            </a:r>
          </a:p>
          <a:p>
            <a:pPr algn="ctr">
              <a:lnSpc>
                <a:spcPct val="150000"/>
              </a:lnSpc>
            </a:pP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rgbClr val="293B4C"/>
                </a:solidFill>
              </a:rPr>
              <a:t>권유는 행동의도로 곧바로 이어지기도 하고</a:t>
            </a:r>
            <a:r>
              <a:rPr lang="en-US" altLang="ko-KR" sz="1050" b="1" dirty="0">
                <a:solidFill>
                  <a:srgbClr val="293B4C"/>
                </a:solidFill>
              </a:rPr>
              <a:t>(</a:t>
            </a:r>
            <a:r>
              <a:rPr lang="ko-KR" altLang="en-US" sz="1050" b="1" dirty="0">
                <a:solidFill>
                  <a:srgbClr val="293B4C"/>
                </a:solidFill>
              </a:rPr>
              <a:t>직접효과 </a:t>
            </a:r>
            <a:r>
              <a:rPr lang="en-US" altLang="ko-KR" sz="1050" b="1" dirty="0">
                <a:solidFill>
                  <a:srgbClr val="293B4C"/>
                </a:solidFill>
              </a:rPr>
              <a:t>0.49), </a:t>
            </a:r>
            <a:r>
              <a:rPr lang="ko-KR" altLang="en-US" sz="1050" b="1" dirty="0">
                <a:solidFill>
                  <a:srgbClr val="293B4C"/>
                </a:solidFill>
              </a:rPr>
              <a:t>공동체 의식을 높여 이어지기도 함</a:t>
            </a:r>
            <a:r>
              <a:rPr lang="en-US" altLang="ko-KR" sz="1050" b="1" dirty="0">
                <a:solidFill>
                  <a:srgbClr val="293B4C"/>
                </a:solidFill>
              </a:rPr>
              <a:t>(</a:t>
            </a:r>
            <a:r>
              <a:rPr lang="ko-KR" altLang="en-US" sz="1050" b="1" dirty="0">
                <a:solidFill>
                  <a:srgbClr val="293B4C"/>
                </a:solidFill>
              </a:rPr>
              <a:t>부분매개</a:t>
            </a:r>
            <a:r>
              <a:rPr lang="en-US" altLang="ko-KR" sz="1050" b="1" dirty="0">
                <a:solidFill>
                  <a:srgbClr val="293B4C"/>
                </a:solidFill>
              </a:rPr>
              <a:t>).</a:t>
            </a:r>
          </a:p>
          <a:p>
            <a:pPr algn="ctr">
              <a:lnSpc>
                <a:spcPct val="150000"/>
              </a:lnSpc>
            </a:pP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dirty="0">
                <a:solidFill>
                  <a:srgbClr val="293B4C"/>
                </a:solidFill>
              </a:rPr>
              <a:t> </a:t>
            </a:r>
            <a:r>
              <a:rPr lang="ko-KR" altLang="en-US" sz="1050" b="1" dirty="0">
                <a:solidFill>
                  <a:srgbClr val="293B4C"/>
                </a:solidFill>
              </a:rPr>
              <a:t>반면 행사 환경 → 만족 → 행동의도 흐름은 확인되지 않았음</a:t>
            </a:r>
            <a:r>
              <a:rPr lang="en-US" altLang="ko-KR" sz="1050" b="1" dirty="0">
                <a:solidFill>
                  <a:srgbClr val="293B4C"/>
                </a:solidFill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US" altLang="ko-KR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rgbClr val="293B4C"/>
                </a:solidFill>
              </a:rPr>
              <a:t>좋은 행사가 만족은 만들었지만</a:t>
            </a:r>
            <a:r>
              <a:rPr lang="en-US" altLang="ko-KR" sz="1050" b="1" dirty="0">
                <a:solidFill>
                  <a:srgbClr val="293B4C"/>
                </a:solidFill>
              </a:rPr>
              <a:t>,</a:t>
            </a:r>
            <a:endParaRPr lang="ko-KR" altLang="en-US" sz="105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rgbClr val="293B4C"/>
                </a:solidFill>
              </a:rPr>
              <a:t>그 만족이 곧 다음 참여로 이어지지는 않았다는 뜻임</a:t>
            </a:r>
            <a:r>
              <a:rPr lang="en-US" altLang="ko-KR" sz="1050" b="1" dirty="0">
                <a:solidFill>
                  <a:srgbClr val="293B4C"/>
                </a:solidFill>
              </a:rPr>
              <a:t>.</a:t>
            </a:r>
            <a:r>
              <a:rPr lang="ko-KR" altLang="en-US" sz="1050" b="1" dirty="0">
                <a:solidFill>
                  <a:srgbClr val="293B4C"/>
                </a:solidFill>
              </a:rPr>
              <a:t> 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37F099F-07E7-E00C-5EBA-6F0404ACF848}"/>
              </a:ext>
            </a:extLst>
          </p:cNvPr>
          <p:cNvSpPr/>
          <p:nvPr/>
        </p:nvSpPr>
        <p:spPr>
          <a:xfrm>
            <a:off x="9863636" y="1413708"/>
            <a:ext cx="2108997" cy="332136"/>
          </a:xfrm>
          <a:prstGeom prst="roundRect">
            <a:avLst/>
          </a:prstGeom>
          <a:solidFill>
            <a:srgbClr val="91D1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</a:rPr>
              <a:t>분석 결과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46D07E-0159-12BA-9AC4-DCB1FB3D26AC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A89E93-7933-7083-FCA2-12AA5AF7175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3276884-F600-8CA9-92BF-3BBB6066126C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C274098-3CBA-D278-0FD6-33E4030C0FFE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98EB2A2-B1CC-EC31-86B7-8BFB58C8E3B8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FB03C28-CFBF-1A0F-58EA-B014DF08EEFE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F30E95A-1981-1D52-CB08-0E2278F0EE00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FFB09E3-0056-70D1-5F1C-DFA263810E72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309B828-F115-8BFA-0AD7-B7D9FD92FE39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0E86408-2D01-161B-7F18-F3A65D08836C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C64CC16-D1D7-8405-EEEC-7F7E6E8DE13C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A0CF9C-9509-DDE1-3E6E-7B8AD4703565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88BACA-120B-C45A-86CA-56CD8B2F2070}"/>
              </a:ext>
            </a:extLst>
          </p:cNvPr>
          <p:cNvSpPr txBox="1"/>
          <p:nvPr/>
        </p:nvSpPr>
        <p:spPr>
          <a:xfrm>
            <a:off x="372094" y="4797631"/>
            <a:ext cx="6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ko-KR" altLang="en-US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8" name="통계주석"/>
          <p:cNvSpPr txBox="1"/>
          <p:nvPr/>
        </p:nvSpPr>
        <p:spPr>
          <a:xfrm>
            <a:off x="502920" y="245059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6C0A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β : 화살표 방향의 영향력 크기</a:t>
            </a:r>
          </a:p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R² : 설명력 (0.70 = 70% 설명)</a:t>
            </a:r>
          </a:p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*** 확실  ·  n.s. 의미 없음</a:t>
            </a:r>
          </a:p>
        </p:txBody>
      </p:sp>
      <p:cxnSp>
        <p:nvCxnSpPr>
          <p:cNvPr id="119" name="통계주석 화살표"/>
          <p:cNvCxnSpPr/>
          <p:nvPr/>
        </p:nvCxnSpPr>
        <p:spPr>
          <a:xfrm flipV="1">
            <a:off x="2606040" y="2176272"/>
            <a:ext cx="411480" cy="338328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통계주석 화살표"/>
          <p:cNvCxnSpPr/>
          <p:nvPr/>
        </p:nvCxnSpPr>
        <p:spPr>
          <a:xfrm flipV="1">
            <a:off x="2606040" y="2194560"/>
            <a:ext cx="1965960" cy="502920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통계주석"/>
          <p:cNvSpPr txBox="1"/>
          <p:nvPr/>
        </p:nvSpPr>
        <p:spPr>
          <a:xfrm>
            <a:off x="1828800" y="1426464"/>
            <a:ext cx="242316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n.s. = not significant (의미 없음)</a:t>
            </a:r>
          </a:p>
        </p:txBody>
      </p:sp>
      <p:cxnSp>
        <p:nvCxnSpPr>
          <p:cNvPr id="122" name="통계주석 화살표"/>
          <p:cNvCxnSpPr/>
          <p:nvPr/>
        </p:nvCxnSpPr>
        <p:spPr>
          <a:xfrm>
            <a:off x="4251960" y="1527048"/>
            <a:ext cx="182880" cy="118872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통계주석"/>
          <p:cNvSpPr txBox="1"/>
          <p:nvPr/>
        </p:nvSpPr>
        <p:spPr>
          <a:xfrm>
            <a:off x="4206240" y="4718304"/>
            <a:ext cx="51206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E46C0A"/>
                </a:solidFill>
                <a:latin typeface="맑은 고딕"/>
                <a:ea typeface="맑은 고딕"/>
              </a:rPr>
              <a:t>부트스트랩 : 응답을 5,000번 다시 뽑아 계산해 결과가 우연인지 확인하는 방법</a:t>
            </a:r>
          </a:p>
        </p:txBody>
      </p:sp>
      <p:cxnSp>
        <p:nvCxnSpPr>
          <p:cNvPr id="124" name="통계주석 화살표"/>
          <p:cNvCxnSpPr/>
          <p:nvPr/>
        </p:nvCxnSpPr>
        <p:spPr>
          <a:xfrm>
            <a:off x="5486400" y="4919472"/>
            <a:ext cx="0" cy="137160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통계주석"/>
          <p:cNvSpPr txBox="1"/>
          <p:nvPr/>
        </p:nvSpPr>
        <p:spPr>
          <a:xfrm>
            <a:off x="4206240" y="6400800"/>
            <a:ext cx="5257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총효과 = 직접효과(마음을 거치지 않고 바로) + 간접효과(마음 O를 거쳐서)</a:t>
            </a:r>
          </a:p>
          <a:p>
            <a:pPr algn="l"/>
            <a:r>
              <a:rPr sz="800" b="1">
                <a:solidFill>
                  <a:srgbClr val="E46C0A"/>
                </a:solidFill>
                <a:latin typeface="맑은 고딕"/>
                <a:ea typeface="맑은 고딕"/>
              </a:rPr>
              <a:t>95% 신뢰구간에 0이 없으면 매개효과 있음 → 세 번째 경로만 ‘부분 매개’</a:t>
            </a:r>
          </a:p>
        </p:txBody>
      </p:sp>
      <p:cxnSp>
        <p:nvCxnSpPr>
          <p:cNvPr id="126" name="통계주석 화살표"/>
          <p:cNvCxnSpPr/>
          <p:nvPr/>
        </p:nvCxnSpPr>
        <p:spPr>
          <a:xfrm flipV="1">
            <a:off x="7452360" y="6336792"/>
            <a:ext cx="0" cy="91440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749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3565B-A7F3-36F4-64EF-278AAEB5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D028E55F-BEAE-B8BA-AA37-1CFACCBFC80A}"/>
              </a:ext>
            </a:extLst>
          </p:cNvPr>
          <p:cNvSpPr txBox="1"/>
          <p:nvPr/>
        </p:nvSpPr>
        <p:spPr>
          <a:xfrm>
            <a:off x="838402" y="993120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참가 동기에 따라 흐름이 달라지는가</a:t>
            </a:r>
            <a:r>
              <a:rPr lang="en-US" altLang="ko-KR" sz="2000" b="1" dirty="0">
                <a:solidFill/>
                <a:latin typeface="맑은 고딕"/>
                <a:ea typeface="+mj-ea"/>
              </a:rPr>
              <a:t>? – </a:t>
            </a:r>
            <a:r>
              <a:rPr lang="ko-KR" altLang="en-US" sz="2000" b="1" dirty="0">
                <a:solidFill/>
                <a:latin typeface="맑은 고딕"/>
                <a:ea typeface="+mj-ea"/>
              </a:rPr>
              <a:t>기각</a:t>
            </a:r>
            <a:r>
              <a:rPr lang="en-US" altLang="ko-KR" sz="2000" b="1" dirty="0">
                <a:solidFill>
                  <a:srgbClr val="E8704D"/>
                </a:solidFill>
                <a:latin typeface="맑은 고딕"/>
                <a:ea typeface="+mj-ea"/>
              </a:rPr>
              <a:t>(NO)</a:t>
            </a:r>
            <a:endParaRPr 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157389D-C0C9-FE50-90AF-396476A3327F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6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DADD82BC-838C-17B5-A905-AAF34DB9E129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 err="1">
                <a:solidFill/>
              </a:rPr>
              <a:t>Ⅴ.S</a:t>
            </a:r>
            <a:r>
              <a:rPr lang="en-US" altLang="ko-KR" sz="3200" dirty="0">
                <a:solidFill/>
              </a:rPr>
              <a:t>-O-R </a:t>
            </a:r>
            <a:r>
              <a:rPr lang="ko-KR" altLang="en-US" sz="3200" dirty="0">
                <a:solidFill/>
              </a:rPr>
              <a:t>모형 분석결과</a:t>
            </a:r>
            <a:r>
              <a:rPr lang="en-US" altLang="ko-KR" sz="2400" dirty="0">
                <a:solidFill/>
              </a:rPr>
              <a:t>(6/6)</a:t>
            </a:r>
            <a:endParaRPr lang="ko-KR" altLang="en-US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BCA250-DA12-30A6-2375-A53F91C33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265518"/>
              </p:ext>
            </p:extLst>
          </p:nvPr>
        </p:nvGraphicFramePr>
        <p:xfrm>
          <a:off x="723392" y="1370481"/>
          <a:ext cx="5054139" cy="103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828">
                  <a:extLst>
                    <a:ext uri="{9D8B030D-6E8A-4147-A177-3AD203B41FA5}">
                      <a16:colId xmlns:a16="http://schemas.microsoft.com/office/drawing/2014/main" val="1079452646"/>
                    </a:ext>
                  </a:extLst>
                </a:gridCol>
                <a:gridCol w="784853">
                  <a:extLst>
                    <a:ext uri="{9D8B030D-6E8A-4147-A177-3AD203B41FA5}">
                      <a16:colId xmlns:a16="http://schemas.microsoft.com/office/drawing/2014/main" val="4061663430"/>
                    </a:ext>
                  </a:extLst>
                </a:gridCol>
                <a:gridCol w="1216132">
                  <a:extLst>
                    <a:ext uri="{9D8B030D-6E8A-4147-A177-3AD203B41FA5}">
                      <a16:colId xmlns:a16="http://schemas.microsoft.com/office/drawing/2014/main" val="3598855212"/>
                    </a:ext>
                  </a:extLst>
                </a:gridCol>
                <a:gridCol w="831326">
                  <a:extLst>
                    <a:ext uri="{9D8B030D-6E8A-4147-A177-3AD203B41FA5}">
                      <a16:colId xmlns:a16="http://schemas.microsoft.com/office/drawing/2014/main" val="1407458824"/>
                    </a:ext>
                  </a:extLst>
                </a:gridCol>
              </a:tblGrid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참가 동기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평균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만족 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×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동기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90692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운동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건강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(27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번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3.09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-0.03 </a:t>
                      </a:r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.818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04273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성도와 즐거운 시간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(28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번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1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4.13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0.16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.093 †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213830"/>
                  </a:ext>
                </a:extLst>
              </a:tr>
              <a:tr h="152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교회 행사 동참 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(29</a:t>
                      </a:r>
                      <a:r>
                        <a:rPr lang="ko-KR" altLang="en-US" sz="1100" b="1" dirty="0">
                          <a:solidFill>
                            <a:srgbClr val="293B4C"/>
                          </a:solidFill>
                        </a:rPr>
                        <a:t>번</a:t>
                      </a: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)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4.57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0.23 </a:t>
                      </a:r>
                      <a:endParaRPr lang="ko-KR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solidFill>
                            <a:srgbClr val="293B4C"/>
                          </a:solidFill>
                        </a:rPr>
                        <a:t>.284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375576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791B29-AA53-076B-5AE3-72F703E4F918}"/>
              </a:ext>
            </a:extLst>
          </p:cNvPr>
          <p:cNvSpPr/>
          <p:nvPr/>
        </p:nvSpPr>
        <p:spPr>
          <a:xfrm>
            <a:off x="6158874" y="1385000"/>
            <a:ext cx="6003056" cy="1021801"/>
          </a:xfrm>
          <a:prstGeom prst="roundRect">
            <a:avLst/>
          </a:prstGeom>
          <a:solidFill>
            <a:srgbClr val="E2F4FC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050" b="1" dirty="0" err="1">
                <a:solidFill>
                  <a:srgbClr val="293B4C"/>
                </a:solidFill>
              </a:rPr>
              <a:t>ㆍ어떤</a:t>
            </a:r>
            <a:r>
              <a:rPr lang="ko-KR" altLang="en-US" sz="1050" b="1" dirty="0">
                <a:solidFill>
                  <a:srgbClr val="293B4C"/>
                </a:solidFill>
              </a:rPr>
              <a:t> 동기로 왔든 만족이 행동의도로 이어지는 정도는 같음</a:t>
            </a:r>
            <a:r>
              <a:rPr lang="en-US" altLang="ko-KR" sz="1050" b="1" dirty="0">
                <a:solidFill>
                  <a:srgbClr val="293B4C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 err="1">
                <a:solidFill>
                  <a:srgbClr val="293B4C"/>
                </a:solidFill>
              </a:rPr>
              <a:t>ㆍ성도들의</a:t>
            </a:r>
            <a:r>
              <a:rPr lang="ko-KR" altLang="en-US" sz="1050" b="1" dirty="0">
                <a:solidFill>
                  <a:srgbClr val="293B4C"/>
                </a:solidFill>
              </a:rPr>
              <a:t> 참가 동기는 교회 행사에 함께하기 위해</a:t>
            </a:r>
            <a:r>
              <a:rPr lang="en-US" altLang="ko-KR" sz="1050" b="1" dirty="0">
                <a:solidFill>
                  <a:srgbClr val="293B4C"/>
                </a:solidFill>
              </a:rPr>
              <a:t>(4.57)</a:t>
            </a:r>
            <a:r>
              <a:rPr lang="ko-KR" altLang="en-US" sz="1050" b="1" dirty="0">
                <a:solidFill>
                  <a:srgbClr val="293B4C"/>
                </a:solidFill>
              </a:rPr>
              <a:t>가 가장 강했고</a:t>
            </a:r>
            <a:r>
              <a:rPr lang="en-US" altLang="ko-KR" sz="1050" b="1" dirty="0">
                <a:solidFill>
                  <a:srgbClr val="293B4C"/>
                </a:solidFill>
              </a:rPr>
              <a:t>, </a:t>
            </a:r>
            <a:r>
              <a:rPr lang="ko-KR" altLang="en-US" sz="1050" b="1" dirty="0">
                <a:solidFill>
                  <a:srgbClr val="293B4C"/>
                </a:solidFill>
              </a:rPr>
              <a:t>운동</a:t>
            </a:r>
            <a:r>
              <a:rPr lang="en-US" altLang="ko-KR" sz="1050" b="1" dirty="0">
                <a:solidFill>
                  <a:srgbClr val="293B4C"/>
                </a:solidFill>
              </a:rPr>
              <a:t>·</a:t>
            </a:r>
            <a:r>
              <a:rPr lang="ko-KR" altLang="en-US" sz="1050" b="1" dirty="0">
                <a:solidFill>
                  <a:srgbClr val="293B4C"/>
                </a:solidFill>
              </a:rPr>
              <a:t>건강</a:t>
            </a:r>
            <a:r>
              <a:rPr lang="en-US" altLang="ko-KR" sz="1050" b="1" dirty="0">
                <a:solidFill>
                  <a:srgbClr val="293B4C"/>
                </a:solidFill>
              </a:rPr>
              <a:t>(3.09)</a:t>
            </a:r>
            <a:r>
              <a:rPr lang="ko-KR" altLang="en-US" sz="1050" b="1" dirty="0">
                <a:solidFill>
                  <a:srgbClr val="293B4C"/>
                </a:solidFill>
              </a:rPr>
              <a:t>은 </a:t>
            </a:r>
            <a:endParaRPr lang="en-US" altLang="ko-KR" sz="105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293B4C"/>
                </a:solidFill>
              </a:rPr>
              <a:t>   </a:t>
            </a:r>
            <a:r>
              <a:rPr lang="ko-KR" altLang="en-US" sz="1050" b="1" dirty="0">
                <a:solidFill>
                  <a:srgbClr val="293B4C"/>
                </a:solidFill>
              </a:rPr>
              <a:t>약했음</a:t>
            </a:r>
            <a:r>
              <a:rPr lang="en-US" altLang="ko-KR" sz="1050" b="1" dirty="0">
                <a:solidFill>
                  <a:srgbClr val="293B4C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 err="1">
                <a:solidFill>
                  <a:srgbClr val="293B4C"/>
                </a:solidFill>
              </a:rPr>
              <a:t>ㆍ이</a:t>
            </a:r>
            <a:r>
              <a:rPr lang="ko-KR" altLang="en-US" sz="1050" b="1" dirty="0">
                <a:solidFill>
                  <a:srgbClr val="293B4C"/>
                </a:solidFill>
              </a:rPr>
              <a:t> 역시 </a:t>
            </a:r>
            <a:r>
              <a:rPr lang="en-US" altLang="ko-KR" sz="1050" b="1" dirty="0">
                <a:solidFill>
                  <a:srgbClr val="293B4C"/>
                </a:solidFill>
              </a:rPr>
              <a:t>R</a:t>
            </a:r>
            <a:r>
              <a:rPr lang="ko-KR" altLang="en-US" sz="1050" b="1" dirty="0">
                <a:solidFill>
                  <a:srgbClr val="293B4C"/>
                </a:solidFill>
              </a:rPr>
              <a:t>을 움직이는 힘이 ‘</a:t>
            </a:r>
            <a:r>
              <a:rPr lang="ko-KR" altLang="en-US" sz="1050" b="1" dirty="0" err="1">
                <a:solidFill>
                  <a:srgbClr val="293B4C"/>
                </a:solidFill>
              </a:rPr>
              <a:t>공동체’에</a:t>
            </a:r>
            <a:r>
              <a:rPr lang="ko-KR" altLang="en-US" sz="1050" b="1" dirty="0">
                <a:solidFill>
                  <a:srgbClr val="293B4C"/>
                </a:solidFill>
              </a:rPr>
              <a:t> 있다는 결과와 맞닿아 있음을 확인함</a:t>
            </a:r>
            <a:r>
              <a:rPr lang="en-US" altLang="ko-KR" sz="1050" b="1" dirty="0">
                <a:solidFill>
                  <a:srgbClr val="293B4C"/>
                </a:solidFill>
              </a:rPr>
              <a:t>.</a:t>
            </a:r>
            <a:endParaRPr lang="ko-KR" altLang="en-US" sz="1000" b="1" dirty="0">
              <a:solidFill>
                <a:srgbClr val="000000"/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A8ECA1F-B52A-CE8E-E8F7-C32AD1098ADC}"/>
              </a:ext>
            </a:extLst>
          </p:cNvPr>
          <p:cNvSpPr txBox="1"/>
          <p:nvPr/>
        </p:nvSpPr>
        <p:spPr>
          <a:xfrm>
            <a:off x="838402" y="2793959"/>
            <a:ext cx="5656708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/>
                <a:latin typeface="맑은 고딕"/>
                <a:ea typeface="+mj-ea"/>
              </a:rPr>
              <a:t>다음 체육대회를 위한 시사점</a:t>
            </a:r>
            <a:endParaRPr 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9CB7D7-7245-6AA2-E293-EE4AF5C42147}"/>
              </a:ext>
            </a:extLst>
          </p:cNvPr>
          <p:cNvSpPr/>
          <p:nvPr/>
        </p:nvSpPr>
        <p:spPr>
          <a:xfrm>
            <a:off x="338840" y="2770409"/>
            <a:ext cx="365763" cy="306772"/>
          </a:xfrm>
          <a:prstGeom prst="rect">
            <a:avLst/>
          </a:prstGeom>
          <a:solidFill>
            <a:srgbClr val="FFEBA2"/>
          </a:solidFill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293B4C"/>
                </a:solidFill>
              </a:rPr>
              <a:t>7</a:t>
            </a:r>
            <a:endParaRPr lang="ko-KR" altLang="en-US" sz="2400" b="1" dirty="0">
              <a:solidFill>
                <a:srgbClr val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C107B54-E954-1DDD-86B7-F76A9A906DB4}"/>
              </a:ext>
            </a:extLst>
          </p:cNvPr>
          <p:cNvSpPr/>
          <p:nvPr/>
        </p:nvSpPr>
        <p:spPr>
          <a:xfrm>
            <a:off x="760021" y="3240497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050B641-8D37-A4E9-3290-767333880339}"/>
              </a:ext>
            </a:extLst>
          </p:cNvPr>
          <p:cNvSpPr txBox="1"/>
          <p:nvPr/>
        </p:nvSpPr>
        <p:spPr>
          <a:xfrm>
            <a:off x="978921" y="3177077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S 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자극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에서 고칠 것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8FC563A0-88DF-B82D-4457-5F08EDA1081B}"/>
              </a:ext>
            </a:extLst>
          </p:cNvPr>
          <p:cNvSpPr/>
          <p:nvPr/>
        </p:nvSpPr>
        <p:spPr>
          <a:xfrm>
            <a:off x="961903" y="3522491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7AFF7FED-5FFA-E64E-19AC-21E81C5015F0}"/>
              </a:ext>
            </a:extLst>
          </p:cNvPr>
          <p:cNvSpPr txBox="1"/>
          <p:nvPr/>
        </p:nvSpPr>
        <p:spPr>
          <a:xfrm>
            <a:off x="1206531" y="3456880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식사 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배식 대신 도시락</a:t>
            </a:r>
            <a:r>
              <a:rPr lang="en-US" altLang="ko-KR" sz="1200" b="1" dirty="0">
                <a:solidFill/>
              </a:rPr>
              <a:t>(</a:t>
            </a:r>
            <a:r>
              <a:rPr lang="ko-KR" altLang="en-US" sz="1200" b="1" dirty="0">
                <a:solidFill/>
              </a:rPr>
              <a:t>국은 따로 데워 제공</a:t>
            </a:r>
            <a:r>
              <a:rPr lang="en-US" altLang="ko-KR" sz="1200" b="1" dirty="0">
                <a:solidFill/>
              </a:rPr>
              <a:t>),</a:t>
            </a:r>
            <a:r>
              <a:rPr lang="ko-KR" altLang="en-US" sz="1200" b="1" dirty="0">
                <a:solidFill/>
              </a:rPr>
              <a:t> 출장뷔페</a:t>
            </a:r>
            <a:r>
              <a:rPr lang="en-US" altLang="ko-KR" sz="1200" b="1" dirty="0">
                <a:solidFill/>
              </a:rPr>
              <a:t>,</a:t>
            </a:r>
            <a:r>
              <a:rPr lang="ko-KR" altLang="en-US" sz="1200" b="1" dirty="0">
                <a:solidFill/>
              </a:rPr>
              <a:t> 배식 봉사자 경기참여 여건 보장</a:t>
            </a:r>
            <a:r>
              <a:rPr lang="en-US" altLang="ko-KR" sz="1200" b="1" dirty="0">
                <a:solidFill/>
              </a:rPr>
              <a:t>.</a:t>
            </a:r>
            <a:r>
              <a:rPr lang="ko-KR" altLang="en-US" sz="1200" b="1" dirty="0">
                <a:solidFill/>
              </a:rPr>
              <a:t> </a:t>
            </a:r>
            <a:endParaRPr lang="en-US" altLang="ko-KR" sz="1200" b="1" dirty="0"/>
          </a:p>
          <a:p>
            <a:pPr>
              <a:lnSpc>
                <a:spcPct val="100000"/>
              </a:lnSpc>
            </a:pPr>
            <a:endParaRPr lang="en-US" altLang="ko-KR" sz="1400" b="1" dirty="0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DE94EBEE-F46A-FD05-13A5-8FF9A029F142}"/>
              </a:ext>
            </a:extLst>
          </p:cNvPr>
          <p:cNvSpPr/>
          <p:nvPr/>
        </p:nvSpPr>
        <p:spPr>
          <a:xfrm>
            <a:off x="961903" y="3787706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BBF9075-C62D-D096-6C71-E727BD9FC5D3}"/>
              </a:ext>
            </a:extLst>
          </p:cNvPr>
          <p:cNvSpPr txBox="1"/>
          <p:nvPr/>
        </p:nvSpPr>
        <p:spPr>
          <a:xfrm>
            <a:off x="1206531" y="3722095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전 세대 공동 종목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가장 많은 요청</a:t>
            </a:r>
            <a:r>
              <a:rPr lang="en-US" altLang="ko-KR" sz="1200" b="1" dirty="0">
                <a:solidFill/>
              </a:rPr>
              <a:t>(</a:t>
            </a:r>
            <a:r>
              <a:rPr lang="ko-KR" altLang="en-US" sz="1200" b="1" dirty="0">
                <a:solidFill/>
              </a:rPr>
              <a:t>약 </a:t>
            </a:r>
            <a:r>
              <a:rPr lang="en-US" altLang="ko-KR" sz="1200" b="1" dirty="0">
                <a:solidFill/>
              </a:rPr>
              <a:t>18</a:t>
            </a:r>
            <a:r>
              <a:rPr lang="ko-KR" altLang="en-US" sz="1200" b="1" dirty="0">
                <a:solidFill/>
              </a:rPr>
              <a:t>건</a:t>
            </a:r>
            <a:r>
              <a:rPr lang="en-US" altLang="ko-KR" sz="1200" b="1" dirty="0">
                <a:solidFill/>
              </a:rPr>
              <a:t>)</a:t>
            </a:r>
            <a:r>
              <a:rPr lang="ko-KR" altLang="en-US" sz="1200" b="1" dirty="0">
                <a:solidFill/>
              </a:rPr>
              <a:t>으로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 err="1">
                <a:solidFill/>
              </a:rPr>
              <a:t>유치부</a:t>
            </a:r>
            <a:r>
              <a:rPr lang="ko-KR" altLang="en-US" sz="1200" b="1" dirty="0">
                <a:solidFill/>
              </a:rPr>
              <a:t> </a:t>
            </a:r>
            <a:r>
              <a:rPr lang="en-US" altLang="ko-KR" sz="1200" b="1" dirty="0">
                <a:solidFill/>
              </a:rPr>
              <a:t>~ </a:t>
            </a:r>
            <a:r>
              <a:rPr lang="ko-KR" altLang="en-US" sz="1200" b="1" dirty="0">
                <a:solidFill/>
              </a:rPr>
              <a:t>어르신께서 함께하는 종목과 ‘</a:t>
            </a:r>
            <a:r>
              <a:rPr lang="en-US" altLang="ko-KR" sz="1200" b="1" dirty="0">
                <a:solidFill/>
              </a:rPr>
              <a:t>1</a:t>
            </a:r>
            <a:r>
              <a:rPr lang="ko-KR" altLang="en-US" sz="1200" b="1" dirty="0">
                <a:solidFill/>
              </a:rPr>
              <a:t>인 </a:t>
            </a:r>
            <a:r>
              <a:rPr lang="en-US" altLang="ko-KR" sz="1200" b="1" dirty="0">
                <a:solidFill/>
              </a:rPr>
              <a:t>1</a:t>
            </a:r>
            <a:r>
              <a:rPr lang="ko-KR" altLang="en-US" sz="1200" b="1" dirty="0">
                <a:solidFill/>
              </a:rPr>
              <a:t>경기’ 원칙을 계획서 단계</a:t>
            </a:r>
            <a:r>
              <a:rPr lang="en-US" altLang="ko-KR" sz="1200" b="1" dirty="0">
                <a:solidFill/>
              </a:rPr>
              <a:t>(D-30)</a:t>
            </a:r>
            <a:r>
              <a:rPr lang="ko-KR" altLang="en-US" sz="1200" b="1" dirty="0">
                <a:solidFill/>
              </a:rPr>
              <a:t>에 반영</a:t>
            </a:r>
            <a:r>
              <a:rPr lang="en-US" altLang="ko-KR" sz="1200" b="1" dirty="0">
                <a:solidFill/>
              </a:rPr>
              <a:t>.</a:t>
            </a:r>
          </a:p>
          <a:p>
            <a:endParaRPr lang="ko-KR" altLang="en-US" sz="1200" b="1" dirty="0"/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746EBC49-11DE-39FE-0ABB-A826037C677E}"/>
              </a:ext>
            </a:extLst>
          </p:cNvPr>
          <p:cNvSpPr/>
          <p:nvPr/>
        </p:nvSpPr>
        <p:spPr>
          <a:xfrm>
            <a:off x="961903" y="4052921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4913DB5-134D-1DDD-5FEF-25117B9C382D}"/>
              </a:ext>
            </a:extLst>
          </p:cNvPr>
          <p:cNvSpPr txBox="1"/>
          <p:nvPr/>
        </p:nvSpPr>
        <p:spPr>
          <a:xfrm>
            <a:off x="1206531" y="3987310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유지할 강점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시설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시간 운영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종목 진행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경품 현 수준</a:t>
            </a:r>
            <a:r>
              <a:rPr lang="en-US" altLang="ko-KR" sz="1200" b="1" dirty="0">
                <a:solidFill/>
              </a:rPr>
              <a:t>(4.4</a:t>
            </a:r>
            <a:r>
              <a:rPr lang="ko-KR" altLang="en-US" sz="1200" b="1" dirty="0">
                <a:solidFill/>
              </a:rPr>
              <a:t>점 이상</a:t>
            </a:r>
            <a:r>
              <a:rPr lang="en-US" altLang="ko-KR" sz="1200" b="1" dirty="0">
                <a:solidFill/>
              </a:rPr>
              <a:t>) </a:t>
            </a:r>
            <a:r>
              <a:rPr lang="ko-KR" altLang="en-US" sz="1200" b="1" dirty="0">
                <a:solidFill/>
              </a:rPr>
              <a:t>유지</a:t>
            </a:r>
            <a:r>
              <a:rPr lang="en-US" altLang="ko-KR" sz="1200" b="1" dirty="0">
                <a:solidFill/>
              </a:rPr>
              <a:t>. </a:t>
            </a:r>
            <a:r>
              <a:rPr lang="ko-KR" altLang="en-US" sz="1200" b="1" dirty="0">
                <a:solidFill/>
              </a:rPr>
              <a:t>→ </a:t>
            </a:r>
            <a:r>
              <a:rPr lang="ko-KR" altLang="en-US" sz="1200" b="1" dirty="0">
                <a:solidFill>
                  <a:srgbClr val="3333FF"/>
                </a:solidFill>
              </a:rPr>
              <a:t>첫 참석 성도는 안내 요원 배치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9F3DB5D-9DE2-70AF-1D71-47ED1714AD5C}"/>
              </a:ext>
            </a:extLst>
          </p:cNvPr>
          <p:cNvSpPr/>
          <p:nvPr/>
        </p:nvSpPr>
        <p:spPr>
          <a:xfrm>
            <a:off x="760021" y="4491522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48B2AAC-FD8B-0E76-0C5B-A364354ECD91}"/>
              </a:ext>
            </a:extLst>
          </p:cNvPr>
          <p:cNvSpPr txBox="1"/>
          <p:nvPr/>
        </p:nvSpPr>
        <p:spPr>
          <a:xfrm>
            <a:off x="978922" y="4428102"/>
            <a:ext cx="2433256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O 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유기체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에서 고칠 것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DEB940DB-F41D-F229-FF8F-69D61A2C573C}"/>
              </a:ext>
            </a:extLst>
          </p:cNvPr>
          <p:cNvSpPr/>
          <p:nvPr/>
        </p:nvSpPr>
        <p:spPr>
          <a:xfrm>
            <a:off x="961903" y="4787657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A4F1DC62-003D-4CF1-3C9C-881E02B1D2F0}"/>
              </a:ext>
            </a:extLst>
          </p:cNvPr>
          <p:cNvSpPr txBox="1"/>
          <p:nvPr/>
        </p:nvSpPr>
        <p:spPr>
          <a:xfrm>
            <a:off x="1206531" y="4742555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공동체 의미 높이기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개회</a:t>
            </a:r>
            <a:r>
              <a:rPr lang="en-US" altLang="ko-KR" sz="1200" b="1" dirty="0">
                <a:solidFill/>
              </a:rPr>
              <a:t>·</a:t>
            </a:r>
            <a:r>
              <a:rPr lang="ko-KR" altLang="en-US" sz="1200" b="1" dirty="0">
                <a:solidFill/>
              </a:rPr>
              <a:t>폐회 예배의 메시지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팀을 선교회</a:t>
            </a:r>
            <a:r>
              <a:rPr lang="en-US" altLang="ko-KR" sz="1200" b="1" dirty="0">
                <a:solidFill/>
              </a:rPr>
              <a:t>·</a:t>
            </a:r>
            <a:r>
              <a:rPr lang="ko-KR" altLang="en-US" sz="1200" b="1" dirty="0">
                <a:solidFill/>
              </a:rPr>
              <a:t>세대 혼합 편성</a:t>
            </a:r>
            <a:endParaRPr lang="en-US" altLang="ko-KR" sz="1200" b="1" dirty="0">
              <a:solidFill/>
            </a:endParaRP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A64D602C-E07D-76B5-354A-569D543E4663}"/>
              </a:ext>
            </a:extLst>
          </p:cNvPr>
          <p:cNvSpPr/>
          <p:nvPr/>
        </p:nvSpPr>
        <p:spPr>
          <a:xfrm>
            <a:off x="961903" y="506063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EA957905-766F-6729-11B1-9C8B0C43A043}"/>
              </a:ext>
            </a:extLst>
          </p:cNvPr>
          <p:cNvSpPr txBox="1"/>
          <p:nvPr/>
        </p:nvSpPr>
        <p:spPr>
          <a:xfrm>
            <a:off x="1206531" y="5007321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교제</a:t>
            </a:r>
            <a:r>
              <a:rPr lang="en-US" altLang="ko-KR" sz="1200" b="1" dirty="0">
                <a:solidFill/>
              </a:rPr>
              <a:t>·</a:t>
            </a:r>
            <a:r>
              <a:rPr lang="ko-KR" altLang="en-US" sz="1200" b="1" dirty="0">
                <a:solidFill/>
              </a:rPr>
              <a:t>단합 보완</a:t>
            </a:r>
            <a:r>
              <a:rPr lang="en-US" altLang="ko-KR" sz="1200" b="1" dirty="0">
                <a:solidFill/>
              </a:rPr>
              <a:t>: “</a:t>
            </a:r>
            <a:r>
              <a:rPr lang="ko-KR" altLang="en-US" sz="1200" b="1" dirty="0">
                <a:solidFill/>
              </a:rPr>
              <a:t>평소 모르던 성도와 가까워졌다”</a:t>
            </a:r>
            <a:r>
              <a:rPr lang="en-US" altLang="ko-KR" sz="1200" b="1" dirty="0">
                <a:solidFill/>
              </a:rPr>
              <a:t>(3.74)</a:t>
            </a:r>
            <a:r>
              <a:rPr lang="ko-KR" altLang="en-US" sz="1200" b="1" dirty="0">
                <a:solidFill/>
              </a:rPr>
              <a:t>가 낮음</a:t>
            </a:r>
            <a:r>
              <a:rPr lang="en-US" altLang="ko-KR" sz="1200" b="1" dirty="0">
                <a:solidFill/>
              </a:rPr>
              <a:t>. </a:t>
            </a:r>
            <a:r>
              <a:rPr lang="ko-KR" altLang="en-US" sz="1200" b="1" dirty="0">
                <a:solidFill/>
              </a:rPr>
              <a:t>팀 안 소개 시간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세대 혼합 종목 추가 편성</a:t>
            </a:r>
            <a:r>
              <a:rPr lang="en-US" altLang="ko-KR" sz="1200" b="1" dirty="0">
                <a:solidFill/>
              </a:rPr>
              <a:t>.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7BC82FE-74B8-96DA-FB16-8A69D54C1761}"/>
              </a:ext>
            </a:extLst>
          </p:cNvPr>
          <p:cNvSpPr/>
          <p:nvPr/>
        </p:nvSpPr>
        <p:spPr>
          <a:xfrm>
            <a:off x="760021" y="5524207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340B55F9-201D-64F3-F737-762A2AE6D7D1}"/>
              </a:ext>
            </a:extLst>
          </p:cNvPr>
          <p:cNvSpPr txBox="1"/>
          <p:nvPr/>
        </p:nvSpPr>
        <p:spPr>
          <a:xfrm>
            <a:off x="978921" y="5460787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R (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반응</a:t>
            </a:r>
            <a:r>
              <a:rPr lang="en-US" altLang="ko-KR" sz="1600" b="1" dirty="0">
                <a:solidFill>
                  <a:srgbClr val="293B4C"/>
                </a:solidFill>
                <a:latin typeface="맑은 고딕"/>
                <a:ea typeface="+mj-ea"/>
              </a:rPr>
              <a:t>)</a:t>
            </a: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을 이끌어 낼 것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F5C5FFD7-E794-8C76-041A-450B63C21810}"/>
              </a:ext>
            </a:extLst>
          </p:cNvPr>
          <p:cNvSpPr/>
          <p:nvPr/>
        </p:nvSpPr>
        <p:spPr>
          <a:xfrm>
            <a:off x="961903" y="5795620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CC55505B-082C-341C-7C20-54C143FAE058}"/>
              </a:ext>
            </a:extLst>
          </p:cNvPr>
          <p:cNvSpPr txBox="1"/>
          <p:nvPr/>
        </p:nvSpPr>
        <p:spPr>
          <a:xfrm>
            <a:off x="1206531" y="5806759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권유를 일정에 넣기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권유는 공동체 의식을 거쳐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또 직접적으로 참가 의향을 높임</a:t>
            </a:r>
            <a:r>
              <a:rPr lang="en-US" altLang="ko-KR" sz="1200" b="1" dirty="0">
                <a:solidFill/>
              </a:rPr>
              <a:t>. </a:t>
            </a:r>
            <a:r>
              <a:rPr lang="ko-KR" altLang="en-US" sz="1200" b="1" dirty="0">
                <a:solidFill/>
              </a:rPr>
              <a:t>따라서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목회자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선교회장 등 </a:t>
            </a:r>
            <a:r>
              <a:rPr lang="ko-KR" altLang="en-US" sz="1200" b="1" dirty="0">
                <a:solidFill>
                  <a:srgbClr val="3333FF"/>
                </a:solidFill>
              </a:rPr>
              <a:t>참가 독려</a:t>
            </a:r>
            <a:r>
              <a:rPr lang="ko-KR" altLang="en-US" sz="1200" b="1" dirty="0">
                <a:solidFill/>
              </a:rPr>
              <a:t>를 </a:t>
            </a:r>
            <a:r>
              <a:rPr lang="en-US" altLang="ko-KR" sz="1200" b="1" dirty="0">
                <a:solidFill/>
              </a:rPr>
              <a:t>D-14 </a:t>
            </a:r>
            <a:r>
              <a:rPr lang="ko-KR" altLang="en-US" sz="1200" b="1" dirty="0" err="1">
                <a:solidFill/>
              </a:rPr>
              <a:t>승인ㆍ광고단계의</a:t>
            </a:r>
            <a:r>
              <a:rPr lang="ko-KR" altLang="en-US" sz="1200" b="1" dirty="0">
                <a:solidFill/>
              </a:rPr>
              <a:t> </a:t>
            </a:r>
            <a:endParaRPr lang="en-US" altLang="ko-KR" sz="1200" b="1" dirty="0">
              <a:solidFill/>
            </a:endParaRPr>
          </a:p>
          <a:p>
            <a:r>
              <a:rPr lang="ko-KR" altLang="en-US" sz="1200" b="1" dirty="0">
                <a:solidFill/>
              </a:rPr>
              <a:t>공식 일정으로 반영</a:t>
            </a:r>
            <a:r>
              <a:rPr lang="en-US" altLang="ko-KR" sz="1200" b="1" dirty="0">
                <a:solidFill/>
              </a:rPr>
              <a:t>.</a:t>
            </a:r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A33BD82B-4421-52F3-EE2B-FE847DD253D3}"/>
              </a:ext>
            </a:extLst>
          </p:cNvPr>
          <p:cNvSpPr/>
          <p:nvPr/>
        </p:nvSpPr>
        <p:spPr>
          <a:xfrm>
            <a:off x="961903" y="6310678"/>
            <a:ext cx="154379" cy="1029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30942841-753E-7A70-AEC5-6B572C4B4CD8}"/>
              </a:ext>
            </a:extLst>
          </p:cNvPr>
          <p:cNvSpPr txBox="1"/>
          <p:nvPr/>
        </p:nvSpPr>
        <p:spPr>
          <a:xfrm>
            <a:off x="1206531" y="6257369"/>
            <a:ext cx="10955399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/>
              </a:rPr>
              <a:t>섬김의 문턱 낮추기</a:t>
            </a:r>
            <a:r>
              <a:rPr lang="en-US" altLang="ko-KR" sz="1200" b="1" dirty="0">
                <a:solidFill/>
              </a:rPr>
              <a:t>: </a:t>
            </a:r>
            <a:r>
              <a:rPr lang="ko-KR" altLang="en-US" sz="1200" b="1" dirty="0">
                <a:solidFill/>
              </a:rPr>
              <a:t>준비</a:t>
            </a:r>
            <a:r>
              <a:rPr lang="en-US" altLang="ko-KR" sz="1200" b="1" dirty="0">
                <a:solidFill/>
              </a:rPr>
              <a:t>·</a:t>
            </a:r>
            <a:r>
              <a:rPr lang="ko-KR" altLang="en-US" sz="1200" b="1" dirty="0">
                <a:solidFill/>
              </a:rPr>
              <a:t>진행 참여 의향</a:t>
            </a:r>
            <a:r>
              <a:rPr lang="en-US" altLang="ko-KR" sz="1200" b="1" dirty="0">
                <a:solidFill/>
              </a:rPr>
              <a:t>(3.59)</a:t>
            </a:r>
            <a:r>
              <a:rPr lang="ko-KR" altLang="en-US" sz="1200" b="1" dirty="0">
                <a:solidFill/>
              </a:rPr>
              <a:t>이 낮음</a:t>
            </a:r>
            <a:r>
              <a:rPr lang="en-US" altLang="ko-KR" sz="1200" b="1" dirty="0">
                <a:solidFill/>
              </a:rPr>
              <a:t>. </a:t>
            </a:r>
            <a:r>
              <a:rPr lang="ko-KR" altLang="en-US" sz="1200" b="1" dirty="0">
                <a:solidFill/>
              </a:rPr>
              <a:t>종목별 보조</a:t>
            </a:r>
            <a:r>
              <a:rPr lang="en-US" altLang="ko-KR" sz="1200" b="1" dirty="0">
                <a:solidFill/>
              </a:rPr>
              <a:t>, </a:t>
            </a:r>
            <a:r>
              <a:rPr lang="ko-KR" altLang="en-US" sz="1200" b="1" dirty="0">
                <a:solidFill/>
              </a:rPr>
              <a:t>응원 담당처럼 작은 역할을 미리 나눠 부탁으로 독려 필요</a:t>
            </a:r>
            <a:r>
              <a:rPr lang="en-US" altLang="ko-KR" sz="1200" b="1" dirty="0">
                <a:solidFill/>
              </a:rPr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193E4A7-53FE-D9CD-8FA8-B1CA5A72046C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740685-5898-61C2-5AFE-0EA63DC81586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D7DC11F-32AA-F2C4-9023-5AACC0D9357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057EEC1-7D3F-B225-EEF8-521AC0273341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1079364-AEA1-809E-D75E-F989076E62ED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54CF9C-8D33-2C63-3CB5-B89413AB687E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29C744D-DEC2-94E8-722F-CAECAAE42340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96EA6B0-3951-CB35-9266-9F6BB4BC893E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FB4CE9F-6C95-06E7-96D5-3B2AB74F4B5C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7D9C720-1110-CD74-4B7A-7C438086108F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A5BFA00-570D-7147-1EF2-8EDF5FB72FA5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59E6200-946C-FEF1-5049-2722CBBA0D2D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말풍선: 모서리가 둥근 사각형 40">
            <a:extLst>
              <a:ext uri="{FF2B5EF4-FFF2-40B4-BE49-F238E27FC236}">
                <a16:creationId xmlns:a16="http://schemas.microsoft.com/office/drawing/2014/main" id="{B4CE0ED5-6EFE-C116-FD2C-E506F87F2D04}"/>
              </a:ext>
            </a:extLst>
          </p:cNvPr>
          <p:cNvSpPr/>
          <p:nvPr/>
        </p:nvSpPr>
        <p:spPr>
          <a:xfrm>
            <a:off x="8962732" y="4632722"/>
            <a:ext cx="2048272" cy="911024"/>
          </a:xfrm>
          <a:prstGeom prst="wedgeRoundRectCallout">
            <a:avLst>
              <a:gd name="adj1" fmla="val -36960"/>
              <a:gd name="adj2" fmla="val 72670"/>
              <a:gd name="adj3" fmla="val 16667"/>
            </a:avLst>
          </a:prstGeom>
          <a:solidFill>
            <a:srgbClr val="1D3C5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FF00"/>
                </a:solidFill>
              </a:rPr>
              <a:t>재참가를 가장 강하게 </a:t>
            </a:r>
            <a:endParaRPr lang="en-US" altLang="ko-KR" sz="14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1400" b="1" dirty="0">
                <a:solidFill>
                  <a:srgbClr val="FFFF00"/>
                </a:solidFill>
              </a:rPr>
              <a:t>이끈 것은</a:t>
            </a:r>
            <a:endParaRPr lang="en-US" altLang="ko-KR" sz="14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1400" b="1" dirty="0">
                <a:solidFill>
                  <a:srgbClr val="FFFF00"/>
                </a:solidFill>
              </a:rPr>
              <a:t> 신앙공동체 의식임</a:t>
            </a:r>
            <a:r>
              <a:rPr lang="en-US" altLang="ko-KR" sz="1600" b="1" dirty="0">
                <a:solidFill>
                  <a:srgbClr val="FFFF00"/>
                </a:solidFill>
              </a:rPr>
              <a:t>.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18" name="통계주석"/>
          <p:cNvSpPr txBox="1"/>
          <p:nvPr/>
        </p:nvSpPr>
        <p:spPr>
          <a:xfrm>
            <a:off x="6217920" y="1042415"/>
            <a:ext cx="56692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기각 : 세운 가설이 맞지 않음 (동기와 관계없이 결과가 같음)  ↔  지지 : 가설이 맞음</a:t>
            </a:r>
          </a:p>
        </p:txBody>
      </p:sp>
      <p:cxnSp>
        <p:nvCxnSpPr>
          <p:cNvPr id="119" name="통계주석 화살표"/>
          <p:cNvCxnSpPr/>
          <p:nvPr/>
        </p:nvCxnSpPr>
        <p:spPr>
          <a:xfrm flipH="1">
            <a:off x="6089904" y="1161288"/>
            <a:ext cx="173736" cy="0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통계주석"/>
          <p:cNvSpPr txBox="1"/>
          <p:nvPr/>
        </p:nvSpPr>
        <p:spPr>
          <a:xfrm>
            <a:off x="731520" y="2487168"/>
            <a:ext cx="111556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E46C0A"/>
                </a:solidFill>
                <a:latin typeface="맑은 고딕"/>
                <a:ea typeface="맑은 고딕"/>
              </a:rPr>
              <a:t>평균 : 5점 만점  ·  만족×동기 : 참가 동기에 따라 ‘만족→재참가’ 연결이 달라지는지 확인(조절효과)  ·  p가 모두 .05 이상 → 동기와 상관없이 같음</a:t>
            </a:r>
          </a:p>
        </p:txBody>
      </p:sp>
      <p:cxnSp>
        <p:nvCxnSpPr>
          <p:cNvPr id="121" name="통계주석 화살표"/>
          <p:cNvCxnSpPr/>
          <p:nvPr/>
        </p:nvCxnSpPr>
        <p:spPr>
          <a:xfrm flipV="1">
            <a:off x="3337560" y="2404872"/>
            <a:ext cx="0" cy="10058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통계주석 화살표"/>
          <p:cNvCxnSpPr/>
          <p:nvPr/>
        </p:nvCxnSpPr>
        <p:spPr>
          <a:xfrm flipV="1">
            <a:off x="4315968" y="2404872"/>
            <a:ext cx="0" cy="10058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통계주석 화살표"/>
          <p:cNvCxnSpPr/>
          <p:nvPr/>
        </p:nvCxnSpPr>
        <p:spPr>
          <a:xfrm flipV="1">
            <a:off x="5349240" y="2404872"/>
            <a:ext cx="0" cy="100584"/>
          </a:xfrm>
          <a:prstGeom prst="line">
            <a:avLst/>
          </a:prstGeom>
          <a:ln w="15875">
            <a:solidFill>
              <a:srgbClr val="E46C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431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C0A7-7D5C-570A-91DE-9490C6A6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ADDC3579-682A-D601-3725-3570AED8173A}"/>
              </a:ext>
            </a:extLst>
          </p:cNvPr>
          <p:cNvSpPr txBox="1"/>
          <p:nvPr/>
        </p:nvSpPr>
        <p:spPr>
          <a:xfrm>
            <a:off x="838403" y="993120"/>
            <a:ext cx="548640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토의 전 한눈에 보기 — Ⅱ~Ⅵ장 요약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6AE6B27-5BDD-3C60-A2B5-3F1D79CF5039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/>
              </a:rPr>
              <a:t>★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B30204BE-ECD2-EE8A-D9C1-5FDB5233151F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Ⅵ. </a:t>
            </a:r>
            <a:r>
              <a:rPr lang="en-US" altLang="ko-KR" sz="3200" dirty="0" err="1">
                <a:solidFill/>
              </a:rPr>
              <a:t>종합</a:t>
            </a:r>
            <a:r>
              <a:rPr lang="en-US" altLang="ko-KR" sz="3200" dirty="0">
                <a:solidFill/>
              </a:rPr>
              <a:t> 정리 : 문제점과 해결 방안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4E5D4CC-EBCB-66CD-9982-6724E1DA4671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23E36C20-3D95-1FAE-941B-BA0B4FA23A3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359934-3C48-C473-EA3E-0373CEECFD54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A2D5AB4-E065-24D3-BF7A-96B398A1516E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442B08-3D63-025F-7582-C2942D1EAADB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46356CF-2295-6BBF-3EFA-34CEB7B4149A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5934552-1E64-B64A-6496-3731D4C2CAEA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855DA66-741A-F664-BE74-D216E53F77B9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F1DA941-1791-3333-4479-6B81AF9957D4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FA803CC-65B8-C54C-D063-08D3BEA5C21B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8B7C2CD-F17D-6DFA-C62D-FC24E5F49E70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8A18DF-21E4-0EEE-0F46-CCABD86AA9A7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18" name="Table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57509"/>
              </p:ext>
            </p:extLst>
          </p:nvPr>
        </p:nvGraphicFramePr>
        <p:xfrm>
          <a:off x="566928" y="1463040"/>
          <a:ext cx="11064240" cy="3986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구 분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문제점 (근거)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해결 방안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lt"/>
                          <a:ea typeface="맑은 고딕"/>
                        </a:rPr>
                        <a:t>담당 · 시기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시행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절차</a:t>
                      </a:r>
                      <a:endParaRPr sz="1200" b="1" dirty="0">
                        <a:solidFill>
                          <a:srgbClr val="1E3A5F"/>
                        </a:solidFill>
                        <a:latin typeface="+mn-lt"/>
                        <a:ea typeface="맑은 고딕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Ⅱ장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담임목사님이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행사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하루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전에야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계획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확인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담임목사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승인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전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예산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집행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주최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부서·협력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선교회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보고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채널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혼선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8단계 절차</a:t>
                      </a:r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— 담임목사 최종 승인 단계 신설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계획서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D-30</a:t>
                      </a:r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제출, 담임목사 승인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D-14</a:t>
                      </a:r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완료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주최 부서장 단일 보고, 주일 광고는 승인 이후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주최 부서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다음 행사부터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예산·정산</a:t>
                      </a:r>
                      <a:endParaRPr sz="1200" b="1" dirty="0">
                        <a:solidFill>
                          <a:srgbClr val="1E3A5F"/>
                        </a:solidFill>
                        <a:latin typeface="+mn-lt"/>
                        <a:ea typeface="맑은 고딕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Ⅲ장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교회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재정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계획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대비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104%,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초과분은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찬조금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충당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통장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입금을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승인으로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판단해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집행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담임목사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승인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후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이체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지출결의서로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청구·지급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신년도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계획안에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포함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→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정기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구역회에서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예산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확정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재정부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업무지침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반영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계획서·결과보고서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양식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작성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재정부 '26.12월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문화홍보부 '26.11월말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행사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운영</a:t>
                      </a:r>
                      <a:endParaRPr sz="1200" b="1" dirty="0">
                        <a:solidFill>
                          <a:srgbClr val="1E3A5F"/>
                        </a:solidFill>
                        <a:latin typeface="+mn-lt"/>
                        <a:ea typeface="맑은 고딕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Ⅳ·Ⅴ장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식사 만족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65%</a:t>
                      </a:r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로 최저 (배식·식사장소 57%)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첫 참가자 "시간대로 진행" 70% (경험자 94%)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행운권 추첨 90분 소요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식사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방식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전환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도시락·출장뷔페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) → </a:t>
                      </a:r>
                      <a:r>
                        <a:rPr sz="1100" b="1" dirty="0" err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토의</a:t>
                      </a:r>
                      <a:r>
                        <a:rPr sz="1100" b="1" dirty="0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 2</a:t>
                      </a: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진행표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벽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게시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안내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요원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배치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개회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때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방식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설명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추첨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방식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개선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→ </a:t>
                      </a:r>
                      <a:r>
                        <a:rPr sz="1100" b="1" dirty="0" err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토의</a:t>
                      </a:r>
                      <a:r>
                        <a:rPr sz="1100" b="1" dirty="0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준비위원회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계획서 단계(D-30)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관계·참여</a:t>
                      </a:r>
                      <a:endParaRPr sz="1200" b="1" dirty="0">
                        <a:solidFill>
                          <a:srgbClr val="1E3A5F"/>
                        </a:solidFill>
                        <a:latin typeface="+mn-lt"/>
                        <a:ea typeface="맑은 고딕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Ⅳ·Ⅴ장</a:t>
                      </a:r>
                      <a:r>
                        <a:rPr sz="1200" b="1" dirty="0">
                          <a:solidFill>
                            <a:srgbClr val="1E3A5F"/>
                          </a:solidFill>
                          <a:latin typeface="+mn-lt"/>
                          <a:ea typeface="맑은 고딕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"모르던 성도와 가까워졌다"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54%</a:t>
                      </a:r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(첫 참가자 40%)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준비·진행 참여 의향 57%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첫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참가자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"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짝꿍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"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배정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세대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혼합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팀 → </a:t>
                      </a:r>
                      <a:r>
                        <a:rPr sz="1100" b="1" dirty="0" err="1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토의</a:t>
                      </a:r>
                      <a:r>
                        <a:rPr sz="1100" b="1" dirty="0">
                          <a:solidFill>
                            <a:srgbClr val="D9692A"/>
                          </a:solidFill>
                          <a:latin typeface="+mn-lt"/>
                          <a:ea typeface="맑은 고딕"/>
                        </a:rPr>
                        <a:t> 1</a:t>
                      </a: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선교회·소그룹의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개인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권유를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공식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일정에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반영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l"/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•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작은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역할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사전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부탁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, 첫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참가자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준비위원회</a:t>
                      </a:r>
                      <a:r>
                        <a:rPr sz="110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초대</a:t>
                      </a:r>
                      <a:endParaRPr sz="110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선교회·소그룹</a:t>
                      </a:r>
                      <a:endParaRPr sz="105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  <a:p>
                      <a:pPr algn="ctr"/>
                      <a:r>
                        <a:rPr sz="105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D-14 </a:t>
                      </a:r>
                      <a:r>
                        <a:rPr sz="105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승인·광고</a:t>
                      </a:r>
                      <a:r>
                        <a:rPr sz="1050" b="1" dirty="0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293B4C"/>
                          </a:solidFill>
                          <a:latin typeface="+mn-lt"/>
                          <a:ea typeface="맑은 고딕"/>
                        </a:rPr>
                        <a:t>단계</a:t>
                      </a:r>
                      <a:endParaRPr sz="1050" b="1" dirty="0">
                        <a:solidFill>
                          <a:srgbClr val="293B4C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" name="Rounded Rectangle 118"/>
          <p:cNvSpPr/>
          <p:nvPr/>
        </p:nvSpPr>
        <p:spPr>
          <a:xfrm>
            <a:off x="566928" y="5669280"/>
            <a:ext cx="11064240" cy="658368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350" b="1">
                <a:solidFill>
                  <a:srgbClr val="F2B134"/>
                </a:solidFill>
                <a:latin typeface="맑은 고딕"/>
                <a:ea typeface="맑은 고딕"/>
              </a:rPr>
              <a:t>핵심  </a:t>
            </a:r>
            <a:r>
              <a:rPr sz="1350" b="0">
                <a:solidFill>
                  <a:srgbClr val="FFFFFF"/>
                </a:solidFill>
                <a:latin typeface="맑은 고딕"/>
                <a:ea typeface="맑은 고딕"/>
              </a:rPr>
              <a:t>만족도는 이미 높음(전반 만족 93%) → 다음 참여를 이끄는 힘은 </a:t>
            </a:r>
            <a:r>
              <a:rPr sz="1350" b="1">
                <a:solidFill>
                  <a:srgbClr val="F2B134"/>
                </a:solidFill>
                <a:latin typeface="맑은 고딕"/>
                <a:ea typeface="맑은 고딕"/>
              </a:rPr>
              <a:t>‘공동체 의식’과 ‘권유’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  ▶ 토의 1·2·3에서 실행안 결정</a:t>
            </a:r>
          </a:p>
        </p:txBody>
      </p:sp>
    </p:spTree>
    <p:extLst>
      <p:ext uri="{BB962C8B-B14F-4D97-AF65-F5344CB8AC3E}">
        <p14:creationId xmlns:p14="http://schemas.microsoft.com/office/powerpoint/2010/main" val="1073233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6FF6-8C73-711F-C2FE-098CF6E3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61">
            <a:extLst>
              <a:ext uri="{FF2B5EF4-FFF2-40B4-BE49-F238E27FC236}">
                <a16:creationId xmlns:a16="http://schemas.microsoft.com/office/drawing/2014/main" id="{6C080435-BA40-2265-729E-FFC10A153A0C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/>
              </a:rPr>
              <a:t>Ⅶ.</a:t>
            </a:r>
            <a:r>
              <a:rPr lang="ko-KR" altLang="en-US" dirty="0">
                <a:solidFill/>
              </a:rPr>
              <a:t>토의 주제</a:t>
            </a:r>
            <a:endParaRPr lang="ko-KR" alt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492E77-225B-5D01-C28D-C3D9D69F204D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0DE9C-C565-3EB0-37F7-CFC0212F3AEC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0C7658-E8D0-8E2B-EA21-C8AC16AC27B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1A6957-9193-A493-13CD-71F1AE8346E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6A4A3C-6F0F-DF5E-94A0-DBAA4C466644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39DC8E-C316-98E1-E3E0-F2B7594F09D6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D716A9-98A5-302B-CD88-4C4670847CDF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F99F0D-9C09-999E-D3DA-0AB092A576C6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3EFF36-ACD1-24F6-DB3D-EE220D1B31E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7F8A88-4F2B-40FD-0F2E-CE80CC14ECB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705E71-9ABF-03DA-DCAA-8062616D0C2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1906C18A-BA37-15D3-FB13-DB65916CB8D4}"/>
              </a:ext>
            </a:extLst>
          </p:cNvPr>
          <p:cNvSpPr/>
          <p:nvPr/>
        </p:nvSpPr>
        <p:spPr>
          <a:xfrm>
            <a:off x="292950" y="902630"/>
            <a:ext cx="418596" cy="391753"/>
          </a:xfrm>
          <a:prstGeom prst="rect">
            <a:avLst/>
          </a:prstGeom>
          <a:solidFill>
            <a:srgbClr val="6FBE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88044E-1BB8-1463-C9FC-D05EDDE80BCE}"/>
              </a:ext>
            </a:extLst>
          </p:cNvPr>
          <p:cNvSpPr txBox="1"/>
          <p:nvPr/>
        </p:nvSpPr>
        <p:spPr>
          <a:xfrm>
            <a:off x="415477" y="942654"/>
            <a:ext cx="165743" cy="341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 lang="en-US" b="1" dirty="0">
                <a:solidFill>
                  <a:srgbClr val="FFFFFF"/>
                </a:solidFill>
                <a:latin typeface="맑은 고딕"/>
              </a:rPr>
              <a:t>1</a:t>
            </a:r>
            <a:endParaRPr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3EA4E9-1BDB-E35B-8FED-24A06BCF0DE4}"/>
              </a:ext>
            </a:extLst>
          </p:cNvPr>
          <p:cNvSpPr txBox="1"/>
          <p:nvPr/>
        </p:nvSpPr>
        <p:spPr>
          <a:xfrm>
            <a:off x="764695" y="996057"/>
            <a:ext cx="11683888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385B"/>
                </a:solidFill>
                <a:latin typeface="맑은 고딕"/>
              </a:defRPr>
            </a:pP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첫 참가자 “짝꿍” 배정 및 세대 혼합 팀(‘모르던 성도와 가까워졌다’ 54%, 첫 참가자 40%)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08E595-B7AE-C409-0000-B104FC29D33F}"/>
              </a:ext>
            </a:extLst>
          </p:cNvPr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29D3D5-9AD2-D065-0A82-9890B2EB3F5C}"/>
              </a:ext>
            </a:extLst>
          </p:cNvPr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E41DC64-7068-33D9-597B-4DDE26F19842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7E83358E-B5D5-E505-60C7-473B996A6891}"/>
              </a:ext>
            </a:extLst>
          </p:cNvPr>
          <p:cNvSpPr/>
          <p:nvPr/>
        </p:nvSpPr>
        <p:spPr>
          <a:xfrm>
            <a:off x="601689" y="151799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D175365E-5EA2-FCB5-0170-4E5B25650787}"/>
              </a:ext>
            </a:extLst>
          </p:cNvPr>
          <p:cNvSpPr txBox="1"/>
          <p:nvPr/>
        </p:nvSpPr>
        <p:spPr>
          <a:xfrm>
            <a:off x="820589" y="145457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대안별 장단점 분석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0558409-6131-A491-0D42-A6448088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42876"/>
              </p:ext>
            </p:extLst>
          </p:nvPr>
        </p:nvGraphicFramePr>
        <p:xfrm>
          <a:off x="733527" y="1772006"/>
          <a:ext cx="10874954" cy="4356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191">
                  <a:extLst>
                    <a:ext uri="{9D8B030D-6E8A-4147-A177-3AD203B41FA5}">
                      <a16:colId xmlns:a16="http://schemas.microsoft.com/office/drawing/2014/main" val="32180854"/>
                    </a:ext>
                  </a:extLst>
                </a:gridCol>
                <a:gridCol w="3249404">
                  <a:extLst>
                    <a:ext uri="{9D8B030D-6E8A-4147-A177-3AD203B41FA5}">
                      <a16:colId xmlns:a16="http://schemas.microsoft.com/office/drawing/2014/main" val="664816117"/>
                    </a:ext>
                  </a:extLst>
                </a:gridCol>
                <a:gridCol w="2690604">
                  <a:extLst>
                    <a:ext uri="{9D8B030D-6E8A-4147-A177-3AD203B41FA5}">
                      <a16:colId xmlns:a16="http://schemas.microsoft.com/office/drawing/2014/main" val="905680235"/>
                    </a:ext>
                  </a:extLst>
                </a:gridCol>
                <a:gridCol w="3004755">
                  <a:extLst>
                    <a:ext uri="{9D8B030D-6E8A-4147-A177-3AD203B41FA5}">
                      <a16:colId xmlns:a16="http://schemas.microsoft.com/office/drawing/2014/main" val="3163086601"/>
                    </a:ext>
                  </a:extLst>
                </a:gridCol>
              </a:tblGrid>
              <a:tr h="4241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대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안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장점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단점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비고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66448"/>
                  </a:ext>
                </a:extLst>
              </a:tr>
              <a:tr h="12601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A안: 짝꿍 + 세대 혼합 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(병행 운영)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관계 형성 : 첫 참가자 40% vs 경험자 60%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  격차를 줄이는 가장 직접적인 방법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공동체 의식 강화(재참가 핵심 요인 β .45)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목적 ② 세대 간 소통·화합 실현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팀 편성 작업량 증가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참가 명단 사전 확정 필요(D-14)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선교회 단위 응원·결속감 약화 우려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짝꿍 역할 사전 안내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관계 형성과 세대 화합을 함께 해결하는 권장안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46602"/>
                  </a:ext>
                </a:extLst>
              </a:tr>
              <a:tr h="1471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B안: 짝꿍 배정만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(팀은 선교회 단위 유지)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즉시 시행 가능 : 편성 부담 적음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첫 참가자 적응 지원(‘시간대로 진행’ 70%)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기존 선교회 응원 분위기 유지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세대 간 교류 효과 제한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아는 사람끼리 모이는 구조 유지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다른 성도의 관계 확장 효과 없음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팀 재편성이 어려울 때 선택하는 최소안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11449"/>
                  </a:ext>
                </a:extLst>
              </a:tr>
              <a:tr h="120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C안: 세대 혼합 팀만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(짝꿍 미배정)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전 세대 공동 종목 요청(약 18건) 반영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세대 간 소통·화합 효과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짝꿍 지정·안내 부담 없음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첫 참가자 개별 돌봄 공백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응원·관람 위주 참여(8명) 지속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낯선 팀 구성으로 어색함 증가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짝꿍과 함께할 때 효과가 큼, 단독 채택은 비권장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34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6FF6-8C73-711F-C2FE-098CF6E3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61">
            <a:extLst>
              <a:ext uri="{FF2B5EF4-FFF2-40B4-BE49-F238E27FC236}">
                <a16:creationId xmlns:a16="http://schemas.microsoft.com/office/drawing/2014/main" id="{6C080435-BA40-2265-729E-FFC10A153A0C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/>
              </a:rPr>
              <a:t>Ⅶ.</a:t>
            </a:r>
            <a:r>
              <a:rPr lang="ko-KR" altLang="en-US" dirty="0">
                <a:solidFill/>
              </a:rPr>
              <a:t>토의 주제</a:t>
            </a:r>
            <a:endParaRPr lang="ko-KR" alt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492E77-225B-5D01-C28D-C3D9D69F204D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0DE9C-C565-3EB0-37F7-CFC0212F3AEC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0C7658-E8D0-8E2B-EA21-C8AC16AC27B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1A6957-9193-A493-13CD-71F1AE8346E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6A4A3C-6F0F-DF5E-94A0-DBAA4C466644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39DC8E-C316-98E1-E3E0-F2B7594F09D6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D716A9-98A5-302B-CD88-4C4670847CDF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F99F0D-9C09-999E-D3DA-0AB092A576C6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3EFF36-ACD1-24F6-DB3D-EE220D1B31E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7F8A88-4F2B-40FD-0F2E-CE80CC14ECB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705E71-9ABF-03DA-DCAA-8062616D0C2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1906C18A-BA37-15D3-FB13-DB65916CB8D4}"/>
              </a:ext>
            </a:extLst>
          </p:cNvPr>
          <p:cNvSpPr/>
          <p:nvPr/>
        </p:nvSpPr>
        <p:spPr>
          <a:xfrm>
            <a:off x="292950" y="902630"/>
            <a:ext cx="418596" cy="391753"/>
          </a:xfrm>
          <a:prstGeom prst="rect">
            <a:avLst/>
          </a:prstGeom>
          <a:solidFill>
            <a:srgbClr val="6FBE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88044E-1BB8-1463-C9FC-D05EDDE80BCE}"/>
              </a:ext>
            </a:extLst>
          </p:cNvPr>
          <p:cNvSpPr txBox="1"/>
          <p:nvPr/>
        </p:nvSpPr>
        <p:spPr>
          <a:xfrm>
            <a:off x="415477" y="942654"/>
            <a:ext cx="165743" cy="341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 lang="en-US" b="1" dirty="0">
                <a:solidFill>
                  <a:srgbClr val="FFFFFF"/>
                </a:solidFill>
                <a:latin typeface="맑은 고딕"/>
              </a:rPr>
              <a:t>2</a:t>
            </a:r>
            <a:endParaRPr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3EA4E9-1BDB-E35B-8FED-24A06BCF0DE4}"/>
              </a:ext>
            </a:extLst>
          </p:cNvPr>
          <p:cNvSpPr txBox="1"/>
          <p:nvPr/>
        </p:nvSpPr>
        <p:spPr>
          <a:xfrm>
            <a:off x="764695" y="996057"/>
            <a:ext cx="5841944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385B"/>
                </a:solidFill>
                <a:latin typeface="맑은 고딕"/>
              </a:defRPr>
            </a:pP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프로그램 운영 및 점심식사 개선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식사 만족도 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65% 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최저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08E595-B7AE-C409-0000-B104FC29D33F}"/>
              </a:ext>
            </a:extLst>
          </p:cNvPr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29D3D5-9AD2-D065-0A82-9890B2EB3F5C}"/>
              </a:ext>
            </a:extLst>
          </p:cNvPr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E41DC64-7068-33D9-597B-4DDE26F19842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7E83358E-B5D5-E505-60C7-473B996A6891}"/>
              </a:ext>
            </a:extLst>
          </p:cNvPr>
          <p:cNvSpPr/>
          <p:nvPr/>
        </p:nvSpPr>
        <p:spPr>
          <a:xfrm>
            <a:off x="601689" y="151799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D175365E-5EA2-FCB5-0170-4E5B25650787}"/>
              </a:ext>
            </a:extLst>
          </p:cNvPr>
          <p:cNvSpPr txBox="1"/>
          <p:nvPr/>
        </p:nvSpPr>
        <p:spPr>
          <a:xfrm>
            <a:off x="820589" y="145457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대안별 장단점 분석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0558409-6131-A491-0D42-A6448088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94961"/>
              </p:ext>
            </p:extLst>
          </p:nvPr>
        </p:nvGraphicFramePr>
        <p:xfrm>
          <a:off x="733527" y="1772006"/>
          <a:ext cx="10874954" cy="4356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191">
                  <a:extLst>
                    <a:ext uri="{9D8B030D-6E8A-4147-A177-3AD203B41FA5}">
                      <a16:colId xmlns:a16="http://schemas.microsoft.com/office/drawing/2014/main" val="32180854"/>
                    </a:ext>
                  </a:extLst>
                </a:gridCol>
                <a:gridCol w="3249404">
                  <a:extLst>
                    <a:ext uri="{9D8B030D-6E8A-4147-A177-3AD203B41FA5}">
                      <a16:colId xmlns:a16="http://schemas.microsoft.com/office/drawing/2014/main" val="664816117"/>
                    </a:ext>
                  </a:extLst>
                </a:gridCol>
                <a:gridCol w="2690604">
                  <a:extLst>
                    <a:ext uri="{9D8B030D-6E8A-4147-A177-3AD203B41FA5}">
                      <a16:colId xmlns:a16="http://schemas.microsoft.com/office/drawing/2014/main" val="905680235"/>
                    </a:ext>
                  </a:extLst>
                </a:gridCol>
                <a:gridCol w="3004755">
                  <a:extLst>
                    <a:ext uri="{9D8B030D-6E8A-4147-A177-3AD203B41FA5}">
                      <a16:colId xmlns:a16="http://schemas.microsoft.com/office/drawing/2014/main" val="3163086601"/>
                    </a:ext>
                  </a:extLst>
                </a:gridCol>
              </a:tblGrid>
              <a:tr h="4241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대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안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장점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단점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비고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66448"/>
                  </a:ext>
                </a:extLst>
              </a:tr>
              <a:tr h="12601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A안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도시락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+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국 별도 제공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배식 정체 완벽해소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수령 즉시 식사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인력 효율성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배식 봉사자 경기 참여 여건 보장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쓰레기 분리수거 용이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잔반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다량 발생 가능성 증가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※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어르신 도시락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비선호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단체 식사 특유의 대접받는 느낌과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온기가 부족할 수 있음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현장 불만족 원인인 배식 불편을 가장 확실하게 해결하는 현실적 대안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46602"/>
                  </a:ext>
                </a:extLst>
              </a:tr>
              <a:tr h="1471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B안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출장 뷔페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성도 만족도 극대화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풍성하고 따뜻한 식사제공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준비 및 수거까지 업체가 전담하여 교회 성도들의 노동 부담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Zero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예산 압박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1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인당 단가 급상승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※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식비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1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인당 만원선에서 대폭 증가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공간 내 뷔페라인 설치 동선 확보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대여 장소 뷔페라인 설치에 대한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불허 등 우발상황 발생 가능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예산 초과분을 선교회 찬조금 등으로 추가 확보가능시 제한적 고려 가능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11449"/>
                  </a:ext>
                </a:extLst>
              </a:tr>
              <a:tr h="120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C안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현행 배식 보완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조별 교대 배식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)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비용절감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기존 예산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식대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220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만원 선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)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범위 내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집행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정통적인 공동체 인식 유지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근본적 해결 불가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여전히 줄을 서야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하기에 만족도 증가 불가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배식조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성도들의 경기 참여 제한 문제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여전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예산 증액이 절대적으로 불가시 선택하는 최후의 대안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868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74B8-63FE-C198-8E8E-BA89CA7B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61">
            <a:extLst>
              <a:ext uri="{FF2B5EF4-FFF2-40B4-BE49-F238E27FC236}">
                <a16:creationId xmlns:a16="http://schemas.microsoft.com/office/drawing/2014/main" id="{864C1044-48E9-DBBD-45A6-58446EDCF811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/>
              </a:rPr>
              <a:t>Ⅶ.</a:t>
            </a:r>
            <a:r>
              <a:rPr lang="ko-KR" altLang="en-US" dirty="0">
                <a:solidFill/>
              </a:rPr>
              <a:t>토의 주제</a:t>
            </a:r>
            <a:endParaRPr lang="ko-KR" alt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7DDC05-3D22-29D1-934E-6DE2166B49E3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B691915-8D9E-9B4A-CF6A-1D83C9520E72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F7CAB5B-822A-9F1C-605E-1E1639CA314E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101113F-48CD-D847-87DB-3B9B4F7E9B7C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8BB950D-7316-89A7-BBC8-A81C613D5AA5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95C960-A682-BF31-8272-3983C6AD86AA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A4F4B46-AAB7-F01A-6CB8-65FAA3FC88DF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B158C07-11A4-A618-E653-1B0029592B90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DD414DF-F4A9-0908-3F69-15E029662A1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2E745AA-0C91-8066-9D6B-D64FFD6E0AEE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48ED8E-C85F-78E2-41AA-5313936AA8F1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8DD8F011-5CFE-F517-6802-DF7C68BD7082}"/>
              </a:ext>
            </a:extLst>
          </p:cNvPr>
          <p:cNvSpPr/>
          <p:nvPr/>
        </p:nvSpPr>
        <p:spPr>
          <a:xfrm>
            <a:off x="292950" y="902630"/>
            <a:ext cx="418596" cy="391753"/>
          </a:xfrm>
          <a:prstGeom prst="rect">
            <a:avLst/>
          </a:prstGeom>
          <a:solidFill>
            <a:srgbClr val="6FBE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96C44D-4F3E-5482-A5B5-E00847ED695A}"/>
              </a:ext>
            </a:extLst>
          </p:cNvPr>
          <p:cNvSpPr txBox="1"/>
          <p:nvPr/>
        </p:nvSpPr>
        <p:spPr>
          <a:xfrm>
            <a:off x="415477" y="942654"/>
            <a:ext cx="165743" cy="341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 lang="en-US" b="1" dirty="0">
                <a:solidFill>
                  <a:srgbClr val="FFFFFF"/>
                </a:solidFill>
                <a:latin typeface="맑은 고딕"/>
              </a:rPr>
              <a:t>3</a:t>
            </a:r>
            <a:endParaRPr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EEABE8-2CDE-ABF3-9BFB-609D84E670E2}"/>
              </a:ext>
            </a:extLst>
          </p:cNvPr>
          <p:cNvSpPr txBox="1"/>
          <p:nvPr/>
        </p:nvSpPr>
        <p:spPr>
          <a:xfrm>
            <a:off x="764695" y="996057"/>
            <a:ext cx="5841944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385B"/>
                </a:solidFill>
                <a:latin typeface="맑은 고딕"/>
              </a:defRPr>
            </a:pPr>
            <a:r>
              <a:rPr lang="ko-KR" altLang="en-US" dirty="0" err="1">
                <a:solidFill>
                  <a:srgbClr val="1D3C5C"/>
                </a:solidFill>
                <a:latin typeface="맑은 고딕"/>
              </a:rPr>
              <a:t>행운권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 추첨 소요시간 단축 방안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(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이번 행사간 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90</a:t>
            </a: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분 소요</a:t>
            </a:r>
            <a:r>
              <a:rPr lang="en-US" altLang="ko-KR" dirty="0">
                <a:solidFill>
                  <a:srgbClr val="1D3C5C"/>
                </a:solidFill>
                <a:latin typeface="맑은 고딕"/>
              </a:rPr>
              <a:t>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EBAFF0-8889-823D-48AC-0421FAD67D01}"/>
              </a:ext>
            </a:extLst>
          </p:cNvPr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A25633-32C9-7355-3B86-C728556EC8E7}"/>
              </a:ext>
            </a:extLst>
          </p:cNvPr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F285181-F788-E70E-6EDD-C5FA76611705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8ED7CA37-AE2E-5A98-A90C-AED308E4C9C8}"/>
              </a:ext>
            </a:extLst>
          </p:cNvPr>
          <p:cNvSpPr/>
          <p:nvPr/>
        </p:nvSpPr>
        <p:spPr>
          <a:xfrm>
            <a:off x="601689" y="151799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84042534-AD17-CB17-4C29-CEE264F604F2}"/>
              </a:ext>
            </a:extLst>
          </p:cNvPr>
          <p:cNvSpPr txBox="1"/>
          <p:nvPr/>
        </p:nvSpPr>
        <p:spPr>
          <a:xfrm>
            <a:off x="820589" y="145457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대안별 장단점 분석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D63D84E-681B-B316-E614-97580B575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83217"/>
              </p:ext>
            </p:extLst>
          </p:nvPr>
        </p:nvGraphicFramePr>
        <p:xfrm>
          <a:off x="733527" y="1772006"/>
          <a:ext cx="10874954" cy="4356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191">
                  <a:extLst>
                    <a:ext uri="{9D8B030D-6E8A-4147-A177-3AD203B41FA5}">
                      <a16:colId xmlns:a16="http://schemas.microsoft.com/office/drawing/2014/main" val="32180854"/>
                    </a:ext>
                  </a:extLst>
                </a:gridCol>
                <a:gridCol w="3249404">
                  <a:extLst>
                    <a:ext uri="{9D8B030D-6E8A-4147-A177-3AD203B41FA5}">
                      <a16:colId xmlns:a16="http://schemas.microsoft.com/office/drawing/2014/main" val="664816117"/>
                    </a:ext>
                  </a:extLst>
                </a:gridCol>
                <a:gridCol w="2690604">
                  <a:extLst>
                    <a:ext uri="{9D8B030D-6E8A-4147-A177-3AD203B41FA5}">
                      <a16:colId xmlns:a16="http://schemas.microsoft.com/office/drawing/2014/main" val="905680235"/>
                    </a:ext>
                  </a:extLst>
                </a:gridCol>
                <a:gridCol w="3004755">
                  <a:extLst>
                    <a:ext uri="{9D8B030D-6E8A-4147-A177-3AD203B41FA5}">
                      <a16:colId xmlns:a16="http://schemas.microsoft.com/office/drawing/2014/main" val="3163086601"/>
                    </a:ext>
                  </a:extLst>
                </a:gridCol>
              </a:tblGrid>
              <a:tr h="4241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대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안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장점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단점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비고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66448"/>
                  </a:ext>
                </a:extLst>
              </a:tr>
              <a:tr h="12601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A안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고가 경품만 현장 추첨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*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나머지는 사전 추첨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시간 단축 효과 극대화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90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분 소요시간을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20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분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이내로 단축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행사 몰입도 유지 및 폐회 예배 정시 시작 가능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사전 추첨과정의 투명성 확보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현장에서 자신의 추첨번호가 불려지는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긴장감과 재미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축제 분위기 다소 반감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사전 추첨 후 행사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이탈성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증가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소형경품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소모품 등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은 점심시간에 미리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추첨 후 벽면에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명단게시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46602"/>
                  </a:ext>
                </a:extLst>
              </a:tr>
              <a:tr h="1471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B안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등급별 일괄 발표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현장 추첨의 긴장감과 재미를 유지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진행속도를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2~3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배 높임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진행자가 번호를 한꺼번에 부르기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때문에 성도들이 자기 번호를 확인하는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과정에서 일시적 혼선 발생 가능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“3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등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10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명 동시에 뽑겠습니다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＂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방식으로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진행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진행자의 능력이 중요하나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이상없음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^^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11449"/>
                  </a:ext>
                </a:extLst>
              </a:tr>
              <a:tr h="120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C안</a:t>
                      </a:r>
                      <a:r>
                        <a:rPr 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경품수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축소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*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단가 상향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고급화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)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추첨 횟수 자체가 줄어들어 절대적 시간 단축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대형 경품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예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자전거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가전 등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)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비중이 늘어나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성도들의 기대감 고조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첫 참가자 소외 심화 우려 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: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경품 당첨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확률이 낮아져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가뜩이나 낯설었던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첫 참가자의 경품 만족도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(60%)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가 더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 err="1">
                          <a:effectLst/>
                          <a:latin typeface="+mn-lt"/>
                        </a:rPr>
                        <a:t>떨어질수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 있음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이번 체육대회에서 첫 참가자들이 경품 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만족도가 낮게 평가한 원인가 배치되므로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effectLst/>
                          <a:latin typeface="+mn-lt"/>
                        </a:rPr>
                        <a:t>  </a:t>
                      </a:r>
                      <a:r>
                        <a:rPr lang="ko-KR" altLang="en-US" sz="1100" b="1" dirty="0">
                          <a:effectLst/>
                          <a:latin typeface="+mn-lt"/>
                        </a:rPr>
                        <a:t>주의가 요망됨</a:t>
                      </a:r>
                      <a:r>
                        <a:rPr lang="en-US" altLang="ko-KR" sz="1100" b="1" dirty="0">
                          <a:effectLst/>
                          <a:latin typeface="+mn-lt"/>
                        </a:rPr>
                        <a:t>.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00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C0AD27FB-EC5B-42D2-8544-9AA70C437634}"/>
              </a:ext>
            </a:extLst>
          </p:cNvPr>
          <p:cNvSpPr>
            <a:spLocks noGrp="1"/>
          </p:cNvSpPr>
          <p:nvPr/>
        </p:nvSpPr>
        <p:spPr>
          <a:xfrm>
            <a:off x="-76200" y="0"/>
            <a:ext cx="4714875" cy="6858000"/>
          </a:xfrm>
          <a:prstGeom prst="rect">
            <a:avLst/>
          </a:prstGeom>
          <a:solidFill>
            <a:srgbClr val="193D6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68F36F-FBF8-4431-B9B1-7A72CC443C11}"/>
              </a:ext>
            </a:extLst>
          </p:cNvPr>
          <p:cNvSpPr>
            <a:spLocks noGrp="1"/>
          </p:cNvSpPr>
          <p:nvPr/>
        </p:nvSpPr>
        <p:spPr>
          <a:xfrm>
            <a:off x="5343525" y="1009650"/>
            <a:ext cx="2543175" cy="390525"/>
          </a:xfrm>
          <a:prstGeom prst="roundRect">
            <a:avLst>
              <a:gd name="adj" fmla="val 19512"/>
            </a:avLst>
          </a:prstGeom>
          <a:solidFill>
            <a:srgbClr val="E8F2F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0E079D-0E94-469C-888A-888CDD648895}"/>
              </a:ext>
            </a:extLst>
          </p:cNvPr>
          <p:cNvSpPr>
            <a:spLocks noGrp="1"/>
          </p:cNvSpPr>
          <p:nvPr/>
        </p:nvSpPr>
        <p:spPr>
          <a:xfrm>
            <a:off x="5425240" y="1063792"/>
            <a:ext cx="2333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1200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조원교회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|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체육대회 사후검토 회의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247E80-234D-41D9-8D03-A7008B1E252C}"/>
              </a:ext>
            </a:extLst>
          </p:cNvPr>
          <p:cNvSpPr>
            <a:spLocks noGrp="1"/>
          </p:cNvSpPr>
          <p:nvPr/>
        </p:nvSpPr>
        <p:spPr>
          <a:xfrm>
            <a:off x="5305425" y="1609725"/>
            <a:ext cx="5905500" cy="114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4350" b="1" dirty="0">
                <a:solidFill>
                  <a:srgbClr val="142C4E"/>
                </a:solidFill>
                <a:latin typeface="맑은 고딕"/>
                <a:ea typeface="맑은 고딕"/>
                <a:cs typeface="맑은 고딕"/>
              </a:rPr>
              <a:t>담임목사님의 맺음말</a:t>
            </a:r>
            <a:br>
              <a:rPr lang="en-US" altLang="ko-KR" sz="4350" b="1" dirty="0">
                <a:solidFill>
                  <a:srgbClr val="142C4E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4350" b="1" dirty="0">
                <a:solidFill>
                  <a:srgbClr val="142C4E"/>
                </a:solidFill>
                <a:latin typeface="맑은 고딕"/>
                <a:ea typeface="맑은 고딕"/>
                <a:cs typeface="맑은 고딕"/>
              </a:rPr>
              <a:t>&amp; </a:t>
            </a:r>
            <a:r>
              <a:rPr lang="ko-KR" altLang="en-US" sz="4350" b="1" dirty="0">
                <a:solidFill>
                  <a:srgbClr val="142C4E"/>
                </a:solidFill>
                <a:latin typeface="맑은 고딕"/>
                <a:ea typeface="맑은 고딕"/>
                <a:cs typeface="맑은 고딕"/>
              </a:rPr>
              <a:t>기도</a:t>
            </a:r>
            <a:endParaRPr lang="en-US" altLang="ko-KR" sz="4350" b="1" dirty="0">
              <a:solidFill>
                <a:srgbClr val="142C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A9E09F-DD62-487D-91AC-0829F77B578A}"/>
              </a:ext>
            </a:extLst>
          </p:cNvPr>
          <p:cNvSpPr>
            <a:spLocks noGrp="1"/>
          </p:cNvSpPr>
          <p:nvPr/>
        </p:nvSpPr>
        <p:spPr>
          <a:xfrm>
            <a:off x="5305425" y="2466975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42C4E"/>
                </a:solidFill>
                <a:latin typeface="맑은 고딕"/>
                <a:ea typeface="맑은 고딕"/>
                <a:cs typeface="맑은 고딕"/>
              </a:defRPr>
            </a:pPr>
            <a:endParaRPr kumimoji="0" lang="en-US" altLang="ko-KR" sz="4350" b="1" i="0" u="none" strike="noStrike" kern="1200" cap="none" spc="0" normalizeH="0" baseline="0" noProof="0" dirty="0">
              <a:ln>
                <a:noFill/>
              </a:ln>
              <a:solidFill>
                <a:srgbClr val="142C4E"/>
              </a:solidFill>
              <a:effectLst/>
              <a:uLnTx/>
              <a:uFillTx/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BDBF4-C337-4E08-A91B-443B9CFACEE8}"/>
              </a:ext>
            </a:extLst>
          </p:cNvPr>
          <p:cNvSpPr>
            <a:spLocks noGrp="1"/>
          </p:cNvSpPr>
          <p:nvPr/>
        </p:nvSpPr>
        <p:spPr>
          <a:xfrm>
            <a:off x="5267325" y="3324224"/>
            <a:ext cx="6267450" cy="1314451"/>
          </a:xfrm>
          <a:prstGeom prst="roundRect">
            <a:avLst>
              <a:gd name="adj" fmla="val 6957"/>
            </a:avLst>
          </a:prstGeom>
          <a:solidFill>
            <a:srgbClr val="142C4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2B357B-62E0-4589-8956-6BAA628D86A8}"/>
              </a:ext>
            </a:extLst>
          </p:cNvPr>
          <p:cNvSpPr>
            <a:spLocks noGrp="1"/>
          </p:cNvSpPr>
          <p:nvPr/>
        </p:nvSpPr>
        <p:spPr>
          <a:xfrm>
            <a:off x="5562600" y="3667125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35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3525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경기는 끝났지만</a:t>
            </a:r>
            <a:r>
              <a:rPr lang="en-US" altLang="ko-KR" sz="3525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,</a:t>
            </a:r>
            <a:br>
              <a:rPr lang="en-US" altLang="ko-KR" sz="3525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altLang="en-US" sz="3525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은혜는 계속됩니다</a:t>
            </a:r>
            <a:r>
              <a:rPr lang="en-US" altLang="ko-KR" sz="3525" dirty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kumimoji="0" lang="ko-KR" altLang="en-US" sz="3525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7BEF1C-4A72-404F-9290-F590790812C8}"/>
              </a:ext>
            </a:extLst>
          </p:cNvPr>
          <p:cNvSpPr>
            <a:spLocks noGrp="1"/>
          </p:cNvSpPr>
          <p:nvPr/>
        </p:nvSpPr>
        <p:spPr>
          <a:xfrm>
            <a:off x="5334000" y="488632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2175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214F78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은혜로운 시작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214F78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감사한 마무리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6E1706-5B5A-498B-87D1-EBD4927AEBDF}"/>
              </a:ext>
            </a:extLst>
          </p:cNvPr>
          <p:cNvSpPr>
            <a:spLocks noGrp="1"/>
          </p:cNvSpPr>
          <p:nvPr/>
        </p:nvSpPr>
        <p:spPr>
          <a:xfrm>
            <a:off x="5334000" y="5467350"/>
            <a:ext cx="5953125" cy="12383"/>
          </a:xfrm>
          <a:prstGeom prst="rect">
            <a:avLst/>
          </a:prstGeom>
          <a:solidFill>
            <a:srgbClr val="CADBE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4B28E8-0CC0-43E0-AD7A-33AF563E7E26}"/>
              </a:ext>
            </a:extLst>
          </p:cNvPr>
          <p:cNvSpPr>
            <a:spLocks noGrp="1"/>
          </p:cNvSpPr>
          <p:nvPr/>
        </p:nvSpPr>
        <p:spPr>
          <a:xfrm>
            <a:off x="5334000" y="56197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l">
              <a:defRPr sz="1500" b="0">
                <a:solidFill>
                  <a:srgbClr val="60788C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60788C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60788C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우리의 수고와 기쁨을 하나님께 올려드립니다</a:t>
            </a:r>
            <a:r>
              <a:rPr kumimoji="0" lang="en-US" altLang="ko-KR" sz="1500" b="0" i="0" u="none" strike="noStrike" kern="1200" cap="none" spc="0" normalizeH="0" baseline="0" noProof="0">
                <a:ln>
                  <a:noFill/>
                </a:ln>
                <a:solidFill>
                  <a:srgbClr val="60788C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8C75B3-0BAF-40B2-BA59-6F5CBB50005A}"/>
              </a:ext>
            </a:extLst>
          </p:cNvPr>
          <p:cNvSpPr>
            <a:spLocks noGrp="1"/>
          </p:cNvSpPr>
          <p:nvPr/>
        </p:nvSpPr>
        <p:spPr>
          <a:xfrm>
            <a:off x="619125" y="2267620"/>
            <a:ext cx="3524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457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7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4575" b="1" dirty="0" err="1">
                <a:solidFill>
                  <a:srgbClr val="FFD14D"/>
                </a:solidFill>
                <a:latin typeface="맑은 고딕"/>
                <a:ea typeface="맑은 고딕"/>
                <a:cs typeface="맑은 고딕"/>
              </a:rPr>
              <a:t>감사합</a:t>
            </a:r>
            <a:r>
              <a:rPr kumimoji="0" lang="ko-KR" altLang="en-US" sz="4575" b="1" i="0" u="none" strike="noStrike" kern="1200" cap="none" spc="0" normalizeH="0" baseline="0" noProof="0" dirty="0" err="1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니다</a:t>
            </a:r>
            <a:r>
              <a:rPr kumimoji="0" lang="en-US" altLang="ko-KR" sz="4575" b="1" i="0" u="none" strike="noStrike" kern="1200" cap="none" spc="0" normalizeH="0" baseline="0" noProof="0" dirty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4C1B5B-B65E-40A1-ABDE-18CCCB94B9F7}"/>
              </a:ext>
            </a:extLst>
          </p:cNvPr>
          <p:cNvSpPr>
            <a:spLocks noGrp="1"/>
          </p:cNvSpPr>
          <p:nvPr/>
        </p:nvSpPr>
        <p:spPr>
          <a:xfrm>
            <a:off x="533400" y="4895850"/>
            <a:ext cx="3657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187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ko-KR" altLang="en-US" sz="18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따뜻한 말씀과 기도로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6F4970-5416-4B2F-9E87-464FA5A42279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3381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02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025" b="1" dirty="0">
                <a:solidFill>
                  <a:srgbClr val="FFD14D"/>
                </a:solidFill>
                <a:latin typeface="맑은 고딕"/>
                <a:ea typeface="맑은 고딕"/>
                <a:cs typeface="맑은 고딕"/>
              </a:rPr>
              <a:t>마무리 </a:t>
            </a:r>
            <a:r>
              <a:rPr kumimoji="0" lang="ko-KR" alt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합니다</a:t>
            </a:r>
            <a:r>
              <a:rPr lang="en-US" altLang="ko-KR" sz="2025" b="1" dirty="0">
                <a:solidFill>
                  <a:srgbClr val="FFD14D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kumimoji="0" lang="ko-KR" altLang="en-US" sz="2025" b="1" i="0" u="none" strike="noStrike" kern="1200" cap="none" spc="0" normalizeH="0" baseline="0" noProof="0" dirty="0">
              <a:ln>
                <a:noFill/>
              </a:ln>
              <a:solidFill>
                <a:srgbClr val="FFD14D"/>
              </a:solidFill>
              <a:effectLst/>
              <a:uLnTx/>
              <a:uFillTx/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F81B36F-50EE-4FD5-BFC8-17FCB67F8A5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209550" cy="20955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D0166D-C072-4157-8095-A88D1E9E6A5B}"/>
              </a:ext>
            </a:extLst>
          </p:cNvPr>
          <p:cNvSpPr>
            <a:spLocks noGrp="1"/>
          </p:cNvSpPr>
          <p:nvPr/>
        </p:nvSpPr>
        <p:spPr>
          <a:xfrm>
            <a:off x="3733800" y="733425"/>
            <a:ext cx="152400" cy="1524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1E44239-4AD3-440D-8916-AA010DAFEED1}"/>
              </a:ext>
            </a:extLst>
          </p:cNvPr>
          <p:cNvSpPr>
            <a:spLocks noGrp="1"/>
          </p:cNvSpPr>
          <p:nvPr/>
        </p:nvSpPr>
        <p:spPr>
          <a:xfrm>
            <a:off x="4905375" y="1009650"/>
            <a:ext cx="228600" cy="22860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CDE3E03-77B3-4F78-B954-E003F8BB3BA1}"/>
              </a:ext>
            </a:extLst>
          </p:cNvPr>
          <p:cNvSpPr>
            <a:spLocks noGrp="1"/>
          </p:cNvSpPr>
          <p:nvPr/>
        </p:nvSpPr>
        <p:spPr>
          <a:xfrm>
            <a:off x="10915650" y="714375"/>
            <a:ext cx="190500" cy="1905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8B54E6F-D620-4746-8DBA-60A7DF7448D4}"/>
              </a:ext>
            </a:extLst>
          </p:cNvPr>
          <p:cNvSpPr>
            <a:spLocks noGrp="1"/>
          </p:cNvSpPr>
          <p:nvPr/>
        </p:nvSpPr>
        <p:spPr>
          <a:xfrm>
            <a:off x="11430000" y="1171575"/>
            <a:ext cx="228600" cy="228600"/>
          </a:xfrm>
          <a:prstGeom prst="ellipse">
            <a:avLst/>
          </a:prstGeom>
          <a:solidFill>
            <a:srgbClr val="F96A5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C261734-C0D7-4CF6-BEBE-36E060F75763}"/>
              </a:ext>
            </a:extLst>
          </p:cNvPr>
          <p:cNvSpPr>
            <a:spLocks noGrp="1"/>
          </p:cNvSpPr>
          <p:nvPr/>
        </p:nvSpPr>
        <p:spPr>
          <a:xfrm>
            <a:off x="11468100" y="5029200"/>
            <a:ext cx="228600" cy="22860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A0E4BD-EB39-450F-9404-CFE204BEA9F1}"/>
              </a:ext>
            </a:extLst>
          </p:cNvPr>
          <p:cNvSpPr>
            <a:spLocks noGrp="1"/>
          </p:cNvSpPr>
          <p:nvPr/>
        </p:nvSpPr>
        <p:spPr>
          <a:xfrm>
            <a:off x="10972800" y="5353050"/>
            <a:ext cx="152400" cy="15240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EDBBFF2-A363-4723-9204-37EC2358ED00}"/>
              </a:ext>
            </a:extLst>
          </p:cNvPr>
          <p:cNvSpPr>
            <a:spLocks noGrp="1"/>
          </p:cNvSpPr>
          <p:nvPr/>
        </p:nvSpPr>
        <p:spPr>
          <a:xfrm>
            <a:off x="466725" y="5486400"/>
            <a:ext cx="171450" cy="171450"/>
          </a:xfrm>
          <a:prstGeom prst="ellipse">
            <a:avLst/>
          </a:prstGeom>
          <a:solidFill>
            <a:srgbClr val="39B4A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0B2FD5F-BB7B-46A5-8168-2BBBF7AAD92E}"/>
              </a:ext>
            </a:extLst>
          </p:cNvPr>
          <p:cNvSpPr>
            <a:spLocks noGrp="1"/>
          </p:cNvSpPr>
          <p:nvPr/>
        </p:nvSpPr>
        <p:spPr>
          <a:xfrm>
            <a:off x="3552825" y="5886450"/>
            <a:ext cx="133350" cy="133350"/>
          </a:xfrm>
          <a:prstGeom prst="ellipse">
            <a:avLst/>
          </a:prstGeom>
          <a:solidFill>
            <a:srgbClr val="FFD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F334509-0F86-474F-A9F2-06627F2D3409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8657AC-9BCB-41D7-9EB0-84226C82B542}"/>
              </a:ext>
            </a:extLst>
          </p:cNvPr>
          <p:cNvSpPr>
            <a:spLocks noGrp="1"/>
          </p:cNvSpPr>
          <p:nvPr/>
        </p:nvSpPr>
        <p:spPr>
          <a:xfrm>
            <a:off x="10001250" y="895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FFCE4A-8B4C-4F86-8FB5-F22514CAAF78}"/>
              </a:ext>
            </a:extLst>
          </p:cNvPr>
          <p:cNvSpPr>
            <a:spLocks noGrp="1"/>
          </p:cNvSpPr>
          <p:nvPr/>
        </p:nvSpPr>
        <p:spPr>
          <a:xfrm>
            <a:off x="581025" y="470535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0B84F3-B392-4673-A34D-7BFD86B92193}"/>
              </a:ext>
            </a:extLst>
          </p:cNvPr>
          <p:cNvSpPr>
            <a:spLocks noGrp="1"/>
          </p:cNvSpPr>
          <p:nvPr/>
        </p:nvSpPr>
        <p:spPr>
          <a:xfrm>
            <a:off x="4953000" y="53721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>
            <a:defPPr algn="ctr"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D14D"/>
                </a:solidFill>
                <a:latin typeface="맑은 고딕"/>
                <a:ea typeface="맑은 고딕"/>
                <a:cs typeface="맑은 고딕"/>
              </a:defRPr>
            </a:pPr>
            <a:r>
              <a:rPr kumimoji="0" lang="en-US" altLang="ko-KR" sz="2700" b="1" i="0" u="none" strike="noStrike" kern="1200" cap="none" spc="0" normalizeH="0" baseline="0" noProof="0">
                <a:ln>
                  <a:noFill/>
                </a:ln>
                <a:solidFill>
                  <a:srgbClr val="FFD14D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052251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4514"/>
            <a:ext cx="12191695" cy="4483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469943"/>
            <a:ext cx="10652760" cy="57246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sz="3600" b="1" dirty="0" err="1">
                <a:solidFill>
                  <a:srgbClr val="1D3C5C"/>
                </a:solidFill>
                <a:latin typeface="맑은 고딕"/>
              </a:rPr>
              <a:t>섬겨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D3C5C"/>
                </a:solidFill>
                <a:latin typeface="맑은 고딕"/>
              </a:rPr>
              <a:t>주신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D3C5C"/>
                </a:solidFill>
                <a:latin typeface="맑은 고딕"/>
              </a:rPr>
              <a:t>준비위원과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D3C5C"/>
                </a:solidFill>
                <a:latin typeface="맑은 고딕"/>
              </a:rPr>
              <a:t>모든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D3C5C"/>
                </a:solidFill>
                <a:latin typeface="맑은 고딕"/>
              </a:rPr>
              <a:t>성도님께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3600" b="1" dirty="0" err="1">
                <a:solidFill>
                  <a:srgbClr val="1D3C5C"/>
                </a:solidFill>
                <a:latin typeface="맑은 고딕"/>
              </a:rPr>
              <a:t>감사드립니다</a:t>
            </a:r>
            <a:r>
              <a:rPr sz="3600" b="1" dirty="0">
                <a:solidFill>
                  <a:srgbClr val="1D3C5C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34488"/>
            <a:ext cx="10652760" cy="51090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맑은 고딕"/>
              </a:defRPr>
            </a:pPr>
            <a:r>
              <a:rPr sz="3200" b="1" dirty="0">
                <a:solidFill>
                  <a:srgbClr val="28759E"/>
                </a:solidFill>
                <a:latin typeface="맑은 고딕"/>
              </a:rPr>
              <a:t>한 </a:t>
            </a:r>
            <a:r>
              <a:rPr sz="3200" b="1" dirty="0" err="1">
                <a:solidFill>
                  <a:srgbClr val="28759E"/>
                </a:solidFill>
                <a:latin typeface="맑은 고딕"/>
              </a:rPr>
              <a:t>팀으로</a:t>
            </a:r>
            <a:r>
              <a:rPr sz="3200" b="1" dirty="0">
                <a:solidFill>
                  <a:srgbClr val="28759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28759E"/>
                </a:solidFill>
                <a:latin typeface="맑은 고딕"/>
              </a:rPr>
              <a:t>뛰고</a:t>
            </a:r>
            <a:r>
              <a:rPr sz="3200" b="1" dirty="0">
                <a:solidFill>
                  <a:srgbClr val="28759E"/>
                </a:solidFill>
                <a:latin typeface="맑은 고딕"/>
              </a:rPr>
              <a:t>, </a:t>
            </a:r>
            <a:r>
              <a:rPr sz="3200" b="1" dirty="0" err="1">
                <a:solidFill>
                  <a:srgbClr val="28759E"/>
                </a:solidFill>
                <a:latin typeface="맑은 고딕"/>
              </a:rPr>
              <a:t>한마음으로</a:t>
            </a:r>
            <a:r>
              <a:rPr sz="3200" b="1" dirty="0">
                <a:solidFill>
                  <a:srgbClr val="28759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28759E"/>
                </a:solidFill>
                <a:latin typeface="맑은 고딕"/>
              </a:rPr>
              <a:t>웃은</a:t>
            </a:r>
            <a:r>
              <a:rPr sz="3200" b="1" dirty="0">
                <a:solidFill>
                  <a:srgbClr val="28759E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28759E"/>
                </a:solidFill>
                <a:latin typeface="맑은 고딕"/>
              </a:rPr>
              <a:t>하루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5654101"/>
            <a:ext cx="7424927" cy="28007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rPr sz="1600" dirty="0">
                <a:solidFill>
                  <a:srgbClr val="1D3C5C"/>
                </a:solidFill>
                <a:latin typeface="맑은 고딕"/>
              </a:rPr>
              <a:t>2026년 </a:t>
            </a:r>
            <a:r>
              <a:rPr sz="1600" dirty="0" err="1">
                <a:solidFill>
                  <a:srgbClr val="1D3C5C"/>
                </a:solidFill>
                <a:latin typeface="맑은 고딕"/>
              </a:rPr>
              <a:t>전교인</a:t>
            </a:r>
            <a:r>
              <a:rPr sz="1600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1D3C5C"/>
                </a:solidFill>
                <a:latin typeface="맑은 고딕"/>
              </a:rPr>
              <a:t>한마음</a:t>
            </a:r>
            <a:r>
              <a:rPr sz="1600" dirty="0">
                <a:solidFill>
                  <a:srgbClr val="1D3C5C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1D3C5C"/>
                </a:solidFill>
                <a:latin typeface="맑은 고딕"/>
              </a:rPr>
              <a:t>체육대회</a:t>
            </a:r>
            <a:r>
              <a:rPr sz="1600" dirty="0">
                <a:solidFill>
                  <a:srgbClr val="1D3C5C"/>
                </a:solidFill>
                <a:latin typeface="맑은 고딕"/>
              </a:rPr>
              <a:t>  |  </a:t>
            </a:r>
            <a:r>
              <a:rPr sz="1600" dirty="0" err="1">
                <a:solidFill>
                  <a:srgbClr val="1D3C5C"/>
                </a:solidFill>
                <a:latin typeface="맑은 고딕"/>
              </a:rPr>
              <a:t>조원감리교회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0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wrap="square" lIns="0" tIns="0" rIns="0" bIns="0" rtlCol="0" anchor="t"/>
      <a:lstStyle>
        <a:defPPr marL="0" indent="0" algn="l">
          <a:buNone/>
          <a:defRPr sz="1400" b="1" dirty="0">
            <a:solidFill>
              <a:schemeClr val="tx1"/>
            </a:solidFill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6336</Words>
  <Application>Microsoft Office PowerPoint</Application>
  <PresentationFormat>와이드스크린</PresentationFormat>
  <Paragraphs>1127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나눔바른고딕</vt:lpstr>
      <vt:lpstr>나눔스퀘어</vt:lpstr>
      <vt:lpstr>맑은 고딕</vt:lpstr>
      <vt:lpstr>Arial</vt:lpstr>
      <vt:lpstr>Hanmaeum Review</vt:lpstr>
      <vt:lpstr>PowerPoint 프레젠테이션</vt:lpstr>
      <vt:lpstr>순                서</vt:lpstr>
      <vt:lpstr>PowerPoint 프레젠테이션</vt:lpstr>
      <vt:lpstr>Ⅰ.개요 / 일반현황(1/2)</vt:lpstr>
      <vt:lpstr>Ⅰ.개요 / 일반현황(2/2)</vt:lpstr>
      <vt:lpstr>Ⅱ.체육대회 시행 절차 정립 (1/6)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전교인 한마음 체육대회 사후검토</dc:title>
  <dc:subject>PptxGenJS Presentation</dc:subject>
  <dc:creator>조원감리교회 문화홍보부</dc:creator>
  <cp:lastModifiedBy>맑음 오늘도</cp:lastModifiedBy>
  <cp:revision>4</cp:revision>
  <dcterms:created xsi:type="dcterms:W3CDTF">2026-10-09T22:16:44Z</dcterms:created>
  <dcterms:modified xsi:type="dcterms:W3CDTF">2026-10-16T06:24:42Z</dcterms:modified>
</cp:coreProperties>
</file>