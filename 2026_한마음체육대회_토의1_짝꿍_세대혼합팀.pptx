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2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301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표지" id="{6DC239A2-A534-9C1D-7964-D65BA8D0D997}">
          <p14:sldIdLst>
            <p14:sldId id="256"/>
            <p14:sldId id="257"/>
            <p14:sldId id="303"/>
          </p14:sldIdLst>
        </p14:section>
        <p14:section name="순서" id="{CAFE32B3-3EC2-6D94-E890-F184E43FBAA0}">
          <p14:sldIdLst/>
        </p14:section>
        <p14:section name="회의 개요" id="{E1966228-E12E-67C4-9F08-7F346B080E89}">
          <p14:sldIdLst>
            <p14:sldId id="297"/>
            <p14:sldId id="272"/>
            <p14:sldId id="273"/>
            <p14:sldId id="274"/>
            <p14:sldId id="278"/>
            <p14:sldId id="279"/>
            <p14:sldId id="280"/>
            <p14:sldId id="281"/>
            <p14:sldId id="296"/>
            <p14:sldId id="276"/>
            <p14:sldId id="283"/>
            <p14:sldId id="284"/>
            <p14:sldId id="286"/>
            <p14:sldId id="287"/>
            <p14:sldId id="288"/>
            <p14:sldId id="289"/>
            <p14:sldId id="290"/>
            <p14:sldId id="291"/>
            <p14:sldId id="292"/>
            <p14:sldId id="298"/>
            <p14:sldId id="300"/>
            <p14:sldId id="301"/>
            <p14:sldId id="302"/>
            <p14:sldId id="299"/>
            <p14:sldId id="294"/>
          </p14:sldIdLst>
        </p14:section>
        <p14:section name="행사 결과" id="{6027AF0F-E659-E724-2A8C-D2B16440F775}">
          <p14:sldIdLst/>
        </p14:section>
        <p14:section name="진행 검토" id="{0F61C175-13B4-6228-889C-832B217DA55D}">
          <p14:sldIdLst/>
        </p14:section>
        <p14:section name="예산 · 정산" id="{C658978D-BC30-7BD7-C2A4-E9C848ED0695}">
          <p14:sldIdLst/>
        </p14:section>
        <p14:section name="만족도 설문" id="{5B2193CA-4DF5-B4DD-0947-612C88621E6C}">
          <p14:sldIdLst/>
        </p14:section>
        <p14:section name="돌아보기 · 개선" id="{C6927321-55C4-0A2B-3B06-02C785553DAA}">
          <p14:sldIdLst/>
        </p14:section>
        <p14:section name="결정 요청" id="{E2282175-EAD8-2E70-D490-58951921520A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D4661F"/>
    <a:srgbClr val="3333FF"/>
    <a:srgbClr val="F2F9FC"/>
    <a:srgbClr val="1D3C5C"/>
    <a:srgbClr val="123A63"/>
    <a:srgbClr val="E6F1FB"/>
    <a:srgbClr val="F4F7FB"/>
    <a:srgbClr val="CCECFF"/>
    <a:srgbClr val="CC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A3DF63-3D5D-4939-BADF-390B95B752DE}" v="138" dt="2026-10-16T05:50:31.884"/>
    <p1510:client id="{8E9D02A6-A743-446D-8A92-C75AD2475C0B}" v="170" dt="2026-10-15T10:28:58.69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260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6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microsoft.com/office/2015/10/relationships/revisionInfo" Target="revisionInfo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440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EFC32-8809-8C9E-8034-234100EB9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4859FC-5CBE-CAB9-1FEB-3C6DFB5170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8EF493-49E2-69B4-95D6-9C7276D6C3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빈칸(____)은 회의 전에 채워 주세요. 회의 순서는 90분 기준 권장안입니다.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C274A5-89C4-3942-3477-2D182BF8FD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466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conv/img/logo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1572768" cy="457200"/>
          </a:xfrm>
          <a:prstGeom prst="rect">
            <a:avLst/>
          </a:prstGeom>
        </p:spPr>
      </p:pic>
      <p:pic>
        <p:nvPicPr>
          <p:cNvPr id="3" name="Image 1" descr="/tmp/claude-0/conv/img/verse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1687" y="128016"/>
            <a:ext cx="2075688" cy="384048"/>
          </a:xfrm>
          <a:prstGeom prst="rect">
            <a:avLst/>
          </a:prstGeom>
        </p:spPr>
      </p:pic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548640" y="603504"/>
            <a:ext cx="11094415" cy="768096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5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accent4"/>
                </a:solidFill>
              </a:rPr>
              <a:t>2026 전교인 한마음 체육대회 사후검토  ·  조원감리교회 문화홍보부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conv/img/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"/>
            <a:ext cx="1572768" cy="457200"/>
          </a:xfrm>
          <a:prstGeom prst="rect">
            <a:avLst/>
          </a:prstGeom>
        </p:spPr>
      </p:pic>
      <p:pic>
        <p:nvPicPr>
          <p:cNvPr id="3" name="Image 1" descr="/tmp/claude-0/conv/img/vers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41687" y="128016"/>
            <a:ext cx="2075688" cy="38404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E6FF6-8C73-711F-C2FE-098CF6E3A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61">
            <a:extLst>
              <a:ext uri="{FF2B5EF4-FFF2-40B4-BE49-F238E27FC236}">
                <a16:creationId xmlns:a16="http://schemas.microsoft.com/office/drawing/2014/main" id="{6C080435-BA40-2265-729E-FFC10A153A0C}"/>
              </a:ext>
            </a:extLst>
          </p:cNvPr>
          <p:cNvSpPr txBox="1">
            <a:spLocks/>
          </p:cNvSpPr>
          <p:nvPr/>
        </p:nvSpPr>
        <p:spPr>
          <a:xfrm>
            <a:off x="548640" y="29540"/>
            <a:ext cx="11094415" cy="768096"/>
          </a:xfrm>
          <a:prstGeom prst="rect">
            <a:avLst/>
          </a:prstGeom>
          <a:noFill/>
        </p:spPr>
        <p:txBody>
          <a:bodyPr wrap="square" rtlCol="0"/>
          <a:lstStyle>
            <a:lvl1pPr marL="0" indent="0" algn="l" defTabSz="914400" rtl="0" eaLnBrk="1" latinLnBrk="0" hangingPunct="1">
              <a:spcBef>
                <a:spcPct val="0"/>
              </a:spcBef>
              <a:buNone/>
              <a:defRPr lang="en-US" sz="4000" b="1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ko-KR" dirty="0">
                <a:solidFill/>
              </a:rPr>
              <a:t>Ⅶ.</a:t>
            </a:r>
            <a:r>
              <a:rPr lang="ko-KR" altLang="en-US" dirty="0">
                <a:solidFill/>
              </a:rPr>
              <a:t>토의 주제</a:t>
            </a:r>
            <a:endParaRPr lang="ko-KR" altLang="en-US" sz="2400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3A492E77-225B-5D01-C28D-C3D9D69F204D}"/>
              </a:ext>
            </a:extLst>
          </p:cNvPr>
          <p:cNvGrpSpPr/>
          <p:nvPr/>
        </p:nvGrpSpPr>
        <p:grpSpPr>
          <a:xfrm>
            <a:off x="0" y="563396"/>
            <a:ext cx="12191695" cy="220323"/>
            <a:chOff x="0" y="563396"/>
            <a:chExt cx="12191695" cy="220323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900DE9C-C565-3EB0-37F7-CFC0212F3AEC}"/>
                </a:ext>
              </a:extLst>
            </p:cNvPr>
            <p:cNvSpPr/>
            <p:nvPr/>
          </p:nvSpPr>
          <p:spPr>
            <a:xfrm>
              <a:off x="0" y="630936"/>
              <a:ext cx="12191695" cy="107936"/>
            </a:xfrm>
            <a:prstGeom prst="rect">
              <a:avLst/>
            </a:prstGeom>
            <a:solidFill>
              <a:srgbClr val="1D3C5C"/>
            </a:solidFill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960C7658-E8D0-8E2B-EA21-C8AC16AC27BA}"/>
                </a:ext>
              </a:extLst>
            </p:cNvPr>
            <p:cNvSpPr/>
            <p:nvPr/>
          </p:nvSpPr>
          <p:spPr>
            <a:xfrm>
              <a:off x="9589721" y="610875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71A6957-9193-A493-13CD-71F1AE8346E0}"/>
                </a:ext>
              </a:extLst>
            </p:cNvPr>
            <p:cNvSpPr/>
            <p:nvPr/>
          </p:nvSpPr>
          <p:spPr>
            <a:xfrm>
              <a:off x="12063731" y="57525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F6A4A3C-6F0F-DF5E-94A0-DBAA4C466644}"/>
                </a:ext>
              </a:extLst>
            </p:cNvPr>
            <p:cNvSpPr/>
            <p:nvPr/>
          </p:nvSpPr>
          <p:spPr>
            <a:xfrm>
              <a:off x="11863829" y="61286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0139DC8E-C316-98E1-E3E0-F2B7594F09D6}"/>
                </a:ext>
              </a:extLst>
            </p:cNvPr>
            <p:cNvSpPr/>
            <p:nvPr/>
          </p:nvSpPr>
          <p:spPr>
            <a:xfrm>
              <a:off x="11636225" y="579222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70D716A9-98A5-302B-CD88-4C4670847CDF}"/>
                </a:ext>
              </a:extLst>
            </p:cNvPr>
            <p:cNvSpPr/>
            <p:nvPr/>
          </p:nvSpPr>
          <p:spPr>
            <a:xfrm>
              <a:off x="11392785" y="61287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2F99F0D-9C09-999E-D3DA-0AB092A576C6}"/>
                </a:ext>
              </a:extLst>
            </p:cNvPr>
            <p:cNvSpPr/>
            <p:nvPr/>
          </p:nvSpPr>
          <p:spPr>
            <a:xfrm>
              <a:off x="11097880" y="610894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EC3EFF36-ACD1-24F6-DB3D-EE220D1B31E1}"/>
                </a:ext>
              </a:extLst>
            </p:cNvPr>
            <p:cNvSpPr/>
            <p:nvPr/>
          </p:nvSpPr>
          <p:spPr>
            <a:xfrm>
              <a:off x="10802979" y="581208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C7F8A88-4F2B-40FD-0F2E-CE80CC14ECB4}"/>
                </a:ext>
              </a:extLst>
            </p:cNvPr>
            <p:cNvSpPr/>
            <p:nvPr/>
          </p:nvSpPr>
          <p:spPr>
            <a:xfrm>
              <a:off x="10460577" y="563396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76705E71-9ABF-03DA-DCAA-8062616D0C23}"/>
                </a:ext>
              </a:extLst>
            </p:cNvPr>
            <p:cNvSpPr/>
            <p:nvPr/>
          </p:nvSpPr>
          <p:spPr>
            <a:xfrm>
              <a:off x="10050881" y="612880"/>
              <a:ext cx="84710" cy="1708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32" name="Rectangle 10">
            <a:extLst>
              <a:ext uri="{FF2B5EF4-FFF2-40B4-BE49-F238E27FC236}">
                <a16:creationId xmlns:a16="http://schemas.microsoft.com/office/drawing/2014/main" id="{1906C18A-BA37-15D3-FB13-DB65916CB8D4}"/>
              </a:ext>
            </a:extLst>
          </p:cNvPr>
          <p:cNvSpPr/>
          <p:nvPr/>
        </p:nvSpPr>
        <p:spPr>
          <a:xfrm>
            <a:off x="292950" y="902630"/>
            <a:ext cx="418596" cy="391753"/>
          </a:xfrm>
          <a:prstGeom prst="rect">
            <a:avLst/>
          </a:prstGeom>
          <a:solidFill>
            <a:srgbClr val="6FBE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E88044E-1BB8-1463-C9FC-D05EDDE80BCE}"/>
              </a:ext>
            </a:extLst>
          </p:cNvPr>
          <p:cNvSpPr txBox="1"/>
          <p:nvPr/>
        </p:nvSpPr>
        <p:spPr>
          <a:xfrm>
            <a:off x="415477" y="942654"/>
            <a:ext cx="165743" cy="341632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맑은 고딕"/>
              </a:defRPr>
            </a:pPr>
            <a:r>
              <a:rPr lang="en-US" b="1" dirty="0">
                <a:solidFill>
                  <a:srgbClr val="FFFFFF"/>
                </a:solidFill>
                <a:latin typeface="맑은 고딕"/>
              </a:rPr>
              <a:t>1</a:t>
            </a:r>
            <a:endParaRPr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B3EA4E9-1BDB-E35B-8FED-24A06BCF0DE4}"/>
              </a:ext>
            </a:extLst>
          </p:cNvPr>
          <p:cNvSpPr txBox="1"/>
          <p:nvPr/>
        </p:nvSpPr>
        <p:spPr>
          <a:xfrm>
            <a:off x="764695" y="996057"/>
            <a:ext cx="11683888" cy="264688"/>
          </a:xfrm>
          <a:prstGeom prst="rect">
            <a:avLst/>
          </a:prstGeom>
          <a:noFill/>
        </p:spPr>
        <p:txBody>
          <a:bodyPr wrap="square" lIns="27432" tIns="9144" rIns="27432" bIns="9144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16385B"/>
                </a:solidFill>
                <a:latin typeface="맑은 고딕"/>
              </a:defRPr>
            </a:pPr>
            <a:r>
              <a:rPr lang="ko-KR" altLang="en-US" dirty="0">
                <a:solidFill>
                  <a:srgbClr val="1D3C5C"/>
                </a:solidFill>
                <a:latin typeface="맑은 고딕"/>
              </a:rPr>
              <a:t>첫 참가자 “짝꿍” 배정 및 세대 혼합 팀(‘모르던 성도와 가까워졌다’ 54%, 첫 참가자 40%)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C08E595-B7AE-C409-0000-B104FC29D33F}"/>
              </a:ext>
            </a:extLst>
          </p:cNvPr>
          <p:cNvSpPr/>
          <p:nvPr/>
        </p:nvSpPr>
        <p:spPr>
          <a:xfrm>
            <a:off x="0" y="0"/>
            <a:ext cx="12192000" cy="50292"/>
          </a:xfrm>
          <a:prstGeom prst="rect">
            <a:avLst/>
          </a:prstGeom>
          <a:solidFill>
            <a:srgbClr val="1997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329D3D5-9AD2-D065-0A82-9890B2EB3F5C}"/>
              </a:ext>
            </a:extLst>
          </p:cNvPr>
          <p:cNvSpPr/>
          <p:nvPr/>
        </p:nvSpPr>
        <p:spPr>
          <a:xfrm>
            <a:off x="0" y="6816852"/>
            <a:ext cx="12192000" cy="41148"/>
          </a:xfrm>
          <a:prstGeom prst="rect">
            <a:avLst/>
          </a:prstGeom>
          <a:solidFill>
            <a:srgbClr val="D3E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" name="직선 연결선 1">
            <a:extLst>
              <a:ext uri="{FF2B5EF4-FFF2-40B4-BE49-F238E27FC236}">
                <a16:creationId xmlns:a16="http://schemas.microsoft.com/office/drawing/2014/main" id="{BE41DC64-7068-33D9-597B-4DDE26F19842}"/>
              </a:ext>
            </a:extLst>
          </p:cNvPr>
          <p:cNvCxnSpPr>
            <a:cxnSpLocks/>
          </p:cNvCxnSpPr>
          <p:nvPr/>
        </p:nvCxnSpPr>
        <p:spPr>
          <a:xfrm>
            <a:off x="391886" y="1337953"/>
            <a:ext cx="11756555" cy="0"/>
          </a:xfrm>
          <a:prstGeom prst="line">
            <a:avLst/>
          </a:prstGeom>
          <a:ln w="381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3" name="타원 32">
            <a:extLst>
              <a:ext uri="{FF2B5EF4-FFF2-40B4-BE49-F238E27FC236}">
                <a16:creationId xmlns:a16="http://schemas.microsoft.com/office/drawing/2014/main" id="{7E83358E-B5D5-E505-60C7-473B996A6891}"/>
              </a:ext>
            </a:extLst>
          </p:cNvPr>
          <p:cNvSpPr/>
          <p:nvPr/>
        </p:nvSpPr>
        <p:spPr>
          <a:xfrm>
            <a:off x="601689" y="1517993"/>
            <a:ext cx="138542" cy="133060"/>
          </a:xfrm>
          <a:prstGeom prst="ellipse">
            <a:avLst/>
          </a:prstGeom>
          <a:solidFill>
            <a:srgbClr val="1D3C5C"/>
          </a:solidFill>
          <a:ln>
            <a:solidFill>
              <a:srgbClr val="B9CF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4" name="Text 3">
            <a:extLst>
              <a:ext uri="{FF2B5EF4-FFF2-40B4-BE49-F238E27FC236}">
                <a16:creationId xmlns:a16="http://schemas.microsoft.com/office/drawing/2014/main" id="{D175365E-5EA2-FCB5-0170-4E5B25650787}"/>
              </a:ext>
            </a:extLst>
          </p:cNvPr>
          <p:cNvSpPr txBox="1"/>
          <p:nvPr/>
        </p:nvSpPr>
        <p:spPr>
          <a:xfrm>
            <a:off x="820589" y="1454573"/>
            <a:ext cx="10848491" cy="2652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293B4C"/>
                </a:solidFill>
                <a:latin typeface="맑은 고딕"/>
                <a:ea typeface="+mj-ea"/>
              </a:rPr>
              <a:t>대안별 장단점 분석</a:t>
            </a:r>
            <a:endParaRPr lang="en-US" sz="1000" b="1" dirty="0">
              <a:solidFill>
                <a:srgbClr val="3333FF"/>
              </a:solidFill>
              <a:latin typeface="+mj-ea"/>
              <a:ea typeface="+mj-ea"/>
            </a:endParaRPr>
          </a:p>
        </p:txBody>
      </p:sp>
      <p:graphicFrame>
        <p:nvGraphicFramePr>
          <p:cNvPr id="35" name="표 34">
            <a:extLst>
              <a:ext uri="{FF2B5EF4-FFF2-40B4-BE49-F238E27FC236}">
                <a16:creationId xmlns:a16="http://schemas.microsoft.com/office/drawing/2014/main" id="{B0558409-6131-A491-0D42-A6448088BF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8894961"/>
              </p:ext>
            </p:extLst>
          </p:nvPr>
        </p:nvGraphicFramePr>
        <p:xfrm>
          <a:off x="733527" y="1772006"/>
          <a:ext cx="10874954" cy="435626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30191">
                  <a:extLst>
                    <a:ext uri="{9D8B030D-6E8A-4147-A177-3AD203B41FA5}">
                      <a16:colId xmlns:a16="http://schemas.microsoft.com/office/drawing/2014/main" val="32180854"/>
                    </a:ext>
                  </a:extLst>
                </a:gridCol>
                <a:gridCol w="3249404">
                  <a:extLst>
                    <a:ext uri="{9D8B030D-6E8A-4147-A177-3AD203B41FA5}">
                      <a16:colId xmlns:a16="http://schemas.microsoft.com/office/drawing/2014/main" val="664816117"/>
                    </a:ext>
                  </a:extLst>
                </a:gridCol>
                <a:gridCol w="2690604">
                  <a:extLst>
                    <a:ext uri="{9D8B030D-6E8A-4147-A177-3AD203B41FA5}">
                      <a16:colId xmlns:a16="http://schemas.microsoft.com/office/drawing/2014/main" val="905680235"/>
                    </a:ext>
                  </a:extLst>
                </a:gridCol>
                <a:gridCol w="3004755">
                  <a:extLst>
                    <a:ext uri="{9D8B030D-6E8A-4147-A177-3AD203B41FA5}">
                      <a16:colId xmlns:a16="http://schemas.microsoft.com/office/drawing/2014/main" val="3163086601"/>
                    </a:ext>
                  </a:extLst>
                </a:gridCol>
              </a:tblGrid>
              <a:tr h="4241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대</a:t>
                      </a:r>
                      <a:r>
                        <a:rPr lang="en-US" altLang="ko-KR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ko-KR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안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장점 (</a:t>
                      </a:r>
                      <a:r>
                        <a:rPr lang="ko-KR" sz="1200" b="1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Pros</a:t>
                      </a:r>
                      <a:r>
                        <a:rPr lang="ko-KR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단점 (</a:t>
                      </a:r>
                      <a:r>
                        <a:rPr lang="ko-KR" sz="1200" b="1" dirty="0" err="1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Cons</a:t>
                      </a:r>
                      <a:r>
                        <a:rPr lang="ko-KR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sz="1200" b="1" dirty="0"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비고</a:t>
                      </a: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C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066448"/>
                  </a:ext>
                </a:extLst>
              </a:tr>
              <a:tr h="126017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sz="1100" b="1" dirty="0" err="1">
                          <a:effectLst/>
                          <a:latin typeface="+mn-lt"/>
                        </a:rPr>
                        <a:t>A안: 짝꿍 + 세대 혼합 팀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sz="1100" b="1" dirty="0" err="1">
                          <a:effectLst/>
                          <a:latin typeface="+mn-lt"/>
                        </a:rPr>
                        <a:t>(병행 운영)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sz="1100" b="1" dirty="0">
                          <a:effectLst/>
                          <a:latin typeface="+mn-lt"/>
                        </a:rPr>
                        <a:t>• 관계 형성 : 첫 참가자 40% vs 경험자 60%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sz="1100" b="1" dirty="0">
                          <a:effectLst/>
                          <a:latin typeface="+mn-lt"/>
                        </a:rPr>
                        <a:t>  격차를 줄이는 가장 직접적인 방법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sz="1100" b="1" dirty="0">
                          <a:effectLst/>
                          <a:latin typeface="+mn-lt"/>
                        </a:rPr>
                        <a:t>• 공동체 의식 강화(재참가 핵심 요인 β .45)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sz="1100" b="1" dirty="0">
                          <a:effectLst/>
                          <a:latin typeface="+mn-lt"/>
                        </a:rPr>
                        <a:t>• 목적 ② 세대 간 소통·화합 실현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 팀 편성 작업량 증가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  ※ 참가 명단 사전 확정 필요(D-14)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 선교회 단위 응원·결속감 약화 우려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 짝꿍 역할 사전 안내 필요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100" b="1" dirty="0">
                          <a:effectLst/>
                          <a:latin typeface="+mn-lt"/>
                        </a:rPr>
                        <a:t>관계 형성과 세대 화합을 함께 해결하는 권장안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7746602"/>
                  </a:ext>
                </a:extLst>
              </a:tr>
              <a:tr h="147156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sz="1100" b="1" dirty="0" err="1">
                          <a:effectLst/>
                          <a:latin typeface="+mn-lt"/>
                        </a:rPr>
                        <a:t>B안: 짝꿍 배정만</a:t>
                      </a:r>
                      <a:endParaRPr lang="ko-KR" sz="1100" b="1" dirty="0"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sz="1100" b="1" dirty="0" err="1">
                          <a:effectLst/>
                          <a:latin typeface="+mn-lt"/>
                        </a:rPr>
                        <a:t>(팀은 선교회 단위 유지)</a:t>
                      </a:r>
                      <a:endParaRPr 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 즉시 시행 가능 : 편성 부담 적음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 첫 참가자 적응 지원(‘시간대로 진행’ 70%)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 기존 선교회 응원 분위기 유지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 세대 간 교류 효과 제한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  ※ 아는 사람끼리 모이는 구조 유지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 다른 성도의 관계 확장 효과 없음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100" b="1" dirty="0">
                          <a:effectLst/>
                          <a:latin typeface="+mn-lt"/>
                        </a:rPr>
                        <a:t>팀 재편성이 어려울 때 선택하는 최소안</a:t>
                      </a:r>
                      <a:endParaRPr 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9311449"/>
                  </a:ext>
                </a:extLst>
              </a:tr>
              <a:tr h="1200334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sz="1100" b="1" dirty="0" err="1">
                          <a:effectLst/>
                          <a:latin typeface="+mn-lt"/>
                        </a:rPr>
                        <a:t>C안: 세대 혼합 팀만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 algn="ctr">
                        <a:lnSpc>
                          <a:spcPct val="150000"/>
                        </a:lnSpc>
                        <a:buNone/>
                      </a:pPr>
                      <a:r>
                        <a:rPr lang="ko-KR" sz="1100" b="1" dirty="0" err="1">
                          <a:effectLst/>
                          <a:latin typeface="+mn-lt"/>
                        </a:rPr>
                        <a:t>(짝꿍 미배정)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 전 세대 공동 종목 요청(약 18건) 반영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 세대 간 소통·화합 효과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 짝꿍 지정·안내 부담 없음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 첫 참가자 개별 돌봄 공백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  ※ 응원·관람 위주 참여(8명) 지속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ko-KR" sz="1100" b="1" dirty="0">
                          <a:effectLst/>
                          <a:latin typeface="+mn-lt"/>
                        </a:rPr>
                        <a:t>• 낯선 팀 구성으로 어색함 증가 가능</a:t>
                      </a:r>
                      <a:endParaRPr lang="en-US" alt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1100" b="1" dirty="0">
                          <a:effectLst/>
                          <a:latin typeface="+mn-lt"/>
                        </a:rPr>
                        <a:t>짝꿍과 함께할 때 효과가 큼, 단독 채택은 비권장</a:t>
                      </a:r>
                      <a:endParaRPr lang="ko-KR" sz="1100" b="1" dirty="0">
                        <a:effectLst/>
                        <a:latin typeface="+mn-lt"/>
                      </a:endParaRPr>
                    </a:p>
                  </a:txBody>
                  <a:tcPr marL="71333" marR="71333" marT="35667" marB="3566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17076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3868511"/>
      </p:ext>
    </p:extLst>
  </p:cSld>
  <p:clrMapOvr>
    <a:masterClrMapping/>
  </p:clrMapOvr>
</p:sld>
</file>

<file path=ppt/theme/theme1.xml><?xml version="1.0" encoding="utf-8"?>
<a:theme xmlns:a="http://schemas.openxmlformats.org/drawingml/2006/main" name="Hanmaeum Review">
  <a:themeElements>
    <a:clrScheme name="Hanmaeum Review">
      <a:dk1>
        <a:srgbClr val="1F2A3A"/>
      </a:dk1>
      <a:lt1>
        <a:srgbClr val="FFFFFF"/>
      </a:lt1>
      <a:dk2>
        <a:srgbClr val="123A63"/>
      </a:dk2>
      <a:lt2>
        <a:srgbClr val="F4F7FB"/>
      </a:lt2>
      <a:accent1>
        <a:srgbClr val="123A63"/>
      </a:accent1>
      <a:accent2>
        <a:srgbClr val="D4661F"/>
      </a:accent2>
      <a:accent3>
        <a:srgbClr val="2A6FB5"/>
      </a:accent3>
      <a:accent4>
        <a:srgbClr val="44546B"/>
      </a:accent4>
      <a:accent5>
        <a:srgbClr val="DCE3ED"/>
      </a:accent5>
      <a:accent6>
        <a:srgbClr val="E8A05E"/>
      </a:accent6>
      <a:hlink>
        <a:srgbClr val="2A6FB5"/>
      </a:hlink>
      <a:folHlink>
        <a:srgbClr val="44546B"/>
      </a:folHlink>
    </a:clrScheme>
    <a:fontScheme name="Hanmaeum Review">
      <a:majorFont>
        <a:latin typeface="나눔스퀘어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나눔바른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  <a:ln/>
      </a:spPr>
      <a:bodyPr wrap="square" lIns="0" tIns="0" rIns="0" bIns="0" rtlCol="0" anchor="t"/>
      <a:lstStyle>
        <a:defPPr marL="0" indent="0" algn="l">
          <a:buNone/>
          <a:defRPr sz="1400" b="1" dirty="0">
            <a:solidFill>
              <a:schemeClr val="tx1"/>
            </a:solidFill>
            <a:latin typeface="+mj-ea"/>
            <a:ea typeface="+mj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2166</TotalTime>
  <Words>5909</Words>
  <Application>Microsoft Office PowerPoint</Application>
  <PresentationFormat>와이드스크린</PresentationFormat>
  <Paragraphs>1051</Paragraphs>
  <Slides>28</Slides>
  <Notes>26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28</vt:i4>
      </vt:variant>
    </vt:vector>
  </HeadingPairs>
  <TitlesOfParts>
    <vt:vector size="33" baseType="lpstr">
      <vt:lpstr>나눔바른고딕</vt:lpstr>
      <vt:lpstr>나눔스퀘어</vt:lpstr>
      <vt:lpstr>맑은 고딕</vt:lpstr>
      <vt:lpstr>Arial</vt:lpstr>
      <vt:lpstr>Hanmaeum Review</vt:lpstr>
      <vt:lpstr>PowerPoint 프레젠테이션</vt:lpstr>
      <vt:lpstr>순                서</vt:lpstr>
      <vt:lpstr>PowerPoint 프레젠테이션</vt:lpstr>
      <vt:lpstr>Ⅰ.개요 / 일반현황(1/2)</vt:lpstr>
      <vt:lpstr>Ⅰ.개요 / 일반현황(2/2)</vt:lpstr>
      <vt:lpstr>Ⅱ.체육대회 시행 절차 정립 (1/6)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2026년 전교인 한마음 체육대회 사후검토</dc:title>
  <dc:subject>PptxGenJS Presentation</dc:subject>
  <dc:creator>조원감리교회 문화홍보부</dc:creator>
  <cp:lastModifiedBy>맑음 오늘도</cp:lastModifiedBy>
  <cp:revision>4</cp:revision>
  <dcterms:created xsi:type="dcterms:W3CDTF">2026-10-09T22:16:44Z</dcterms:created>
  <dcterms:modified xsi:type="dcterms:W3CDTF">2026-10-16T05:55:47Z</dcterms:modified>
</cp:coreProperties>
</file>