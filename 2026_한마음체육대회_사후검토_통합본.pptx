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18f67a3-7b26-0b26-0503-b4ffcffa9f2d}">
          <p14:sldIdLst>
            <p14:sldId id="256"/>
          </p14:sldIdLst>
        </p14:section>
        <p14:section name="순서" id="{59f9ac36-9a0b-9118-75ad-a82d29a3e2c6}">
          <p14:sldIdLst>
            <p14:sldId id="257"/>
          </p14:sldIdLst>
        </p14:section>
        <p14:section name="Ⅰ. 개요" id="{7154d32d-56ad-b84f-8ed9-2acdb278f71d}">
          <p14:sldIdLst>
            <p14:sldId id="258"/>
            <p14:sldId id="259"/>
          </p14:sldIdLst>
        </p14:section>
        <p14:section name="Ⅱ. 절차 점검" id="{4cdf3c62-d6e1-1a92-3341-e40d966e6272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Ⅲ. 예산 집행·정산" id="{fd6bb466-1727-dfa2-fbf3-1f5bcbb3e005}">
          <p14:sldIdLst>
            <p14:sldId id="267"/>
            <p14:sldId id="268"/>
            <p14:sldId id="269"/>
            <p14:sldId id="270"/>
          </p14:sldIdLst>
        </p14:section>
        <p14:section name="Ⅳ. 설문 결과" id="{cf0da5bf-8dac-8161-3f35-a43e0e024b33}">
          <p14:sldIdLst>
            <p14:sldId id="271"/>
            <p14:sldId id="272"/>
            <p14:sldId id="273"/>
            <p14:sldId id="274"/>
            <p14:sldId id="275"/>
          </p14:sldIdLst>
        </p14:section>
        <p14:section name="Ⅴ. 토의" id="{5d5dadbe-5d9c-ce9f-7be9-906a3fa64a3c}">
          <p14:sldIdLst>
            <p14:sldId id="276"/>
            <p14:sldId id="277"/>
          </p14:sldIdLst>
        </p14:section>
        <p14:section name="부록" id="{efa4ef2a-50ab-b901-c084-806e09f36469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10월 4일 체육대회를 계획 대비 실제로 돌아보고, 절차·정산·설문 결과를 바탕으로 내년 개선 과제를 결정하는 회의입니다.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회의는 다섯 부분, 약 90분입니다. 각 부분의 해당 쪽 번호를 함께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참가 243명으로 목표 250명의 97%입니다. 목표 ⑤는 일정은 지켰지만 지출이 계획의 134%여서 R로 평가했습니다.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 기간은 실질 2주였습니다. 기획위원 찬조는 제안 70만 원, 계획 90만 원, 실제 80만 원으로 자료마다 달라 정산 때 확인이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출발점은 구역회가 확정한 예산서에 체육대회 금액이 있는지 확인하는 것입니다. 조문 번호는 교리와 장정 원문으로 다시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현행 7단계에는 담임목사 승인 단계가 없고, 이번 계획서에는 목적, 근거 결의, 평가·보고 항목이 빠져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문제의 공통 원인은 승인 단계, 단계별 기한, 단일 보고 창구가 없었다는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7단계에 담임목사 최종 승인 단계를 넣어 8단계로 바꿉니다. 승인 전에는 예산 집행과 광고를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계획서는 D-30, 담임목사 승인은 D-14까지 마칩니다. 임시 구역회가 필요하면 D-45까지 계획서를 앞당깁니다.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계획서만 보고도 누가, 언제, 어디서, 얼마로, 어떤 근거로 하는지 알 수 있어야 합니다. 신설 항목 3개를 더해 13개 항목으로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가지 문제는 모두 승인 단계, 기한, 단일 보고 창구가 없던 데서 비롯되었습니다. 후속 과제 네 가지를 토의에서 담당자와 함께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수입과 지출이 같아 장부 잔액은 0원입니다. 회계 메모의 잔액 150,619원과 통장 잔액을 대조해야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식대는 1인 단가를 계획보다 낮췄고, 봉사자 식사 35만 원은 계획에 없던 지출입니다.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지출은 계획보다 34% 많았습니다. 초과분 대부분은 식비와 전교인 선물 품목 변경에서 나왔습니다.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정산서 제출(10. 18.) 전에 일곱 가지를 확인해야 합니다. 특히 통장 잔액 대조와 게임 물품 누락 여부가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응답은 46명(18.9%)입니다. 만족은 높고, 식사가 가장 약한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성도들은 운동보다 교회 행사에 함께하기 위해 왔습니다. 가장 많은 요청은 모든 세대가 함께하는 종목입니다.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S-O-R 모형은 환경(S)이 마음(O)을 거쳐 행동(R)이 된다는 틀입니다. 다시 오게 만든 힘은 만족이 아니라 공동체 의미와 권유였습니다. 상세 통계는 부록 23~24쪽에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참가자는 진행 방식은 낯설게 느꼈지만, 다시 오고 싶은 마음은 경험자와 같았습니다. 첫 참가자는 대부분 새신자가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설문에서 나온 제안 네 가지입니다. 담당과 시점은 토의에서 확정합니다.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35분 동안 다섯 가지 안건의 결정 내용과 담당, 기한을 정합니다. 빈칸은 회의에서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회귀분석 결과입니다. β는 표준화 계수, *** p&lt;.001, ** p&lt;.01, * p&lt;.05, † p&lt;.10.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매개효과는 부트스트랩 5,000회로 검증했습니다. 신뢰구간이 0을 포함하지 않으면 매개효과가 있다고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비교한 척도 30문항 중 9문항에서 통계적 차이가 있었습니다. 추첨·시상 공정성은 둘 다 높지만 ‘매우 그렇다’ 비율에서 차이가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merge/img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merge/img/vers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687" y="155448"/>
            <a:ext cx="2075688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5" name="Text 0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2026 전교인 한마음 체육대회 사후검토  ·  조원감리교회 문화홍보부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merge/img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merge/img/vers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687" y="155448"/>
            <a:ext cx="2075688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전교인 단체 사진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143000"/>
            <a:ext cx="5879592" cy="2468880"/>
          </a:xfrm>
          <a:prstGeom prst="rect">
            <a:avLst/>
          </a:prstGeom>
        </p:spPr>
      </p:pic>
      <p:pic>
        <p:nvPicPr>
          <p:cNvPr id="3" name="Image 1" descr="개회 예배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3749040"/>
            <a:ext cx="2871216" cy="2157984"/>
          </a:xfrm>
          <a:prstGeom prst="rect">
            <a:avLst/>
          </a:prstGeom>
        </p:spPr>
      </p:pic>
      <p:pic>
        <p:nvPicPr>
          <p:cNvPr id="4" name="Image 2" descr="말씀패드 경기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43416" y="3749040"/>
            <a:ext cx="2871216" cy="215798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57200" y="1143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F0"/>
                </a:solidFill>
              </a:rPr>
              <a:t>조원감리교회 문화홍보부  |  사후검토 회의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457200" y="16002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2026년 전교인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한마음 체육대회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사후검토</a:t>
            </a:r>
            <a:endParaRPr lang="en-US" sz="4000" dirty="0"/>
          </a:p>
        </p:txBody>
      </p:sp>
      <p:sp>
        <p:nvSpPr>
          <p:cNvPr id="7" name="Text 2"/>
          <p:cNvSpPr txBox="1"/>
          <p:nvPr/>
        </p:nvSpPr>
        <p:spPr>
          <a:xfrm>
            <a:off x="457200" y="4069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05E"/>
                </a:solidFill>
              </a:rPr>
              <a:t>한 팀으로 뛰고, 한마음으로 웃은 하루를 돌아봅니다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457200" y="47548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A6FB5">
              <a:alpha val="60000"/>
            </a:srgbClr>
          </a:solidFill>
          <a:ln w="9525">
            <a:solidFill>
              <a:srgbClr val="9AA5BC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4754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회의 2026. 10. 17(토)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2240280" y="47548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A6FB5">
              <a:alpha val="60000"/>
            </a:srgbClr>
          </a:solidFill>
          <a:ln w="9525">
            <a:solidFill>
              <a:srgbClr val="9AA5B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240280" y="4754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행사 2026. 10. 4(주일)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023360" y="47548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A6FB5">
              <a:alpha val="60000"/>
            </a:srgbClr>
          </a:solidFill>
          <a:ln w="9525">
            <a:solidFill>
              <a:srgbClr val="9AA5B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023360" y="4754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영화초등학교 실내체육관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C"/>
                </a:solidFill>
              </a:rPr>
              <a:t>문화홍보부 · 준비위원회 회의 자료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순        서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회의 순서 (약 90분)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127729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63677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개요 / 일반 현황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901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참가 인원, 목적·목표 달성도, 준비 과정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265615" y="16824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3~4쪽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637215" y="1645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5분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57200" y="2395728"/>
            <a:ext cx="1127729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25694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2569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현실태 / 문제점, 발전 방향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834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예산·계획 절차 점검, 시행 간 문제점, 8단계 승인 절차와 표준 일정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265615" y="2615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5~11쪽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25786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25분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57200" y="3328416"/>
            <a:ext cx="1127729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5800" y="350215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502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예산 집행 · 정산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7673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수입·지출 총괄, 계획 대비 집행, 정산 확인 사항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9265615" y="35478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12~15쪽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35112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15분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4261104"/>
            <a:ext cx="1127729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5800" y="44348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5800" y="4434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3342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만족도 설문 결과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325880" y="4700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영역별 점수, S-O-R 분석, 첫 참가자 분석, 제안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265615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16~20쪽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44439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10분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457200" y="5193792"/>
            <a:ext cx="1127729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85800" y="536752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85800" y="5367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1325880" y="52669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토 의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325880" y="56327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결정할 안건, 담당과 기한 확정, 결정 요청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9265615" y="5413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21~22쪽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537667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35분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개요 / 일반 현황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(1/2)</a:t>
            </a:r>
            <a:endParaRPr lang="en-US" sz="3600" dirty="0"/>
          </a:p>
        </p:txBody>
      </p:sp>
      <p:sp>
        <p:nvSpPr>
          <p:cNvPr id="4" name="secNum1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일반 현황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6675120" cy="1600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b="1" dirty="0">
                <a:solidFill>
                  <a:srgbClr val="1F2A3A"/>
                </a:solidFill>
              </a:rPr>
              <a:t>일시 / 장소 : 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2026. 10. 4(주일) 09:00~16:00 / 영화초등학교 실내체육관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b="1" dirty="0">
                <a:solidFill>
                  <a:srgbClr val="1F2A3A"/>
                </a:solidFill>
              </a:rPr>
              <a:t>주최 / 주관 : 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문화홍보부 / 4남선교회 및 청장년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b="1" dirty="0">
                <a:solidFill>
                  <a:srgbClr val="1F2A3A"/>
                </a:solidFill>
              </a:rPr>
              <a:t>참가 인원 : 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총 243명 (청팀 122명, 홍팀 121명)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b="1" dirty="0">
                <a:solidFill>
                  <a:srgbClr val="1F2A3A"/>
                </a:solidFill>
              </a:rPr>
              <a:t>진행 순서 : 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개회 예배 → 국민체조 → 오전 경기(5종목) → 점심 → 오후 경기(7종목) → 시상·행운권 추첨 → 폐회 예배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960120"/>
          <a:ext cx="43708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4360"/>
                <a:gridCol w="594360"/>
                <a:gridCol w="640080"/>
                <a:gridCol w="71323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청팀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홍팀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합계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비율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목회자 / 사모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2.5%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남선교회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17.7%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여선교회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58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47.3%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청년부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10.7%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교회학교 (유치·아동·중고등)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53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21.8%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합계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</a:tr>
            </a:tbl>
          </a:graphicData>
        </a:graphic>
      </p:graphicFrame>
      <p:sp>
        <p:nvSpPr>
          <p:cNvPr id="9" name="secNum2"/>
          <p:cNvSpPr/>
          <p:nvPr/>
        </p:nvSpPr>
        <p:spPr>
          <a:xfrm>
            <a:off x="457200" y="30083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572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9718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목 적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200" y="3401568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3547872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008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69264" y="3511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교회 공동체의 하나 됨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880360" y="3547872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88036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209544" y="3511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세대 간 소통과 화합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120640" y="3547872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12064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49824" y="3511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선교회·부서 간 교제 확대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360920" y="3547872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36092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7690104" y="3511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새가족 정착 지원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9601200" y="3547872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60120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930384" y="3511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건강한 쉼과 기쁨의 회복</a:t>
            </a:r>
            <a:endParaRPr lang="en-US" sz="1250" dirty="0"/>
          </a:p>
        </p:txBody>
      </p:sp>
      <p:sp>
        <p:nvSpPr>
          <p:cNvPr id="28" name="secNum3"/>
          <p:cNvSpPr/>
          <p:nvPr/>
        </p:nvSpPr>
        <p:spPr>
          <a:xfrm>
            <a:off x="457200" y="41513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5720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목표 달성도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475488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범례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257800" y="4160520"/>
            <a:ext cx="274320" cy="27432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2578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586984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90% 이상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858000" y="4160520"/>
            <a:ext cx="274320" cy="27432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8580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7187184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80~89%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8458200" y="4160520"/>
            <a:ext cx="274320" cy="27432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8458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8787384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70~79%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0058400" y="4160520"/>
            <a:ext cx="274320" cy="274320"/>
          </a:xfrm>
          <a:prstGeom prst="ellipse">
            <a:avLst/>
          </a:prstGeom>
          <a:solidFill>
            <a:srgbClr val="1F2A3A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100584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10387584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69% 이하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457200" y="4553712"/>
            <a:ext cx="1127729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40080" y="4718304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64008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987552" y="4690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A"/>
                </a:solidFill>
              </a:rPr>
              <a:t>전교인 참여 250명</a:t>
            </a:r>
            <a:endParaRPr lang="en-US" sz="1250" dirty="0"/>
          </a:p>
        </p:txBody>
      </p:sp>
      <p:sp>
        <p:nvSpPr>
          <p:cNvPr id="48" name="Text 44"/>
          <p:cNvSpPr txBox="1"/>
          <p:nvPr/>
        </p:nvSpPr>
        <p:spPr>
          <a:xfrm>
            <a:off x="987552" y="5020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243명 참여 (97%)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3794760" y="4718304"/>
            <a:ext cx="274320" cy="27432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379476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4389120" y="4718304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438912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4736592" y="4690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A"/>
                </a:solidFill>
              </a:rPr>
              <a:t>전 세대 참여 종목 12개 운영</a:t>
            </a:r>
            <a:endParaRPr lang="en-US" sz="1250" dirty="0"/>
          </a:p>
        </p:txBody>
      </p:sp>
      <p:sp>
        <p:nvSpPr>
          <p:cNvPr id="54" name="Text 50"/>
          <p:cNvSpPr txBox="1"/>
          <p:nvPr/>
        </p:nvSpPr>
        <p:spPr>
          <a:xfrm>
            <a:off x="4736592" y="5020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12개 종목 운영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7543800" y="4718304"/>
            <a:ext cx="274320" cy="27432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754380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8138160" y="4718304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813816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9" name="Text 55"/>
          <p:cNvSpPr txBox="1"/>
          <p:nvPr/>
        </p:nvSpPr>
        <p:spPr>
          <a:xfrm>
            <a:off x="8485632" y="4690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A"/>
                </a:solidFill>
              </a:rPr>
              <a:t>협력 중심 경기 운영</a:t>
            </a:r>
            <a:endParaRPr lang="en-US" sz="1250" dirty="0"/>
          </a:p>
        </p:txBody>
      </p:sp>
      <p:sp>
        <p:nvSpPr>
          <p:cNvPr id="60" name="Text 56"/>
          <p:cNvSpPr txBox="1"/>
          <p:nvPr/>
        </p:nvSpPr>
        <p:spPr>
          <a:xfrm>
            <a:off x="8485632" y="5020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단체·협동 종목 중심</a:t>
            </a:r>
            <a:endParaRPr lang="en-US" sz="1050" dirty="0"/>
          </a:p>
        </p:txBody>
      </p:sp>
      <p:sp>
        <p:nvSpPr>
          <p:cNvPr id="61" name="Shape 57"/>
          <p:cNvSpPr/>
          <p:nvPr/>
        </p:nvSpPr>
        <p:spPr>
          <a:xfrm>
            <a:off x="11292840" y="4718304"/>
            <a:ext cx="274320" cy="27432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1129284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63" name="Shape 59"/>
          <p:cNvSpPr/>
          <p:nvPr/>
        </p:nvSpPr>
        <p:spPr>
          <a:xfrm>
            <a:off x="640080" y="5522976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64008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65" name="Text 61"/>
          <p:cNvSpPr txBox="1"/>
          <p:nvPr/>
        </p:nvSpPr>
        <p:spPr>
          <a:xfrm>
            <a:off x="987552" y="5495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A"/>
                </a:solidFill>
              </a:rPr>
              <a:t>안전사고 Zero</a:t>
            </a:r>
            <a:endParaRPr lang="en-US" sz="1250" dirty="0"/>
          </a:p>
        </p:txBody>
      </p:sp>
      <p:sp>
        <p:nvSpPr>
          <p:cNvPr id="66" name="Text 62"/>
          <p:cNvSpPr txBox="1"/>
          <p:nvPr/>
        </p:nvSpPr>
        <p:spPr>
          <a:xfrm>
            <a:off x="987552" y="5824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보고된 사고 없음</a:t>
            </a:r>
            <a:endParaRPr lang="en-US" sz="1050" dirty="0"/>
          </a:p>
        </p:txBody>
      </p:sp>
      <p:sp>
        <p:nvSpPr>
          <p:cNvPr id="67" name="Shape 63"/>
          <p:cNvSpPr/>
          <p:nvPr/>
        </p:nvSpPr>
        <p:spPr>
          <a:xfrm>
            <a:off x="3794760" y="5522976"/>
            <a:ext cx="274320" cy="27432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379476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69" name="Shape 65"/>
          <p:cNvSpPr/>
          <p:nvPr/>
        </p:nvSpPr>
        <p:spPr>
          <a:xfrm>
            <a:off x="4389120" y="5522976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438912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71" name="Text 67"/>
          <p:cNvSpPr txBox="1"/>
          <p:nvPr/>
        </p:nvSpPr>
        <p:spPr>
          <a:xfrm>
            <a:off x="4736592" y="5495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A"/>
                </a:solidFill>
              </a:rPr>
              <a:t>계획된 일정과 예산 준수</a:t>
            </a:r>
            <a:endParaRPr lang="en-US" sz="1250" dirty="0"/>
          </a:p>
        </p:txBody>
      </p:sp>
      <p:sp>
        <p:nvSpPr>
          <p:cNvPr id="72" name="Text 68"/>
          <p:cNvSpPr txBox="1"/>
          <p:nvPr/>
        </p:nvSpPr>
        <p:spPr>
          <a:xfrm>
            <a:off x="4736592" y="5824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372D"/>
                </a:solidFill>
              </a:rPr>
              <a:t>일정은 준수, 지출은 계획의 134%</a:t>
            </a:r>
            <a:endParaRPr lang="en-US" sz="1050" dirty="0"/>
          </a:p>
        </p:txBody>
      </p:sp>
      <p:sp>
        <p:nvSpPr>
          <p:cNvPr id="73" name="Shape 69"/>
          <p:cNvSpPr/>
          <p:nvPr/>
        </p:nvSpPr>
        <p:spPr>
          <a:xfrm>
            <a:off x="7543800" y="5522976"/>
            <a:ext cx="274320" cy="27432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754380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75" name="Shape 71"/>
          <p:cNvSpPr/>
          <p:nvPr/>
        </p:nvSpPr>
        <p:spPr>
          <a:xfrm>
            <a:off x="8138160" y="5522976"/>
            <a:ext cx="274320" cy="274320"/>
          </a:xfrm>
          <a:prstGeom prst="ellipse">
            <a:avLst/>
          </a:prstGeom>
          <a:solidFill>
            <a:srgbClr val="E8A05E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813816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77" name="Text 73"/>
          <p:cNvSpPr txBox="1"/>
          <p:nvPr/>
        </p:nvSpPr>
        <p:spPr>
          <a:xfrm>
            <a:off x="8485632" y="5495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A"/>
                </a:solidFill>
              </a:rPr>
              <a:t>행사 후 공동체 연결</a:t>
            </a:r>
            <a:endParaRPr lang="en-US" sz="1250" dirty="0"/>
          </a:p>
        </p:txBody>
      </p:sp>
      <p:sp>
        <p:nvSpPr>
          <p:cNvPr id="78" name="Text 74"/>
          <p:cNvSpPr txBox="1"/>
          <p:nvPr/>
        </p:nvSpPr>
        <p:spPr>
          <a:xfrm>
            <a:off x="8485632" y="5824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모르던 성도와 가까워짐 54%</a:t>
            </a:r>
            <a:endParaRPr lang="en-US" sz="1050" dirty="0"/>
          </a:p>
        </p:txBody>
      </p:sp>
      <p:sp>
        <p:nvSpPr>
          <p:cNvPr id="79" name="Shape 75"/>
          <p:cNvSpPr/>
          <p:nvPr/>
        </p:nvSpPr>
        <p:spPr>
          <a:xfrm>
            <a:off x="11292840" y="5522976"/>
            <a:ext cx="274320" cy="27432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1129284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개요 / 일반 현황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(2/2)</a:t>
            </a:r>
            <a:endParaRPr lang="en-US" sz="3600" dirty="0"/>
          </a:p>
        </p:txBody>
      </p:sp>
      <p:sp>
        <p:nvSpPr>
          <p:cNvPr id="4" name="secNum1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주요 준비 과정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90569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9. 12.(토)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문화홍보부가 4남선교회·청장년 주관으로 준비를 요청함. 전문업체 위탁은 협의되지 않음. 장소는 영화초등학교, 식사는 뷔페식 배식으로 협의함.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9. 13.(주일)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준비 기간이 짧다는 우려(약 3주, 추석 연휴 제외 시 실질 2주)가 있었으나 진행하기로 함. 1차 준비 모임. 2024년 계획안·결과보고서를 참고함.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9. 14.(월)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체육관과 보유 교구를 확인함. 체육관이 다소 좁아 경기 물품은 교회에서 모두 준비하기로 함.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9. 15.(화)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계획안 초안(0915)을 공유하고 종목·예산·역할 분담에 대한 검토 의견을 받음.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9. 16.(수)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기획위원(7명)이 1인 10만 원씩 찬조해 1등 경품(70만 원 상당)을 마련하자는 제안에 전원 찬성함. ※ 실제 찬조금은 80만 원(14쪽)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9. 19.(토)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수정 계획안(0919) 작성. 행운권 경품 후보 검토, 포스터와 표어 "달려라 믿음으로! 뭉쳐라 사랑으로!" 확정.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9. 20.(주일)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준비위원 회의에서 팀 구성, 기념품, 경품, 준비물 담당을 확정함.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9월 하순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기념수건 240장 발주(990,600원). 최종 안내 광고와 팀 명단 확정. 총감독 일부가 해외 일정으로 교체됨.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10. 4.(주일)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체육대회 진행.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44068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0080" y="5486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준비 과정 평가  </a:t>
            </a:r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촉박한 일정과 업체 위탁 무산이라는 어려움 속에서도 단체 대화방으로 빠르게 소통하며 약 3주 만에 준비를 마침. 기획위원 찬조와 역할 분담으로 예산 부담을 줄이고, 전교인 기념품 중심으로 바꿔 모두가 함께 기뻐하는 행사가 되도록 함.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체육대회 시행 절차 정립 필요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(1/7)</a:t>
            </a:r>
            <a:endParaRPr lang="en-US" sz="3600" dirty="0"/>
          </a:p>
        </p:txBody>
      </p:sp>
      <p:sp>
        <p:nvSpPr>
          <p:cNvPr id="4" name="secNum1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먼저 확인할 것 : 예산에 반영되어 있는가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체육대회 준비는 재무부가 「구역회 확정 예산서」에서 체육대회 금액을 확인하는 데서 시작함</a:t>
            </a:r>
            <a:pPr indent="0" marL="0">
              <a:buNone/>
            </a:pPr>
            <a:r>
              <a:rPr lang="en-US" sz="1300" dirty="0">
                <a:solidFill>
                  <a:srgbClr val="2A6FB5"/>
                </a:solidFill>
              </a:rPr>
              <a:t>  (근거: 기독교대한감리회 「교리와 장정」 2025년판)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971032"/>
                <a:gridCol w="2194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필요한 결의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근거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① 올해 예산에 과목이 있고 금액도 충분함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추가 결의 없음. 계획·승인 절차(8쪽)와 지출 절차(9쪽)를 따르며, 담임목사 승인은 반드시 받음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※ ‘결의 없음’은 결의가 필요 없다는 뜻일 뿐, 담임목사 승인이 필요 없다는 뜻이 아님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의회법 제34조 ③항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조직과 행정법 제15조 ②항, 제46조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② 과목은 있으나 금액이 부족해 다른 과목에서 옮겨 와야 함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교회 재정 내규의 전용 한도 이내이면 임원회 결의 후 다음 구역회에 보고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의회법 제24조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③ 올해 예산에 없는 신규 행사이거나, 승인액을 기준(내규) 이상 초과함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예비비 범위 이내이면 임원회 결의로 처리. 범위를 넘으면 임시 구역회 의결(담임자 또는 구역회 회원 3분의 1 이상 청원 → 감리사 소집, 7일 전 지면 공고)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의회법 제24조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의회법 제30조 ②·③항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④ 내년에 여는 행사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신년도 예산안에 넣어 정기 당회(11~12월)에 보고하고 정기 구역회(12~1월)에서 확정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의회법 제20·35조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800600"/>
            <a:ext cx="1127729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40080" y="4864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「교리와 장정」 확인 결과 유의할 점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212080"/>
            <a:ext cx="10911535" cy="1097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b="1" dirty="0">
                <a:solidFill>
                  <a:srgbClr val="1F2A3A"/>
                </a:solidFill>
              </a:rPr>
              <a:t>기획위원회 의결만으로 예산을 초과해 집행할 수 없음</a:t>
            </a:r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 (예산은 구역회가 확정함 — 의회법 제34조 ③항)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②·③의 ‘전용 한도’, ‘예비비’, ‘초과 기준’은 교회 재정 내규로 정해야 하며, 내규가 없으면 먼저 제정함 </a:t>
            </a:r>
            <a:pPr indent="0" marL="0">
              <a:buNone/>
            </a:pPr>
            <a:r>
              <a:rPr lang="en-US" sz="1250" dirty="0">
                <a:solidFill>
                  <a:srgbClr val="2A6FB5"/>
                </a:solidFill>
              </a:rPr>
              <a:t>(11쪽 후속 과제)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b="1" dirty="0">
                <a:solidFill>
                  <a:srgbClr val="1F2A3A"/>
                </a:solidFill>
              </a:rPr>
              <a:t>결의가 끝나기 전에는 대관 계약금이나 물품 구입비도 지출하지 않음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체육대회 시행 절차 정립 필요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(2/7)</a:t>
            </a:r>
            <a:endParaRPr lang="en-US" sz="3600" dirty="0"/>
          </a:p>
        </p:txBody>
      </p:sp>
      <p:sp>
        <p:nvSpPr>
          <p:cNvPr id="4" name="secNum2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현행 계획 절차 (7단계)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0" y="969264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D4661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57600" y="969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문제 : 책임자 지정 후 승인 단계가 없음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60120"/>
                <a:gridCol w="3886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담당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1. 주관 부서·책임자 지정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담임목사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담임목사가 주관 부서와 준비 책임자를 임명. 여러 부서·선교회가 함께하면 준비위원회를 두되 지출 책임은 주관 부서장에게 둠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2. 계획서 작성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계획서 항목(오른쪽 표)을 채우고 예산서를 붙임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3. 재무부 검토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재무부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예산 과목·잔액·필요한 결의 확인(5쪽 표), 참가비·후원금 수입 처리 방법 결정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4. 기획위원회 협의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기획위원회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일정, 다른 행사와 중복, 안전 대책, 예산 규모 조율 (의회법 제27조)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5. 필요한 결의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임원회·구역회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5쪽 ②·③에 해당하면 결의하고 회의록을 계획서에 첨부. 행사 후 남는 비품 구입은 임원회 승인 (행정법 제48조 ⑥항)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6. 준비와 시행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담임자 책임 아래 준비하고 모든 지출은 지출 절차를 따름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7. 결과보고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결과보고서와 정산서를 재무부에 제출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ecNum3"/>
          <p:cNvSpPr/>
          <p:nvPr/>
        </p:nvSpPr>
        <p:spPr>
          <a:xfrm>
            <a:off x="7315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914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이번 계획서에 담긴 내용</a:t>
            </a:r>
            <a:endParaRPr lang="en-US" sz="17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417320"/>
          <a:ext cx="4416552" cy="914400"/>
        </p:xfrm>
        <a:graphic>
          <a:graphicData uri="http://schemas.openxmlformats.org/drawingml/2006/table">
            <a:tbl>
              <a:tblPr/>
              <a:tblGrid>
                <a:gridCol w="3136392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1. 행사명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2. 목적과 배경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미반영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3. 일시와 장소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4. 대상과 예상 인원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5. 진행 순서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6. 담당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7. 안전 대책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8. 재원(예산서)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9. 근거 결의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미반영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10. 평가와 보고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미반영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7315200" y="5440680"/>
            <a:ext cx="4416552" cy="914400"/>
          </a:xfrm>
          <a:prstGeom prst="roundRect">
            <a:avLst>
              <a:gd name="adj" fmla="val 8000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452360" y="54864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10개 항목 중 7개 반영. 목적, 근거 결의, 평가·보고가 빠져 승인·정산의 근거가 약했음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체육대회 시행 절차 정립 필요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(3/7)</a:t>
            </a:r>
            <a:endParaRPr lang="en-US" sz="3600" dirty="0"/>
          </a:p>
        </p:txBody>
      </p:sp>
      <p:sp>
        <p:nvSpPr>
          <p:cNvPr id="4" name="secNum4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시행 간 문제점</a:t>
            </a:r>
            <a:endParaRPr lang="en-US" sz="1700" dirty="0"/>
          </a:p>
        </p:txBody>
      </p:sp>
      <p:pic>
        <p:nvPicPr>
          <p:cNvPr id="7" name="Image 0" descr="담임목사와 4남선교회의 대화 만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291840" cy="2194560"/>
          </a:xfrm>
          <a:prstGeom prst="rect">
            <a:avLst/>
          </a:prstGeom>
        </p:spPr>
      </p:pic>
      <p:pic>
        <p:nvPicPr>
          <p:cNvPr id="8" name="Image 1" descr="문화홍보부장과 4남선교회의 대화 만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94760"/>
            <a:ext cx="3291840" cy="140817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977640" y="1371600"/>
            <a:ext cx="77541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4160520" y="14264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① 의사소통 혼선 — 계획 검토 시간 부족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160520" y="1737360"/>
            <a:ext cx="7406640" cy="98755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담임목사가 행사 하루 전에야 계획을 확인함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담임목사: “유치부·아동부 게임은 기존처럼 별도로 진행하겠지?”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4남선교회: “이번엔 전교인이 함께하는 체육대회로 만들어야지!”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977640" y="2880360"/>
            <a:ext cx="7754112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160520" y="29352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② 보고 체계 이원화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160520" y="3246120"/>
            <a:ext cx="7406640" cy="6583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문화홍보부장: “4남선교회가 주일 광고도 했으니 계획 보고도 했겠지!”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4남선교회: “우리는 시행 부서니까 문화홍보부가 목사님께 보고했겠지!”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977640" y="4059936"/>
            <a:ext cx="77541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4160520" y="4114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③ 예산 승인 절차 준수 미흡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160520" y="4425696"/>
            <a:ext cx="7406640" cy="98755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담임목사 승인 후 집행해야 하나, 집행 후 승인됨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4남선교회는 예산이 통장에 입금되자 승인된 것으로 판단하고 집행함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200" dirty="0">
                <a:solidFill>
                  <a:srgbClr val="44546B"/>
                </a:solidFill>
              </a:rPr>
              <a:t>예산은 연초 구역회에서 확정하고, 집행 계획은 행사 2주 전까지 담임목사 승인으로 확정해야 함 (의회법)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체육대회 시행 절차 정립 필요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(4/7)</a:t>
            </a:r>
            <a:endParaRPr lang="en-US" sz="3600" dirty="0"/>
          </a:p>
        </p:txBody>
      </p:sp>
      <p:sp>
        <p:nvSpPr>
          <p:cNvPr id="4" name="secNum5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발전 방안 ① — 8단계 계획·승인 절차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기존 7단계에 </a:t>
            </a:r>
            <a:pPr indent="0" marL="0">
              <a:buNone/>
            </a:pPr>
            <a:r>
              <a:rPr lang="en-US" sz="1300" b="1" dirty="0">
                <a:solidFill>
                  <a:srgbClr val="2A6FB5"/>
                </a:solidFill>
              </a:rPr>
              <a:t>담임목사 최종 승인(6단계)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을 넣어 8단계로 변경.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승인 전에는 예산 집행과 대외 공지를 하지 않음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1417320"/>
                <a:gridCol w="69311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세부 내용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주관 부서·책임자 지정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담임목사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주관 부서와 준비 책임자를 지정. 여러 부서·선교회가 함께하면 준비위원회를 두되 지휘·보고 책임은 주관 부서장에게 둠 (조직과 행정법 제31·38·44조)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계획서 작성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계획서 13개 항목(10쪽)을 채우고 예산서를 첨부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재무부 검토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재무부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예산 과목·잔액·필요한 결의(5쪽 표)를 확인해 검토 의견을 적음. 참가비·후원금 수입 처리 방법 검토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기획위원회 협의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기획위원회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일정, 다른 행사와 중복, 안전 대책, 예산 규모 조율 (의회법 제27조)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필요한 결의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임원회·임시 구역회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5쪽 ②·③에 해당할 때만 거침. 회의록에 계획서 첨부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661F"/>
                          </a:solidFill>
                        </a:rPr>
                        <a:t>담임목사 최종 승인 (신설)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담임목사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결재란에 서명. 결재가 끝난 계획서만 효력이 있음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준비와 시행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승인된 계획서대로 준비, 지출은 9쪽 절차를 따름. 계획 변경 시 주관 부서장이 다시 보고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결과보고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행사 후 14일 이내 결과보고서·정산서 제출 (10쪽 기준)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2578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4008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단일 보고 창구 원칙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623560"/>
            <a:ext cx="10911535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담임목사 보고와 결재 상신은 주관 부서장만 함. 협력 부서와 선교회는 주관 부서를 통해서만 보고함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주일 광고 등 대외 공지는 6단계 승인 이후에 함. 광고가 나갔다고 보고나 승인이 끝난 것으로 보지 않음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체육대회 시행 절차 정립 필요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(5/7)</a:t>
            </a:r>
            <a:endParaRPr lang="en-US" sz="3600" dirty="0"/>
          </a:p>
        </p:txBody>
      </p:sp>
      <p:sp>
        <p:nvSpPr>
          <p:cNvPr id="4" name="secNum6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발전 방안 ② — 표준 일정표 (행사일 = D)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계획서는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행사 30일 전(D-30)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까지 제출하고, 담임목사 승인은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14일 전(D-14)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까지 마침. 기획위원회 협의 결과에 따라 조정 가능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132588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할 일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D-45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주관 부서·준비 책임자 지정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담임목사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임시 구역회가 필요하면(5쪽 ③) 소집 청원과 7일 전 공고 기간을 고려해 이때 계획서를 제출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D-30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계획서·예산서 제출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D-25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예산 과목·잔액·필요 결의 검토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재무부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D-21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기획위원회 협의 (일정·중복·안전·예산 규모)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기획위원회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D-14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담임목사 최종 승인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담임목사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승인 전 광고·집행 금지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D-10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예산 집행 개시, 주일 광고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재무부·주관 부서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결재된 계획서 사본 확인 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D-3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최종 점검 (인원·물품·안전·우천 대비)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A63"/>
                          </a:solidFill>
                        </a:rPr>
                        <a:t>D+14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결과보고서·정산서 제출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주관 부서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46B"/>
                          </a:solidFill>
                        </a:rPr>
                        <a:t>올해는 10. 18.(일)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35240" y="1737360"/>
            <a:ext cx="4096512" cy="46177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81812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예산 집행·지출 절차 개선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240280"/>
            <a:ext cx="3749040" cy="40233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재무부는 담임목사 결재가 끝난 계획서 사본을 확인한 뒤에만 지출함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지출결의서에 따른 청구 지급이 원칙. 주관 부서가 지출결의서와 증빙(견적서·영수증)을 재무부에 제출한 뒤 지급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불가피한 선지급은 가지급금으로 처리하고 지급 근거(결재된 계획서)를 장부에 적음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참가비·후원금은 교회 회계로 수납하고, 주관 부서가 따로 보관하거나 쓰지 않음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F2A3A"/>
                </a:solidFill>
              </a:rPr>
              <a:t>재무부 업무지침에 이 절차를 반영함 (조직과 행정법 제46조 ③항)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체육대회 시행 절차 정립 필요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(6/7)</a:t>
            </a:r>
            <a:endParaRPr lang="en-US" sz="3600" dirty="0"/>
          </a:p>
        </p:txBody>
      </p:sp>
      <p:sp>
        <p:nvSpPr>
          <p:cNvPr id="4" name="secNum7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발전 방안 ③ — 계획서 기재 항목 (13개)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1325880"/>
                <a:gridCol w="3977640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포함 내용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행사명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예: 조원감리교회 한마음 체육대회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목적과 배경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권장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행사를 여는 이유와 기대하는 결과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일시와 장소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날짜, 시간, 장소, 우천 시 대체 일정 또는 실내 장소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대상과 예상 인원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참가 대상, 예상 인원, 팀 편성 방법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연령별 프로그램 운영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6FB5"/>
                          </a:solidFill>
                        </a:rPr>
                        <a:t>필수(신설)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유치부·아동부 별도 진행 여부와 그 이유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진행 순서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개회 예배, 종목, 식사, 시상, 폐회 등 시간표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주관 부서, 책임자, 협력 부서·선교회, 종목·식사·안전·회계 담당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안전 대책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구급함·응급 연락처, 안전 담당자, 행사보험 가입 여부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재원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수입·지출 예산서, 예산 과목, 회계 구분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수입 처리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6FB5"/>
                          </a:solidFill>
                        </a:rPr>
                        <a:t>해당 시 필수(신설)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참가비·후원금의 수납 방법과 교회 회계 편입 방법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근거 결의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구역회 예산 확정일, 임원회 결의 등 회의록 날짜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평가와 보고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필수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결과보고서 제출 기한과 보고 대상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결재란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6FB5"/>
                          </a:solidFill>
                        </a:rPr>
                        <a:t>필수(신설)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작성 부서장 → 재무부장(검토 의견) → 담임목사(승인), 서명과 날짜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183880" y="1371600"/>
            <a:ext cx="3547872" cy="498348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3667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결과보고 및 정산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1874520"/>
            <a:ext cx="3246120" cy="43891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A3A"/>
                </a:solidFill>
              </a:rPr>
              <a:t>제출: 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행사 후 14일 이내 재무부와 담임목사에게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A3A"/>
                </a:solidFill>
              </a:rPr>
              <a:t>결과보고서: 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참가 인원, 진행 결과, 안전사고 유무, 잘된 점·개선할 점, 다음 행사 건의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A3A"/>
                </a:solidFill>
              </a:rPr>
              <a:t>정산서: 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예산 대비 집행액, 지출 증빙, 가지급금 정산, 참가비·후원금 수입, 잔액 반납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A3A"/>
                </a:solidFill>
              </a:rPr>
              <a:t>보고 경로: 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재무부가 분기 임원회에 보고(의회법 제24조 ②항), 연간 결산에 반영해 구역회 보고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2A3A"/>
                </a:solidFill>
              </a:rPr>
              <a:t>기록 보관: 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계획서·회의록·결과보고서·정산서를 한 묶음으로 보관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체육대회 시행 절차 정립 필요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(7/7)</a:t>
            </a:r>
            <a:endParaRPr lang="en-US" sz="3600" dirty="0"/>
          </a:p>
        </p:txBody>
      </p:sp>
      <p:sp>
        <p:nvSpPr>
          <p:cNvPr id="4" name="secNum8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발전 방안 ④ — 문제점과 개선 사항 체크리스트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023360"/>
                <a:gridCol w="3291840"/>
                <a:gridCol w="359359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문제점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원인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개선 사항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담임목사가 행사 하루 전에야 계획을 확인함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46B"/>
                          </a:solidFill>
                        </a:rPr>
                        <a:t>단계별 기한이 없음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A63"/>
                          </a:solidFill>
                        </a:rPr>
                        <a:t>계획서 D-30 제출, 담임목사 승인 D-14 완료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유치부·아동부 별도 진행 여부에 대한 이해가 다름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46B"/>
                          </a:solidFill>
                        </a:rPr>
                        <a:t>계획서에 연령별 운영 항목이 없음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A63"/>
                          </a:solidFill>
                        </a:rPr>
                        <a:t>‘연령별 프로그램 운영’ 항목 신설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주관 부서와 4남선교회가 서로 보고했으리라 여김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46B"/>
                          </a:solidFill>
                        </a:rPr>
                        <a:t>보고 책임자가 없음, 주일 광고를 보고로 오인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A63"/>
                          </a:solidFill>
                        </a:rPr>
                        <a:t>주관 부서장 단일 보고, 광고는 승인 이후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담임목사 승인 전에 예산이 집행됨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46B"/>
                          </a:solidFill>
                        </a:rPr>
                        <a:t>절차에 승인 단계가 없음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A63"/>
                          </a:solidFill>
                        </a:rPr>
                        <a:t>최종 승인 단계(6단계)와 결재란 신설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통장 입금을 승인으로 판단해 집행함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46B"/>
                          </a:solidFill>
                        </a:rPr>
                        <a:t>승인 확인 없이 자치기관 통장으로 일괄 이체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A63"/>
                          </a:solidFill>
                        </a:rPr>
                        <a:t>결재 확인 후 청구 지급, 일괄 이체 금지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예산 확정 시점(연초 구역회 vs 행사 1달 전)이 자료마다 다름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46B"/>
                          </a:solidFill>
                        </a:rPr>
                        <a:t>예산 확정과 집행 계획 확정을 구분하지 않음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A63"/>
                          </a:solidFill>
                        </a:rPr>
                        <a:t>예산은 정기 구역회, 집행 계획은 담임목사 승인으로 구분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709160"/>
            <a:ext cx="11277295" cy="1645920"/>
          </a:xfrm>
          <a:prstGeom prst="roundRect">
            <a:avLst>
              <a:gd name="adj" fmla="val 4444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008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후속 과제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120640"/>
            <a:ext cx="10911535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교회 재정 내규에 예비비 과목, 임원회 전용 한도, 예산 초과 기준(금액 또는 비율)을 정함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다음 정기 당회의 신년도 계획안에 체육대회를 포함하고, 정기 구역회에서 예산을 확정함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재무부 업무지침에 지출 절차를 반영하고, 계획서·예산서·지출결의서·결과보고서 양식을 만듦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예산 집행 · 정산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(1/4)</a:t>
            </a:r>
            <a:endParaRPr lang="en-US" sz="3600" dirty="0"/>
          </a:p>
        </p:txBody>
      </p:sp>
      <p:sp>
        <p:nvSpPr>
          <p:cNvPr id="4" name="secNum1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수입 · 지출 총괄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총 수입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5,748,340원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21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재정 68.7% · 찬조·선교회 31.3%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10128" y="1371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493008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총 지출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5,748,340원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221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계획 4,300,000원 대비 134%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63056" y="1371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45936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장부 잔액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345936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0원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2221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회계 메모의 잔액 150,619원과 대조 필요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015984" y="1371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98864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참가자 1인당 지출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98864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23,656원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198864" y="2221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243명 기준 · 그중 식비 13,813원</a:t>
            </a:r>
            <a:endParaRPr lang="en-US" sz="1000" dirty="0"/>
          </a:p>
        </p:txBody>
      </p:sp>
      <p:sp>
        <p:nvSpPr>
          <p:cNvPr id="23" name="secNum2"/>
          <p:cNvSpPr/>
          <p:nvPr/>
        </p:nvSpPr>
        <p:spPr>
          <a:xfrm>
            <a:off x="457200" y="27797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27432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수입 내역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685800"/>
                <a:gridCol w="2148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금액(원)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비율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재정 (교회 예산)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3,950,000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68.7%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4,000,000원에서 50,000원 차감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기획위원 찬조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800,000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13.9%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1등 경품 목적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총여선교회 재정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603,340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10.5%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간식·떡 비용과 같은 금액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총남선교회 찬조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300,000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5.2%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개인 찬조 (이계일)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50,000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0.9%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대관료 수입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45,000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0.8%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대관료 지출과 같은 금액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상품권 현물 (박대웅 장로)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금액 미기재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합계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5,748,340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</a:tr>
            </a:tbl>
          </a:graphicData>
        </a:graphic>
      </p:graphicFrame>
      <p:sp>
        <p:nvSpPr>
          <p:cNvPr id="27" name="secNum3"/>
          <p:cNvSpPr/>
          <p:nvPr/>
        </p:nvSpPr>
        <p:spPr>
          <a:xfrm>
            <a:off x="6446520" y="27797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446520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0" y="27432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지출 구성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446520" y="3200400"/>
            <a:ext cx="52852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pic>
        <p:nvPicPr>
          <p:cNvPr id="31" name="Image 0" descr="/tmp/claude-0/conv/merge/img/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337560"/>
            <a:ext cx="4919472" cy="37490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629400" y="3886200"/>
            <a:ext cx="4937760" cy="23774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식비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58.4%(3,356,490원)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로 가장 크고, 기념품·경품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39.7%(2,279,350원)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장소·현수막 등 운영비는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112,500원(2.0%)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으로 낮게 유지됨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전교인 선물(수건 240장, 990,600원)이 식대 다음으로 큰 단일 품목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예산 집행 · 정산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(2/4)</a:t>
            </a:r>
            <a:endParaRPr lang="en-US" sz="3600" dirty="0"/>
          </a:p>
        </p:txBody>
      </p:sp>
      <p:sp>
        <p:nvSpPr>
          <p:cNvPr id="4" name="secNum4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지출 세부 내역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51560"/>
                <a:gridCol w="685800"/>
                <a:gridCol w="2103120"/>
              </a:tblGrid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구분 / 항목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금액(원)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비율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3A63"/>
                          </a:solidFill>
                        </a:rPr>
                        <a:t>식비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3,356,490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58.4%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식대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2,200,000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38.3%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220인 × 10,000원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간식·떡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603,340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10.5%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떡 3.5말 315,000 + 간식 288,340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뒤풀이 식사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210,880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3.7%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삼겹살, 청년 포함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도시락 용기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197,100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3.4%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4남선교회·청장년 식사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108,170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1.9%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아침 식사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37,000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0.6%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준비진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3A63"/>
                          </a:solidFill>
                        </a:rPr>
                        <a:t>기념품·경품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2,279,350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39.7%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전교인 선물 (수건)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990,600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240장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행운 경품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688,750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12.0%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가족 식사권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300,000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5.2%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3인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주유권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150,000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2.6%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3인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올리브영 상품권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90,000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1.6%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3인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상품권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60,000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1.0%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응원단장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3A63"/>
                          </a:solidFill>
                        </a:rPr>
                        <a:t>운영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112,500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2.0%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8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대관료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45,000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0.8%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영화초등학교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현수막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35,500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0.6%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   롤케이크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32,000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A"/>
                          </a:solidFill>
                        </a:rPr>
                        <a:t>0.6%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학교 감사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지출 합계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5,748,340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720840" y="1325880"/>
            <a:ext cx="501091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903720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식비 3,356,490원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1755648"/>
            <a:ext cx="4709160" cy="22860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식대는 </a:t>
            </a:r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</a:rPr>
              <a:t>220인 × 10,000원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 — 계획(성인 180명 × 약 13,900원)보다 인원은 늘리고 단가는 낮춤</a:t>
            </a:r>
            <a:endParaRPr lang="en-US" sz="1200" dirty="0"/>
          </a:p>
          <a:p>
            <a:pPr lvl="1" marL="355600" indent="-177800">
              <a:spcAft>
                <a:spcPts val="300"/>
              </a:spcAft>
              <a:buSzPct val="100000"/>
              <a:buChar char="▲"/>
            </a:pPr>
            <a:r>
              <a:rPr lang="en-US" sz="1100" dirty="0">
                <a:solidFill>
                  <a:srgbClr val="44546B"/>
                </a:solidFill>
              </a:rPr>
              <a:t>설문: ‘식사 양 충분’ 70%(불만 13%), ‘배식·식사 장소 편리’ 57%(불만 17%) — 단가·배식 방식과 관련됐을 가능성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참가 243명 중 식대 산정 220명 — </a:t>
            </a:r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</a:rPr>
              <a:t>23명 차이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봉사자 식사 </a:t>
            </a:r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</a:rPr>
              <a:t>356,050원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(아침 37,000 + 4남·청장년 108,170 + 뒤풀이 210,880)은 계획에 없던 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720840" y="4251960"/>
            <a:ext cx="5010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90372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기념품 · 경품 2,279,350원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4681728"/>
            <a:ext cx="4709160" cy="1600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전교인 선물이 </a:t>
            </a:r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</a:rPr>
              <a:t>치약(16만 원) → 수건(99만 원)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으로 바뀌며 83만 원 늘어남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행운 경품 외 식사권·주유권·상품권 </a:t>
            </a:r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</a:rPr>
              <a:t>9명분 540,000원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</a:rPr>
              <a:t>과 응원단장 상품권 60,000원 지급 — 수령자 명단은 회계 메모로만 남아 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예산 집행 · 정산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(3/4)</a:t>
            </a:r>
            <a:endParaRPr lang="en-US" sz="3600" dirty="0"/>
          </a:p>
        </p:txBody>
      </p:sp>
      <p:sp>
        <p:nvSpPr>
          <p:cNvPr id="4" name="secNum5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계획(0919 수정안) 대비 집행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60120"/>
                <a:gridCol w="960120"/>
                <a:gridCol w="1005840"/>
                <a:gridCol w="640080"/>
                <a:gridCol w="2148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지출 항목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계획(원)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집행(원)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차이(원)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집행률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식비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2,580,000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3,356,490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4661F"/>
                          </a:solidFill>
                        </a:rPr>
                        <a:t>+776,490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130%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간식·떡, 뒤풀이, 준비진 식사, 용기 포함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경품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1,200,000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1,288,750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4661F"/>
                          </a:solidFill>
                        </a:rPr>
                        <a:t>+88,750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107%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행운 경품, 식사권, 주유권, 상품권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전교인 선물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160,000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990,600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4661F"/>
                          </a:solidFill>
                        </a:rPr>
                        <a:t>+830,600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619%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치약 → 수건 품목 변경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게임 물품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200,000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−200,000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지출 내역에 없음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현수막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60,000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35,500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−24,500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59%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기타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100,000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77,000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−23,000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77%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46B"/>
                          </a:solidFill>
                        </a:rPr>
                        <a:t>대관료 + 롤케이크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지출 합계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4,300,000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5,748,340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4661F"/>
                          </a:solidFill>
                        </a:rPr>
                        <a:t>+1,448,340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134%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수입 항목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계획(원)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실제(원)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차이(원)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재정 (교회 예산)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3,800,000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3,950,000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+150,000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기획위원 (목적 헌금)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900,000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800,000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−100,000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선교회·개인 찬조 등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998,340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+998,340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수입 합계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4,700,000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5,748,340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A3A"/>
                          </a:solidFill>
                        </a:rPr>
                        <a:t>+1,048,340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4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57200" y="5669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※ 계획은 2026. 9. 19. 수정 계획안(지출 430만 원 · 수입 470만 원) 기준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7452360" y="1325880"/>
            <a:ext cx="42793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pic>
        <p:nvPicPr>
          <p:cNvPr id="11" name="Image 0" descr="/tmp/claude-0/conv/merge/img/pa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17320"/>
            <a:ext cx="4005072" cy="165621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452360" y="3657600"/>
            <a:ext cx="4279392" cy="2697480"/>
          </a:xfrm>
          <a:prstGeom prst="roundRect">
            <a:avLst>
              <a:gd name="adj" fmla="val 2712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3" name="Text 7"/>
          <p:cNvSpPr txBox="1"/>
          <p:nvPr/>
        </p:nvSpPr>
        <p:spPr>
          <a:xfrm>
            <a:off x="76352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분석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7635240" y="4023360"/>
            <a:ext cx="3977640" cy="22860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지출이 계획보다 </a:t>
            </a:r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1,448,340원(+34%)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 많았고, 계획의 여유 40만 원과 추가 수입 1,048,340원으로 메움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초과의 대부분은 </a:t>
            </a:r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식비(+776,490)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와 </a:t>
            </a:r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전교인 선물 품목 변경(+830,600)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품목 변경·초과 집행이 승인 없이 이뤄짐 — 8단계 절차의 재승인 대상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게임 물품(계획 20만 원)은 지출 내역에 없어 확인 필요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예산 집행 · 정산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(4/4)</a:t>
            </a:r>
            <a:endParaRPr lang="en-US" sz="3600" dirty="0"/>
          </a:p>
        </p:txBody>
      </p:sp>
      <p:sp>
        <p:nvSpPr>
          <p:cNvPr id="4" name="secNum6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정산 전 확인할 사항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468880"/>
                <a:gridCol w="5486400"/>
                <a:gridCol w="29535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확인 사항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조치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장부 잔액과 통장 잔액 대조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장부는 잔액 0원이나, 회계 메모에 ‘잔액 150,619’가 따로 적혀 있음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통장 거래내역과 대조 후 확정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재정 50,000원 차감 사유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재정을 4,000,000원에서 50,000원 뺀 3,950,000원으로 기재 (같은 금액 개인 찬조와 관련 여부)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차감 근거를 정산서에 기재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현물 찬조 금액 미기재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박대웅 장로 상품권 찬조가 금액 없이 기록됨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품목·수량·금액 기록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선교회 재정의 수입 처리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총여선교회 603,340원·대관료 수입 45,000원이 같은 금액의 지출과 짝을 이룸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교회 회계 수납 후 지출했는지 확인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계정 기재 오류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현수막을 대관료로 기재해 100원 차이가 생겼다는 회계 메모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계정 정정 후 금액 재확인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경품·상품권 수령 증빙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식사권·주유권·상품권 수령자가 메모로만 남아 있음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수령자 명단(서명)을 영수증과 보관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</a:rPr>
                        <a:t>게임 물품 지출 누락 여부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계획 200,000원이 지출 내역에 없음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3A63"/>
                          </a:solidFill>
                        </a:rPr>
                        <a:t>구입 여부와 재원 확인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ecNum7"/>
          <p:cNvSpPr/>
          <p:nvPr/>
        </p:nvSpPr>
        <p:spPr>
          <a:xfrm>
            <a:off x="457200" y="447141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5720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43484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다음 예산 편성 시 반영할 점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57200" y="492861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4661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57200" y="49286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식비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4892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</a:rPr>
              <a:t>실제 1인 약 13,800원 기준으로 식대·간식·용기를 한 항목으로 편성, 도시락·출장뷔페 견적 2곳 이상 비교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492861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A6FB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126480" y="49286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봉사자 식사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7269480" y="4892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</a:rPr>
              <a:t>준비진 아침·뒤풀이 식사(356,050원)를 예산 항목으로 미리 넣고 인원·단가 기준을 정함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54315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A6FB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7200" y="54315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기념품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600200" y="539496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</a:rPr>
              <a:t>품목 변경 등으로 금액이 크게 늘면 주관 부서장이 담임목사 승인을 다시 받음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54315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9E4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126480" y="54315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찬조금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539496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</a:rPr>
              <a:t>선교회·개인 찬조는 교회 회계로 수납하고 계획서 ‘수입 처리’ 항목에 미리 적음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" y="593445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9E4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57200" y="59344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증빙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1600200" y="58978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</a:rPr>
              <a:t>영수증·수령자 명단·현물 기록을 지출결의서와 묶어 D+14까지 정산서로 제출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26480" y="593445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4661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126480" y="59344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총액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58978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</a:rPr>
              <a:t>이번 실적 약 575만 원을 참고해 2027년 예산안을 정기 당회(11~12월)에 반영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만족도 설문 결과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(1/5)</a:t>
            </a:r>
            <a:endParaRPr lang="en-US" sz="3600" dirty="0"/>
          </a:p>
        </p:txBody>
      </p:sp>
      <p:sp>
        <p:nvSpPr>
          <p:cNvPr id="4" name="secNum1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설문 응답과 성도님들의 한마디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914400"/>
          <a:ext cx="414223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30552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참가자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응답자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응답률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243명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</a:rPr>
                        <a:t>46명 (온라인 34 · 종이 12)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661F"/>
                          </a:solidFill>
                        </a:rPr>
                        <a:t>18.9%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554480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9436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93%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2148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전반적으로 만족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377440" y="1554480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51460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98%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2514600" y="2148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참가하길 잘했다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97680" y="1554480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43484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89%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434840" y="2148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기대한 만큼 좋았다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2651760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94360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85%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다음에도 참가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2377440" y="2651760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2514600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87%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2514600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다른 성도에게 권유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297680" y="2651760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4434840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57%</a:t>
            </a:r>
            <a:endParaRPr 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4434840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준비·진행에 함께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730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‘그렇다’(4·5점) 응답 비율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355080" y="1554480"/>
            <a:ext cx="537667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6537960" y="16093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분야별 성적표 (100점 만점)</a:t>
            </a:r>
            <a:endParaRPr lang="en-US" sz="1300" dirty="0"/>
          </a:p>
        </p:txBody>
      </p:sp>
      <p:pic>
        <p:nvPicPr>
          <p:cNvPr id="29" name="Image 0" descr="/tmp/claude-0/conv/merge/img/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965960"/>
            <a:ext cx="5102352" cy="114413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53796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시설·시간·종목·경품 86~89점, 식사 71점으로 가장 낮음</a:t>
            </a:r>
            <a:endParaRPr lang="en-US" sz="1100" dirty="0"/>
          </a:p>
        </p:txBody>
      </p:sp>
      <p:sp>
        <p:nvSpPr>
          <p:cNvPr id="31" name="secNum2"/>
          <p:cNvSpPr/>
          <p:nvPr/>
        </p:nvSpPr>
        <p:spPr>
          <a:xfrm>
            <a:off x="457200" y="410565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57200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868680" y="406908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좋았던 점과 아쉬웠던 점</a:t>
            </a:r>
            <a:endParaRPr lang="en-US" sz="1700" dirty="0"/>
          </a:p>
        </p:txBody>
      </p:sp>
      <p:sp>
        <p:nvSpPr>
          <p:cNvPr id="34" name="Shape 29"/>
          <p:cNvSpPr/>
          <p:nvPr/>
        </p:nvSpPr>
        <p:spPr>
          <a:xfrm>
            <a:off x="457200" y="45262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245352" y="45262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64008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좋았던 점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640080" y="4919472"/>
            <a:ext cx="5120640" cy="1371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장소까지 이동이 편했다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98%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추첨·시상이 공정했다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98%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개최 날짜가 적절했다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96%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6428232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아쉬웠던 점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6428232" y="4919472"/>
            <a:ext cx="5120640" cy="1371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배식·식사 장소가 편했다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57%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 (불만 17%)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식사 양이 충분했다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70%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 (불만 13%)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모르던 성도와 가까워졌다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54%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만족도 설문 결과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(2/5)</a:t>
            </a:r>
            <a:endParaRPr lang="en-US" sz="3600" dirty="0"/>
          </a:p>
        </p:txBody>
      </p:sp>
      <p:sp>
        <p:nvSpPr>
          <p:cNvPr id="4" name="secNum3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체육대회로 무엇이 달라졌나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pic>
        <p:nvPicPr>
          <p:cNvPr id="8" name="Image 0" descr="/tmp/claude-0/conv/merge/img/co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12080" cy="13669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28986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10명 중 8명이 소속감과 공동체 의미를 느꼈지만, 새로운 성도와 가까워진 사람은 절반 정도</a:t>
            </a:r>
            <a:endParaRPr lang="en-US" sz="1150" dirty="0"/>
          </a:p>
        </p:txBody>
      </p:sp>
      <p:sp>
        <p:nvSpPr>
          <p:cNvPr id="10" name="secNum4"/>
          <p:cNvSpPr/>
          <p:nvPr/>
        </p:nvSpPr>
        <p:spPr>
          <a:xfrm>
            <a:off x="6245352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45352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656832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왜 참가하셨나요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245352" y="13258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pic>
        <p:nvPicPr>
          <p:cNvPr id="14" name="Image 1" descr="/tmp/claude-0/conv/merge/img/mo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463040"/>
            <a:ext cx="5212080" cy="7745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82512" y="25146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운동·건강(39%)보다 교회 행사 동참(91%)과 성도와의 즐거운 시간(78%)을 위해 온 성도가 훨씬 많음</a:t>
            </a:r>
            <a:endParaRPr lang="en-US" sz="1150" dirty="0"/>
          </a:p>
        </p:txBody>
      </p:sp>
      <p:sp>
        <p:nvSpPr>
          <p:cNvPr id="16" name="secNum5"/>
          <p:cNvSpPr/>
          <p:nvPr/>
        </p:nvSpPr>
        <p:spPr>
          <a:xfrm>
            <a:off x="457200" y="383133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5720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3794760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가장 많이 나온 의견 (자유 응답)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24528"/>
          <a:ext cx="112772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914400"/>
                <a:gridCol w="679399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순위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주제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모든 세대가 함께하는 종목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약 18건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어르신·유치부·아동부·청년이 함께하는 경기, 1인 1경기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감사와 만족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약 12건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질서 있는 진행, 준비 위원의 수고에 감사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식사·배식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약 9건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배식 불편, 밥 양 부족 — 도시락·출장뷔페 제안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진행·운영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약 7건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일정표 게시, 응원 점수, 경품 추첨 시간 단축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4"/>
          <p:cNvSpPr txBox="1"/>
          <p:nvPr/>
        </p:nvSpPr>
        <p:spPr>
          <a:xfrm>
            <a:off x="457200" y="6263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※ 한 응답에 여러 주제가 있으면 각각 셈. 건수는 내용을 읽고 분류한 근사치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만족도 설문 결과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(3/5)</a:t>
            </a:r>
            <a:endParaRPr lang="en-US" sz="3600" dirty="0"/>
          </a:p>
        </p:txBody>
      </p:sp>
      <p:sp>
        <p:nvSpPr>
          <p:cNvPr id="4" name="secNum6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S-O-R 모형으로 본 결과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11277295" cy="411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50" b="1" dirty="0">
                <a:solidFill>
                  <a:srgbClr val="1F2A3A"/>
                </a:solidFill>
              </a:rPr>
              <a:t>S-O-R(자극-유기체-반응) 모형: </a:t>
            </a:r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</a:rPr>
              <a:t>바깥 환경(S)이 마음속 평가(O)를 바꾸고, 그것이 행동(R)을 낳는다는 이론 (Woodworth, 1929; Mehrabian &amp; Russell, 1974)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pic>
        <p:nvPicPr>
          <p:cNvPr id="9" name="Image 0" descr="/tmp/claude-0/conv/merge/img/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766560" cy="35982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4360" y="5468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실선: 의미 있는 경로 · 점선: 의미 없는 경로 · β는 영향력 크기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589520" y="1783080"/>
            <a:ext cx="4142232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26680" y="185623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A6FB5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26680" y="1856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 → O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91540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행사 환경이 만족을 만들었다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2194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행사 품질이 만족의 70%를 설명 (시설 영향 가장 큼)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589520" y="2724912"/>
            <a:ext cx="4142232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26680" y="279806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A6FB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2668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 → O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8915400" y="27706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권유가 공동체 인식을 만들었다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726680" y="3136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교우·사역자·선교회장 권유 → 교제·단합(29%), 신앙공동체(24%)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589520" y="3666744"/>
            <a:ext cx="4142232" cy="850392"/>
          </a:xfrm>
          <a:prstGeom prst="roundRect">
            <a:avLst>
              <a:gd name="adj" fmla="val 8602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726680" y="373989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4661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726680" y="3739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 → R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915400" y="3712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다시 오게 한 것은 공동체 의미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7726680" y="40782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신앙공동체 의식 β .45, 전반적 만족은 영향 없음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589520" y="4608576"/>
            <a:ext cx="4142232" cy="850392"/>
          </a:xfrm>
          <a:prstGeom prst="roundRect">
            <a:avLst>
              <a:gd name="adj" fmla="val 8602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726680" y="46817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4661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72668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 → O → R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8915400" y="4654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권유 → 공동체 의식 → 참가 의향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7726680" y="5020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유일하게 확인된 흐름 (간접효과 .21, 부분 매개)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57200" y="5806440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123A63"/>
          </a:solidFill>
          <a:ln w="9525">
            <a:solidFill>
              <a:srgbClr val="123A63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40080" y="5833872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좋은 행사는 만족을 만들지만, 다음 참여를 만드는 것은 ‘함께 가자’는 권유와 ‘신앙공동체’라는 의미다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만족도 설문 결과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(4/5)</a:t>
            </a:r>
            <a:endParaRPr lang="en-US" sz="3600" dirty="0"/>
          </a:p>
        </p:txBody>
      </p:sp>
      <p:sp>
        <p:nvSpPr>
          <p:cNvPr id="4" name="secNum7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처음 참가한 성도는 어떻게 느꼈나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FF6EE"/>
          </a:solidFill>
          <a:ln w="9525">
            <a:solidFill>
              <a:srgbClr val="F1C9A8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389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먼저 알아둘 점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19072"/>
            <a:ext cx="3977640" cy="1600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첫 참가자 </a:t>
            </a:r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</a:rPr>
              <a:t>10명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 vs 참가 경험자 35명 비교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rgbClr val="1F2A3A"/>
                </a:solidFill>
              </a:rPr>
              <a:t>첫 참가자는 대부분 새신자가 아님: 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신앙 10년 이상 8명, 5년 미만 1명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신앙 5년 미만 응답자는 전체 3명뿐이라 따로 분석하기 어려움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첫 참가자 10명 중 8명은 응원·관람으로 참여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4297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0080" y="353872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그림 읽는 법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858768"/>
            <a:ext cx="3977640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rgbClr val="D4661F"/>
                </a:solidFill>
              </a:rPr>
              <a:t>주황 점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 = 처음 온 성도, </a:t>
            </a:r>
            <a:pPr indent="0" marL="0">
              <a:buNone/>
            </a:pPr>
            <a:r>
              <a:rPr lang="en-US" sz="1150" b="1" dirty="0">
                <a:solidFill>
                  <a:srgbClr val="123A63"/>
                </a:solidFill>
              </a:rPr>
              <a:t>남색 점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 = 와 본 적 있는 성도의 평균(100점 만점)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두 점이 멀수록 생각이 달랐다는 뜻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rgbClr val="1F2A3A"/>
                </a:solidFill>
              </a:rPr>
              <a:t>‘확실한 차이’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 = 인원이 적어도 우연으로 보기 어려운 차이 (Mann-Whitney 검정)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rgbClr val="1F2A3A"/>
                </a:solidFill>
              </a:rPr>
              <a:t>‘우연일 수 있음’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</a:rPr>
              <a:t> = 차이는 보이지만 인원이 적어 단정하기 어려움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937760" y="1325880"/>
            <a:ext cx="679399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pic>
        <p:nvPicPr>
          <p:cNvPr id="14" name="Image 0" descr="/tmp/claude-0/conv/merge/img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08760"/>
            <a:ext cx="6519672" cy="327668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20640" y="498348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61F"/>
                </a:solidFill>
              </a:rPr>
              <a:t>진행 환경은 12~18점 낮게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평가했지만, </a:t>
            </a:r>
            <a:pPr indent="0" marL="0">
              <a:buNone/>
            </a:pPr>
            <a:r>
              <a:rPr lang="en-US" sz="1300" b="1" dirty="0">
                <a:solidFill>
                  <a:srgbClr val="123A63"/>
                </a:solidFill>
              </a:rPr>
              <a:t>신앙공동체 의미와 다시 참가할 마음은 거의 같음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120640" y="5669280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경품 72점 vs 90점으로 차이가 가장 큼 — 수량·종류·추첨 방식 중 무엇 때문인지는 설문만으로 알 수 없음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만족도 설문 결과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(5/5)</a:t>
            </a:r>
            <a:endParaRPr lang="en-US" sz="3600" dirty="0"/>
          </a:p>
        </p:txBody>
      </p:sp>
      <p:sp>
        <p:nvSpPr>
          <p:cNvPr id="4" name="secNum8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처음 오는 성도도 함께 뛰는 체육대회 — 제안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5138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444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① 처음 오는 성도를 위한 안내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2880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4661F"/>
                </a:solidFill>
              </a:rPr>
              <a:t>근거  </a:t>
            </a:r>
            <a:pPr indent="0" marL="0">
              <a:buNone/>
            </a:pPr>
            <a:r>
              <a:rPr lang="en-US" sz="1050" dirty="0">
                <a:solidFill>
                  <a:srgbClr val="44546B"/>
                </a:solidFill>
              </a:rPr>
              <a:t>첫 참가자 ‘계획한 시간대로 진행’ 70%(경험자 94%), 경품 만족 60%(89%). 자유 의견에도 ‘일정표를 벽에 붙여 달라’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404872"/>
            <a:ext cx="5212080" cy="868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진행표(시간·종목·참가 대상)를 입구와 본부석에 게시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개회 예배 직후 3분간 종목·점수·경품 방식 안내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3101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FB5"/>
                </a:solidFill>
              </a:rPr>
              <a:t>담당 / 시점  </a:t>
            </a:r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</a:rPr>
              <a:t>진행 총괄·방송 / D-7 진행표 확정, D-1 게시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26480" y="1371600"/>
            <a:ext cx="55138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09360" y="1444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② ‘짝꿍’ 배정 — 관람에서 참여로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82880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4661F"/>
                </a:solidFill>
              </a:rPr>
              <a:t>근거  </a:t>
            </a:r>
            <a:pPr indent="0" marL="0">
              <a:buNone/>
            </a:pPr>
            <a:r>
              <a:rPr lang="en-US" sz="1050" dirty="0">
                <a:solidFill>
                  <a:srgbClr val="44546B"/>
                </a:solidFill>
              </a:rPr>
              <a:t>첫 참가자 10명 중 8명이 응원·관람, ‘모르던 성도와 가까워졌다’ 40%(경험자 60%)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404872"/>
            <a:ext cx="5212080" cy="868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참가 신청서에 ‘첫 참가’ 체크 칸 추가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같은 팀 경험자 1명과 짝을 지어 한 종목 이상 함께 출전(1인 1경기)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3101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FB5"/>
                </a:solidFill>
              </a:rPr>
              <a:t>담당 / 시점  </a:t>
            </a:r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</a:rPr>
              <a:t>팀 편성·응원단장 / D-14 신청 마감, D-7 확정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55138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080" y="39593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③ 권유는 개인적으로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34340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4661F"/>
                </a:solidFill>
              </a:rPr>
              <a:t>근거  </a:t>
            </a:r>
            <a:pPr indent="0" marL="0">
              <a:buNone/>
            </a:pPr>
            <a:r>
              <a:rPr lang="en-US" sz="1050" dirty="0">
                <a:solidFill>
                  <a:srgbClr val="44546B"/>
                </a:solidFill>
              </a:rPr>
              <a:t>첫 참가자의 재참가 마음은 교우 권유(상관 .65)와 함께 움직였고, 행사 만족(.12)과는 거의 무관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4919472"/>
            <a:ext cx="5212080" cy="868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선교회·소그룹별로 아직 참가해 본 적 없는 성도 명단 정리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선교회장·리더가 1:1로 초대하고 교통·돌봄 사정을 확인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8247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FB5"/>
                </a:solidFill>
              </a:rPr>
              <a:t>담당 / 시점  </a:t>
            </a:r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</a:rPr>
              <a:t>선교회장·소그룹 리더 / D-28 명단, D-21~D-14 초대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26480" y="3886200"/>
            <a:ext cx="55138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309360" y="39593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④ 섬김의 자리 열기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434340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4661F"/>
                </a:solidFill>
              </a:rPr>
              <a:t>근거  </a:t>
            </a:r>
            <a:pPr indent="0" marL="0">
              <a:buNone/>
            </a:pPr>
            <a:r>
              <a:rPr lang="en-US" sz="1050" dirty="0">
                <a:solidFill>
                  <a:srgbClr val="44546B"/>
                </a:solidFill>
              </a:rPr>
              <a:t>첫 참가자의 80%가 준비·진행에 함께하겠다고 응답 (경험자 51%)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4919472"/>
            <a:ext cx="5212080" cy="868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다음 준비위원회에 첫 참가자 초대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A3A"/>
                </a:solidFill>
              </a:rPr>
              <a:t>종목 보조·점수 기록·사진 등 작은 역할부터 경험자와 짝지어 배정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309360" y="58247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FB5"/>
                </a:solidFill>
              </a:rPr>
              <a:t>담당 / 시점  </a:t>
            </a:r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</a:rPr>
              <a:t>준비위원장·주관 부서 / D-45 준비위원 구성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토 의</a:t>
            </a:r>
            <a:endParaRPr lang="en-US" sz="3600" dirty="0"/>
          </a:p>
        </p:txBody>
      </p:sp>
      <p:sp>
        <p:nvSpPr>
          <p:cNvPr id="4" name="secNum1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결정할 안건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4937760"/>
                <a:gridCol w="868680"/>
                <a:gridCol w="1280160"/>
                <a:gridCol w="1188720"/>
                <a:gridCol w="10789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안건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결정할 내용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결정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담당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기한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절차 개선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8단계 승인 절차와 표준 일정(D-30 계획서, D-14 승인) 채택 여부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B"/>
                          </a:solidFill>
                        </a:rPr>
                        <a:t>8~9쪽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계획서·양식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계획서 13개 항목, 결재란, 지출결의서·결과보고서 양식 제정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B"/>
                          </a:solidFill>
                        </a:rPr>
                        <a:t>10~11쪽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정산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정산 전 확인 7가지 처리, 결과보고서·정산서 10. 18. 제출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B"/>
                          </a:solidFill>
                        </a:rPr>
                        <a:t>15쪽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행사 운영 개선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식사 방식(도시락·출장뷔페), 전 세대 공동 종목, 첫 참가자 안내·짝꿍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B"/>
                          </a:solidFill>
                        </a:rPr>
                        <a:t>17·20쪽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A63"/>
                          </a:solidFill>
                        </a:rPr>
                        <a:t>2027년 준비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</a:rPr>
                        <a:t>재정 내규(예비비·전용 한도·초과 기준) 제정, 2027 예산안 정기 당회 반영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B"/>
                          </a:solidFill>
                        </a:rPr>
                        <a:t>11·15쪽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ecNum2"/>
          <p:cNvSpPr/>
          <p:nvPr/>
        </p:nvSpPr>
        <p:spPr>
          <a:xfrm>
            <a:off x="457200" y="502005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5720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9834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함께 나눌 질문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5394960"/>
            <a:ext cx="11277295" cy="914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1F2A3A"/>
                </a:solidFill>
              </a:rPr>
              <a:t>이번 체육대회에서 계속 이어 갈 것(잘된 점)은 무엇인가?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1F2A3A"/>
                </a:solidFill>
              </a:rPr>
              <a:t>아쉬웠던 점 가운데 내년에 가장 먼저 고칠 한 가지는 무엇인가?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결정 요청 사항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783080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984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결과보고서 · 정산서 확정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40280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10. 18.(일)까지 주관 부서가 재무부에 제출 (D+14)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3008376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986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잔액 확정과 처리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64408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통장 잔액 대조 후 확정, 지정 후원금 잔액은 임원회 결정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31336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032504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9227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개선 과제 담당 · 기한 확정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88536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21쪽 안건별 담당자와 기한 결정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55464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2A6FB5">
              <a:alpha val="45000"/>
            </a:srgbClr>
          </a:solidFill>
          <a:ln w="9525">
            <a:solidFill>
              <a:srgbClr val="4454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5056632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5056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9469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보고 및 내년 반영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12664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F0"/>
                </a:solidFill>
              </a:rPr>
              <a:t>분기 임원회 보고, 2027 예산안은 정기 당회에 반영</a:t>
            </a:r>
            <a:endParaRPr lang="en-US" sz="1200" dirty="0"/>
          </a:p>
        </p:txBody>
      </p:sp>
      <p:pic>
        <p:nvPicPr>
          <p:cNvPr id="23" name="Image 0" descr="말씀패드를 맞추는 성도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868680"/>
            <a:ext cx="4325112" cy="46634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406640" y="56235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05E"/>
                </a:solidFill>
              </a:rPr>
              <a:t>섬겨 주신 준비 위원과 모든 성도님께 감사드립니다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217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C"/>
                </a:solidFill>
              </a:rPr>
              <a:t>한 팀으로 뛰고, 한마음으로 웃은 하루 — 2026년 전교인 한마음 체육대회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부록 1. S-O-R 분석 상세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(1/2)</a:t>
            </a:r>
            <a:endParaRPr lang="en-US" sz="3600" dirty="0"/>
          </a:p>
        </p:txBody>
      </p:sp>
      <p:sp>
        <p:nvSpPr>
          <p:cNvPr id="4" name="secNum1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H1. 행사 환경(S) → 전반적 만족(O) — 지지</a:t>
            </a:r>
            <a:endParaRPr lang="en-US" sz="1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1051560"/>
                <a:gridCol w="105156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 자극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시설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3A"/>
                          </a:solidFill>
                        </a:rPr>
                        <a:t>.38*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2.27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.029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4.61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.32†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1.84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.074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4.85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프로그램(종목) 운영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.12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0.66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.511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5.40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식사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.08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0.90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.372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1.13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경품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.08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0.61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.542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2.90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269480" y="1371600"/>
            <a:ext cx="446227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06640" y="1463040"/>
            <a:ext cx="4206240" cy="1828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rgbClr val="1F2A3A"/>
                </a:solidFill>
              </a:rPr>
              <a:t>R² = .75, F = 24.15***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행사 환경이 만족의 75%를 설명, 개별로는 시설만 의미 있음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시설·시간·프로그램은 상관 .78~.86으로 사실상 ‘현장 운영’ 하나로 작용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식사는 점수는 낮지만 만족을 크게 깎지 않음</a:t>
            </a:r>
            <a:endParaRPr lang="en-US" sz="1150" dirty="0"/>
          </a:p>
        </p:txBody>
      </p:sp>
      <p:sp>
        <p:nvSpPr>
          <p:cNvPr id="10" name="secNum2"/>
          <p:cNvSpPr/>
          <p:nvPr/>
        </p:nvSpPr>
        <p:spPr>
          <a:xfrm>
            <a:off x="457200" y="355701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57200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5204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H2. 사회적 영향(S) → 공동체 인식(O) — 지지</a:t>
            </a:r>
            <a:endParaRPr lang="en-US" sz="17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731520"/>
                <a:gridCol w="7315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 종속변수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 독립변수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모형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A"/>
                          </a:solidFill>
                        </a:rPr>
                        <a:t>교제·단합력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교우의 영향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.38†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.098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R² = .29, F = 8.90***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사역자·선교회장의 영향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.18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.417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A"/>
                          </a:solidFill>
                        </a:rPr>
                        <a:t>신앙공동체 의식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교우의 영향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.24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.299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</a:rPr>
                        <a:t>R² = .24, F = 6.94**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사역자·선교회장의 영향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.27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.245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7269480" y="3977640"/>
            <a:ext cx="44622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  <a:effectLst>
            <a:outerShdw sx="100000" sy="100000" kx="0" ky="0" algn="bl" rotWithShape="0" blurRad="63500" dist="19050" dir="5400000">
              <a:srgbClr val="123A63">
                <a:alpha val="1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406640" y="4069080"/>
            <a:ext cx="4206240" cy="16916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두 모형 모두 의미 있으나 개별 계수는 유의하지 않음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2A3A"/>
                </a:solidFill>
              </a:rPr>
              <a:t>교우 권유와 사역자·선교회장 권유가 r = .82로 거의 같이 움직여 하나의 ‘사회적 영향’으로 보는 것이 타당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부록 1. S-O-R 분석 상세</a:t>
            </a:r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(2/2)</a:t>
            </a:r>
            <a:endParaRPr lang="en-US" sz="3600" dirty="0"/>
          </a:p>
        </p:txBody>
      </p:sp>
      <p:sp>
        <p:nvSpPr>
          <p:cNvPr id="4" name="secNum3"/>
          <p:cNvSpPr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9144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H3. 내적 평가(O) → 행동의도(R) — 부분 지지</a:t>
            </a:r>
            <a:endParaRPr lang="en-US" sz="1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독립변수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행사 품질 (S)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.696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3.72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사회적 영향 (S)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.51***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&lt; .001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1.55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전반적 만족 (O)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−.08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.672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3.59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교제·단합력 인식 (O)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−.05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.723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2.03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신앙공동체 의식 (O)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.45**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.001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1.82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R² = .63, F = 13.83*** (O만 넣으면 R² = .46)</a:t>
            </a:r>
            <a:endParaRPr lang="en-US" sz="1100" dirty="0"/>
          </a:p>
        </p:txBody>
      </p:sp>
      <p:sp>
        <p:nvSpPr>
          <p:cNvPr id="9" name="secNum4"/>
          <p:cNvSpPr/>
          <p:nvPr/>
        </p:nvSpPr>
        <p:spPr>
          <a:xfrm>
            <a:off x="6245352" y="95097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245352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656832" y="914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참가 동기의 조절효과 (H4) — 기각</a:t>
            </a:r>
            <a:endParaRPr lang="en-US" sz="17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118872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참가 동기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평균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만족×동기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운동·건강 (27번)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3.09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−0.03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.818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성도와 즐거운 시간 (28번)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4.13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0.16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.093†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교회 행사 동참 (29번)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4.57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0.23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.284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6245352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어떤 동기로 왔든 만족이 행동의도로 이어지는 정도는 같음</a:t>
            </a:r>
            <a:endParaRPr lang="en-US" sz="1100" dirty="0"/>
          </a:p>
        </p:txBody>
      </p:sp>
      <p:sp>
        <p:nvSpPr>
          <p:cNvPr id="14" name="secNum5"/>
          <p:cNvSpPr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68680" y="370332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매개효과 — O가 S와 R을 이어 주는가</a:t>
            </a:r>
            <a:endParaRPr lang="en-US" sz="1700" dirty="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7729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097280"/>
                <a:gridCol w="1188720"/>
                <a:gridCol w="1188720"/>
                <a:gridCol w="1828800"/>
                <a:gridCol w="17647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경로 (S → O → R)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총효과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직접효과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간접효과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95% 신뢰구간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행사 품질 → 전반적 만족 → 행동의도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.48***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.32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0.16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[−0.15, 0.45]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매개효과 없음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사회적 영향 → 교제·단합력 → 행동의도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.70***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.63***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0.07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[−0.04, 0.28]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매개효과 없음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사회적 영향 → 신앙공동체 의식 → 행동의도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.70***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.49***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0.21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[0.07, 0.36]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부분 매개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 txBox="1"/>
          <p:nvPr/>
        </p:nvSpPr>
        <p:spPr>
          <a:xfrm>
            <a:off x="457200" y="58064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분석: 다중회귀, 부트스트랩 매개분석(PROCESS 모형 4 방식). 유효 응답 46명으로 구조방정식(200명 이상 권장) 대신 사용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965960" y="73152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부록 2. 첫 참가자 문항별 비교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14400"/>
            <a:ext cx="11277295" cy="38404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F2A3A"/>
                </a:solidFill>
              </a:rPr>
              <a:t>비교한 척도 30문항 중 </a:t>
            </a:r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</a:rPr>
              <a:t>9문항</a:t>
            </a:r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</a:rPr>
              <a:t>에서 통계적 차이(Mann-Whitney 검정, p &lt; .05). 아래는 차이가 크거나 주목할 12문항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463040"/>
                <a:gridCol w="1463040"/>
                <a:gridCol w="176479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문항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첫 참가 ‘그렇다’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경험자 ‘그렇다’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첫 참가 평균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경험자 평균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통계적 차이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경기장 규모·시설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70%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86%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3.70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4.51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계획한 시간대로 진행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70%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94%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3.80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4.63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진행 시간의 길이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91%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4.00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4.63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경품 종류·품질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60%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89%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3.70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4.49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경품 수량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60%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89%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3.70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4.51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추첨·시상 공정 ※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100%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97%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4.20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4.77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화장실·휴게 공간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91%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4.10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4.69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종목 구성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90%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91%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4.10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4.60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남녀노소 참여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89%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4.00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4.51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4661F"/>
                          </a:solidFill>
                        </a:rPr>
                        <a:t>있음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모르던 성도와 가까워짐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60%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3.40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3.86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5BC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다음에도 참가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90%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83%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4.20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4.37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5BC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준비·진행에 함께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80%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51%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3.80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A"/>
                          </a:solidFill>
                        </a:rPr>
                        <a:t>3.54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5BC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※ ‘그렇다’ 비율은 둘 다 높지만, ‘매우 그렇다’(5점) 비율이 달라 평균에서 차이가 남. 첫 참가자는 10명이라 결과는 경향으로 읽어야 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nmaeum Review">
  <a:themeElements>
    <a:clrScheme name="Hanmaeum Review">
      <a:dk1>
        <a:srgbClr val="1F2A3A"/>
      </a:dk1>
      <a:lt1>
        <a:srgbClr val="FFFFFF"/>
      </a:lt1>
      <a:dk2>
        <a:srgbClr val="123A63"/>
      </a:dk2>
      <a:lt2>
        <a:srgbClr val="F4F7FB"/>
      </a:lt2>
      <a:accent1>
        <a:srgbClr val="123A63"/>
      </a:accent1>
      <a:accent2>
        <a:srgbClr val="D4661F"/>
      </a:accent2>
      <a:accent3>
        <a:srgbClr val="2A6FB5"/>
      </a:accent3>
      <a:accent4>
        <a:srgbClr val="44546B"/>
      </a:accent4>
      <a:accent5>
        <a:srgbClr val="DCE3ED"/>
      </a:accent5>
      <a:accent6>
        <a:srgbClr val="E8A05E"/>
      </a:accent6>
      <a:hlink>
        <a:srgbClr val="2A6FB5"/>
      </a:hlink>
      <a:folHlink>
        <a:srgbClr val="44546B"/>
      </a:folHlink>
    </a:clrScheme>
    <a:fontScheme name="Hanmaeum Review">
      <a:majorFont>
        <a:latin typeface="나눔스퀘어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바른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전교인 한마음 체육대회 사후검토</dc:title>
  <dc:subject>PptxGenJS Presentation</dc:subject>
  <dc:creator>조원감리교회 문화홍보부</dc:creator>
  <cp:lastModifiedBy>조원감리교회 문화홍보부</cp:lastModifiedBy>
  <cp:revision>1</cp:revision>
  <dcterms:created xsi:type="dcterms:W3CDTF">2026-10-14T08:57:17Z</dcterms:created>
  <dcterms:modified xsi:type="dcterms:W3CDTF">2026-10-14T08:57:17Z</dcterms:modified>
</cp:coreProperties>
</file>