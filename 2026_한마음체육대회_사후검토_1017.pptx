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dc239a2-a534-9c1d-7964-d65ba8d0d997}">
          <p14:sldIdLst>
            <p14:sldId id="256"/>
          </p14:sldIdLst>
        </p14:section>
        <p14:section name="순서" id="{cafe32b3-3ec2-6d94-e890-f184e43fbaa0}">
          <p14:sldIdLst>
            <p14:sldId id="257"/>
          </p14:sldIdLst>
        </p14:section>
        <p14:section name="회의 개요" id="{e1966228-e12e-67c4-9f08-7f346b080e89}">
          <p14:sldIdLst>
            <p14:sldId id="258"/>
          </p14:sldIdLst>
        </p14:section>
        <p14:section name="행사 결과" id="{6027af0f-e659-e724-2a8c-d2b16440f775}">
          <p14:sldIdLst>
            <p14:sldId id="259"/>
            <p14:sldId id="260"/>
            <p14:sldId id="261"/>
          </p14:sldIdLst>
        </p14:section>
        <p14:section name="진행 검토" id="{0f61c175-13b4-6228-889c-832b217da55d}">
          <p14:sldIdLst>
            <p14:sldId id="262"/>
            <p14:sldId id="263"/>
            <p14:sldId id="264"/>
          </p14:sldIdLst>
        </p14:section>
        <p14:section name="예산 · 정산" id="{c658978d-bc30-7bd7-c2a4-e9c848ed0695}">
          <p14:sldIdLst>
            <p14:sldId id="265"/>
            <p14:sldId id="266"/>
          </p14:sldIdLst>
        </p14:section>
        <p14:section name="만족도 설문" id="{5b2193ca-4df5-b4dd-0947-612c88621e6c}">
          <p14:sldIdLst>
            <p14:sldId id="267"/>
          </p14:sldIdLst>
        </p14:section>
        <p14:section name="돌아보기 · 개선" id="{c6927321-55c4-0a2b-3b06-02c785553daa}">
          <p14:sldIdLst>
            <p14:sldId id="268"/>
            <p14:sldId id="269"/>
          </p14:sldIdLst>
        </p14:section>
        <p14:section name="결정 요청" id="{e2282175-ead8-2e70-d490-58951921520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전교인 한마음 체육대회 사후검토 회의 자료입니다. 10월 4일 행사를 계획 대비 실제로 돌아보고, 정산과 내년 개선 과제를 결정합니다.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주황색 빈칸은 실제 결과로 채웁니다. 계획 수치는 기획안(0919)과 예산 수정안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예산은 수정안(지출 430만원, 수입 470만원) 기준입니다. 집행 금액과 차이는 재무부 정산서로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2026 전교인 한마음 체육대회 사후검토  ·  조원감리교회 문화홍보부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Photo" descr="개회 예배 중인 체육관 전경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731520"/>
            <a:ext cx="5379415" cy="6126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05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조원감리교회 문화홍보부  |  사후검토 회의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2026년 전교인</a:t>
            </a:r>
            <a:endParaRPr lang="en-US" sz="4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한마음 체육대회</a:t>
            </a:r>
            <a:endParaRPr lang="en-US" sz="4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0" b="1" dirty="0">
                <a:solidFill>
                  <a:schemeClr val="accent2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사후검토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05E"/>
                </a:solidFill>
              </a:rPr>
              <a:t>한 팀으로 뛰고, 한마음으로 웃은 하루를 돌아봅니다</a:t>
            </a:r>
            <a:endParaRPr lang="en-US" sz="1500" dirty="0"/>
          </a:p>
        </p:txBody>
      </p:sp>
      <p:sp>
        <p:nvSpPr>
          <p:cNvPr id="6" name="chip0"/>
          <p:cNvSpPr/>
          <p:nvPr/>
        </p:nvSpPr>
        <p:spPr>
          <a:xfrm>
            <a:off x="548640" y="46177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A6FB5">
              <a:alpha val="60000"/>
            </a:srgbClr>
          </a:solidFill>
          <a:ln w="9525">
            <a:solidFill>
              <a:srgbClr val="9AA5B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617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회의  2026. 10. 17(토)</a:t>
            </a:r>
            <a:endParaRPr lang="en-US" sz="1100" dirty="0"/>
          </a:p>
        </p:txBody>
      </p:sp>
      <p:sp>
        <p:nvSpPr>
          <p:cNvPr id="8" name="chip1"/>
          <p:cNvSpPr/>
          <p:nvPr/>
        </p:nvSpPr>
        <p:spPr>
          <a:xfrm>
            <a:off x="2441448" y="46177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A6FB5">
              <a:alpha val="60000"/>
            </a:srgbClr>
          </a:solidFill>
          <a:ln w="9525">
            <a:solidFill>
              <a:srgbClr val="9AA5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41448" y="4617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행사  2026. 10. 4(주일)</a:t>
            </a:r>
            <a:endParaRPr lang="en-US" sz="1100" dirty="0"/>
          </a:p>
        </p:txBody>
      </p:sp>
      <p:sp>
        <p:nvSpPr>
          <p:cNvPr id="10" name="chip2"/>
          <p:cNvSpPr/>
          <p:nvPr/>
        </p:nvSpPr>
        <p:spPr>
          <a:xfrm>
            <a:off x="4334256" y="4617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A6FB5">
              <a:alpha val="60000"/>
            </a:srgbClr>
          </a:solidFill>
          <a:ln w="9525">
            <a:solidFill>
              <a:srgbClr val="9AA5B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34256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영화초등학교 실내체육관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C"/>
                </a:solidFill>
              </a:rPr>
              <a:t>문화홍보부 · 준비위원회 회의 자료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순                    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회의 순서 (약 90분)</a:t>
            </a:r>
            <a:endParaRPr lang="en-US" sz="1500" dirty="0"/>
          </a:p>
        </p:txBody>
      </p:sp>
      <p:sp>
        <p:nvSpPr>
          <p:cNvPr id="4" name="ostep0"/>
          <p:cNvSpPr/>
          <p:nvPr/>
        </p:nvSpPr>
        <p:spPr>
          <a:xfrm>
            <a:off x="548640" y="2057400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5" name="num1"/>
          <p:cNvSpPr/>
          <p:nvPr/>
        </p:nvSpPr>
        <p:spPr>
          <a:xfrm>
            <a:off x="731520" y="21945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122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행사 결과 공유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048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참가 인원 · 점수 · 사진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362895" y="22037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15분</a:t>
            </a:r>
            <a:endParaRPr lang="en-US" sz="1400" dirty="0"/>
          </a:p>
        </p:txBody>
      </p:sp>
      <p:sp>
        <p:nvSpPr>
          <p:cNvPr id="10" name="ostep1"/>
          <p:cNvSpPr/>
          <p:nvPr/>
        </p:nvSpPr>
        <p:spPr>
          <a:xfrm>
            <a:off x="548640" y="2843784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1" name="num2"/>
          <p:cNvSpPr/>
          <p:nvPr/>
        </p:nvSpPr>
        <p:spPr>
          <a:xfrm>
            <a:off x="731520" y="2980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진행 · 종목 검토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912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계획 대비 실제, 기획 단계 검토 의견 이행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362895" y="29900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25분</a:t>
            </a:r>
            <a:endParaRPr lang="en-US" sz="1400" dirty="0"/>
          </a:p>
        </p:txBody>
      </p:sp>
      <p:sp>
        <p:nvSpPr>
          <p:cNvPr id="16" name="ostep2"/>
          <p:cNvSpPr/>
          <p:nvPr/>
        </p:nvSpPr>
        <p:spPr>
          <a:xfrm>
            <a:off x="548640" y="3630168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7" name="num3"/>
          <p:cNvSpPr/>
          <p:nvPr/>
        </p:nvSpPr>
        <p:spPr>
          <a:xfrm>
            <a:off x="731520" y="3767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685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 집행 · 정산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977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예산 대비 집행, 정산 · 보고 일정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362895" y="3776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15분</a:t>
            </a:r>
            <a:endParaRPr lang="en-US" sz="1400" dirty="0"/>
          </a:p>
        </p:txBody>
      </p:sp>
      <p:sp>
        <p:nvSpPr>
          <p:cNvPr id="22" name="ostep3"/>
          <p:cNvSpPr/>
          <p:nvPr/>
        </p:nvSpPr>
        <p:spPr>
          <a:xfrm>
            <a:off x="548640" y="4416552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3" name="num4"/>
          <p:cNvSpPr/>
          <p:nvPr/>
        </p:nvSpPr>
        <p:spPr>
          <a:xfrm>
            <a:off x="731520" y="45537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471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만족도 설문 결과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7640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영역별 점수, 개선 요청 영역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362895" y="4562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10분</a:t>
            </a:r>
            <a:endParaRPr lang="en-US" sz="1400" dirty="0"/>
          </a:p>
        </p:txBody>
      </p:sp>
      <p:sp>
        <p:nvSpPr>
          <p:cNvPr id="28" name="ostep4"/>
          <p:cNvSpPr/>
          <p:nvPr/>
        </p:nvSpPr>
        <p:spPr>
          <a:xfrm>
            <a:off x="548640" y="5202936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9" name="num5"/>
          <p:cNvSpPr/>
          <p:nvPr/>
        </p:nvSpPr>
        <p:spPr>
          <a:xfrm>
            <a:off x="731520" y="53400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5257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돌아보기 · 개선 과제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55504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잘된 점 · 아쉬운 점, 내년 과제와 담당 결정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362895" y="5349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25분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회의 개요 — 돌아보고 결정할 것</a:t>
            </a:r>
            <a:endParaRPr lang="en-US" sz="4000" dirty="0"/>
          </a:p>
        </p:txBody>
      </p:sp>
      <p:sp>
        <p:nvSpPr>
          <p:cNvPr id="3" name="infoCard"/>
          <p:cNvSpPr/>
          <p:nvPr/>
        </p:nvSpPr>
        <p:spPr>
          <a:xfrm>
            <a:off x="548640" y="1508760"/>
            <a:ext cx="4937760" cy="4297680"/>
          </a:xfrm>
          <a:prstGeom prst="roundRect">
            <a:avLst>
              <a:gd name="adj" fmla="val 170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일시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7830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2026. 10. 17(토)  ____:____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614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장소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76148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________________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398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참석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73989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담임목사님, 총괄·종목·식사·차량·방송 등 준비 위원, 각 선교회 회장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183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자료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4718304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기획안(0919), 만족도 설문 결과, 정산서, 현장 사진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508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회의 순서 (약 90분)</a:t>
            </a:r>
            <a:endParaRPr lang="en-US" sz="1500" dirty="0"/>
          </a:p>
        </p:txBody>
      </p:sp>
      <p:sp>
        <p:nvSpPr>
          <p:cNvPr id="13" name="step0"/>
          <p:cNvSpPr/>
          <p:nvPr/>
        </p:nvSpPr>
        <p:spPr>
          <a:xfrm>
            <a:off x="5852160" y="2011680"/>
            <a:ext cx="578815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4" name="num1"/>
          <p:cNvSpPr/>
          <p:nvPr/>
        </p:nvSpPr>
        <p:spPr>
          <a:xfrm>
            <a:off x="6016752" y="2148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1675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066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행사 결과 공유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350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참가 인원 · 점수 · 사진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21579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15분</a:t>
            </a:r>
            <a:endParaRPr lang="en-US" sz="1300" dirty="0"/>
          </a:p>
        </p:txBody>
      </p:sp>
      <p:sp>
        <p:nvSpPr>
          <p:cNvPr id="19" name="step1"/>
          <p:cNvSpPr/>
          <p:nvPr/>
        </p:nvSpPr>
        <p:spPr>
          <a:xfrm>
            <a:off x="5852160" y="2779776"/>
            <a:ext cx="578815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0" name="num2"/>
          <p:cNvSpPr/>
          <p:nvPr/>
        </p:nvSpPr>
        <p:spPr>
          <a:xfrm>
            <a:off x="6016752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16752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진행 · 종목 검토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1181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계획 대비 실제, 기획 단계 검토 의견 이행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0" y="29260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25분</a:t>
            </a:r>
            <a:endParaRPr lang="en-US" sz="1300" dirty="0"/>
          </a:p>
        </p:txBody>
      </p:sp>
      <p:sp>
        <p:nvSpPr>
          <p:cNvPr id="25" name="step2"/>
          <p:cNvSpPr/>
          <p:nvPr/>
        </p:nvSpPr>
        <p:spPr>
          <a:xfrm>
            <a:off x="5852160" y="3547872"/>
            <a:ext cx="578815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6" name="num3"/>
          <p:cNvSpPr/>
          <p:nvPr/>
        </p:nvSpPr>
        <p:spPr>
          <a:xfrm>
            <a:off x="6016752" y="36850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16752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예산 집행 · 정산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3886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예산 대비 집행, 정산 · 보고 일정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36941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15분</a:t>
            </a:r>
            <a:endParaRPr lang="en-US" sz="1300" dirty="0"/>
          </a:p>
        </p:txBody>
      </p:sp>
      <p:sp>
        <p:nvSpPr>
          <p:cNvPr id="31" name="step3"/>
          <p:cNvSpPr/>
          <p:nvPr/>
        </p:nvSpPr>
        <p:spPr>
          <a:xfrm>
            <a:off x="5852160" y="4315968"/>
            <a:ext cx="578815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32" name="num4"/>
          <p:cNvSpPr/>
          <p:nvPr/>
        </p:nvSpPr>
        <p:spPr>
          <a:xfrm>
            <a:off x="6016752" y="4453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16752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4370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만족도 설문 결과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4654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영역별 점수, 개선 요청 영역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44622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10분</a:t>
            </a:r>
            <a:endParaRPr lang="en-US" sz="1300" dirty="0"/>
          </a:p>
        </p:txBody>
      </p:sp>
      <p:sp>
        <p:nvSpPr>
          <p:cNvPr id="37" name="step4"/>
          <p:cNvSpPr/>
          <p:nvPr/>
        </p:nvSpPr>
        <p:spPr>
          <a:xfrm>
            <a:off x="5852160" y="5084064"/>
            <a:ext cx="578815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38" name="num5"/>
          <p:cNvSpPr/>
          <p:nvPr/>
        </p:nvSpPr>
        <p:spPr>
          <a:xfrm>
            <a:off x="6016752" y="52212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016752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5138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돌아보기 · 개선 과제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537960" y="5422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잘된 점 · 아쉬운 점, 내년 과제와 담당 결정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607040" y="52303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25분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행사 결과 — 한눈에 보기</a:t>
            </a:r>
            <a:endParaRPr lang="en-US" sz="4000" dirty="0"/>
          </a:p>
        </p:txBody>
      </p:sp>
      <p:sp>
        <p:nvSpPr>
          <p:cNvPr id="3" name="stat0"/>
          <p:cNvSpPr/>
          <p:nvPr/>
        </p:nvSpPr>
        <p:spPr>
          <a:xfrm>
            <a:off x="548640" y="1554480"/>
            <a:ext cx="35152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10. 4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786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주일 · 09:00~16:00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실제 종료  ____:____</a:t>
            </a:r>
            <a:endParaRPr lang="en-US" sz="1200" dirty="0"/>
          </a:p>
        </p:txBody>
      </p:sp>
      <p:sp>
        <p:nvSpPr>
          <p:cNvPr id="7" name="stat1"/>
          <p:cNvSpPr/>
          <p:nvPr/>
        </p:nvSpPr>
        <p:spPr>
          <a:xfrm>
            <a:off x="4338218" y="1554480"/>
            <a:ext cx="35152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2538" y="18288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____명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5786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참가 인원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9718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계획: 성인 180명 · 실내화 250켤레</a:t>
            </a:r>
            <a:endParaRPr lang="en-US" sz="1200" dirty="0"/>
          </a:p>
        </p:txBody>
      </p:sp>
      <p:sp>
        <p:nvSpPr>
          <p:cNvPr id="11" name="stat2"/>
          <p:cNvSpPr/>
          <p:nvPr/>
        </p:nvSpPr>
        <p:spPr>
          <a:xfrm>
            <a:off x="8127797" y="1554480"/>
            <a:ext cx="35152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02117" y="18288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__ / 12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5786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정규 종목 진행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9718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예비 4종목 중 ____종목 투입</a:t>
            </a:r>
            <a:endParaRPr lang="en-US" sz="1200" dirty="0"/>
          </a:p>
        </p:txBody>
      </p:sp>
      <p:sp>
        <p:nvSpPr>
          <p:cNvPr id="15" name="stat3"/>
          <p:cNvSpPr/>
          <p:nvPr/>
        </p:nvSpPr>
        <p:spPr>
          <a:xfrm>
            <a:off x="548640" y="3886200"/>
            <a:ext cx="35152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청 ___ : 백 ___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1032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종합 점수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03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MVP  ____________</a:t>
            </a:r>
            <a:endParaRPr lang="en-US" sz="1200" dirty="0"/>
          </a:p>
        </p:txBody>
      </p:sp>
      <p:sp>
        <p:nvSpPr>
          <p:cNvPr id="19" name="stat4"/>
          <p:cNvSpPr/>
          <p:nvPr/>
        </p:nvSpPr>
        <p:spPr>
          <a:xfrm>
            <a:off x="4338218" y="3886200"/>
            <a:ext cx="35152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12538" y="4160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____만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4612538" y="491032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지출 실적 (원)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5303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예산 430만 · 수입 470만</a:t>
            </a:r>
            <a:endParaRPr lang="en-US" sz="1200" dirty="0"/>
          </a:p>
        </p:txBody>
      </p:sp>
      <p:sp>
        <p:nvSpPr>
          <p:cNvPr id="23" name="stat5"/>
          <p:cNvSpPr/>
          <p:nvPr/>
        </p:nvSpPr>
        <p:spPr>
          <a:xfrm>
            <a:off x="8127797" y="3886200"/>
            <a:ext cx="35152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402117" y="4160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____명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8402117" y="491032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만족도 설문 응답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5303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QR 설문 · 응답률 ____%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현장 스케치 ① — 개회 예배</a:t>
            </a:r>
            <a:endParaRPr lang="en-US" sz="4000" dirty="0"/>
          </a:p>
        </p:txBody>
      </p:sp>
      <p:pic>
        <p:nvPicPr>
          <p:cNvPr id="3" name="photoWorship" descr="개회 예배에 모인 성도들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6766560" cy="4617720"/>
          </a:xfrm>
          <a:prstGeom prst="rect">
            <a:avLst/>
          </a:prstGeom>
        </p:spPr>
      </p:pic>
      <p:sp>
        <p:nvSpPr>
          <p:cNvPr id="4" name="photoNotes"/>
          <p:cNvSpPr/>
          <p:nvPr/>
        </p:nvSpPr>
        <p:spPr>
          <a:xfrm>
            <a:off x="7589520" y="1463040"/>
            <a:ext cx="4053535" cy="4617720"/>
          </a:xfrm>
          <a:prstGeom prst="roundRect">
            <a:avLst>
              <a:gd name="adj" fmla="val 180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기록 사항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개회 예배 시작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계획 09:30  →  실제 ____:____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944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예배 참석 인원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218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약 ______명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등록 · 팀 집결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968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손목아대 배부, 명단 확인 ______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443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차량 운행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4718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교회 ↔ 영화초  ____회 운행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5193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메모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5468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______________________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현장 스케치 ② — 말씀패드 완성하기</a:t>
            </a:r>
            <a:endParaRPr lang="en-US" sz="4000" dirty="0"/>
          </a:p>
        </p:txBody>
      </p:sp>
      <p:pic>
        <p:nvPicPr>
          <p:cNvPr id="3" name="photoPad0" descr="바닥에 놓인 말씀패드를 순서대로 맞추는 모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028" y="1463040"/>
            <a:ext cx="3429000" cy="4160520"/>
          </a:xfrm>
          <a:prstGeom prst="rect">
            <a:avLst/>
          </a:prstGeom>
        </p:spPr>
      </p:pic>
      <p:pic>
        <p:nvPicPr>
          <p:cNvPr id="4" name="photoPad1" descr="바닥에 놓인 말씀패드를 순서대로 맞추는 모습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348" y="1463040"/>
            <a:ext cx="3429000" cy="4160520"/>
          </a:xfrm>
          <a:prstGeom prst="rect">
            <a:avLst/>
          </a:prstGeom>
        </p:spPr>
      </p:pic>
      <p:pic>
        <p:nvPicPr>
          <p:cNvPr id="5" name="photoPad2" descr="바닥에 놓인 말씀패드를 순서대로 맞추는 모습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4668" y="1463040"/>
            <a:ext cx="3429000" cy="41605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580644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뒤집힌 말씀패드를 순서대로 맞추는 경기  ·  검토: 사용 말씀 ______  /  패드 조각 수 ____개  /  제한 시간 ____분  /  승팀 ____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진행 일정 — 계획 대비 실제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1737360"/>
                <a:gridCol w="1188720"/>
                <a:gridCol w="3322015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구간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계획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실제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차이(분)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원인 · 메모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등록 · 이동 · 팀별 집결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09:00 ~ 09:30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개회 예배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09:30 ~ 10:00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국민체조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10:00 ~ 10:10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오전 종목 (1 ~ 5)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10:10 ~ 11:50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점심 식사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11:50 ~ 13:00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오후 종목 (6 ~ 9)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13:00 ~ 14:20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휴식 및 경기장 정비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14:20 ~ 14:30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오후 종목 (10 ~ 12)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14:30 ~ 15:20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점수 발표 · 시상 · MVP · 행운권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15:20 ~ 15:40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폐회 예배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15:40 ~ 16:00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기획 단계 우려: 09:30 전원 도착이 촉박할 수 있음, 오후 종목 연속 진행으로 정비 시간 부족 — 실제로 어땠는지 확인합니다.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종목별 운영 검토 — 12개 정규 종목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017520"/>
                <a:gridCol w="1737360"/>
                <a:gridCol w="1097280"/>
                <a:gridCol w="1005840"/>
                <a:gridCol w="377921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종목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계획 인원(팀당)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진행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승팀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안전 · 운영 메모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엄마·아빠 발등 타고 이어달리기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유치부 전원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럭비공 드리블 이어달리기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아동부 전원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태풍의 눈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21명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발로 신발 던져 넣기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포대 달리기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20명 (아동·중고)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협동 공튀기기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8자 줄넘기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단체 줄넘기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10명 (줄잡이 2)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훌라후프 통과하기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기차 릴레이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말씀패드 완성하기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장애물 릴레이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○ △ 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5BC"/>
                          </a:solidFill>
                        </a:rPr>
                        <a:t>청 · 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진행: ○ 계획대로  △ 변경·단축  × 취소   |   예비 종목(풍선 터뜨리기·풍선 나르기·2인 풍선 터뜨리기·파도타기) 투입 여부: ______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기획 검토 의견 — 해결되었나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286000"/>
                <a:gridCol w="3566160"/>
                <a:gridCol w="1737360"/>
                <a:gridCol w="263621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중요도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검토 의견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현장에서 확인된 점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인원 표기 불일치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태풍의 눈 11 vs 21명, 8자 줄넘기 20 vs 15명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C"/>
                          </a:solidFill>
                        </a:rPr>
                        <a:t>해결 · 부분 · 미해결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중간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단체 줄넘기 인원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줄잡이 2명 포함 여부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C"/>
                          </a:solidFill>
                        </a:rPr>
                        <a:t>해결 · 부분 · 미해결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아동부 팀 배분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고학년 · 저학년 비중 편성 기준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C"/>
                          </a:solidFill>
                        </a:rPr>
                        <a:t>해결 · 부분 · 미해결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중간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말씀패드 규격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말씀, 크기, 조각 수, 제한 시간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C"/>
                          </a:solidFill>
                        </a:rPr>
                        <a:t>해결 · 부분 · 미해결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중간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경기장 정비 시간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종목 간 전환 시간 추가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C"/>
                          </a:solidFill>
                        </a:rPr>
                        <a:t>해결 · 부분 · 미해결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심판 보조 인원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넘어짐 위험 종목 보조 배정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C"/>
                          </a:solidFill>
                        </a:rPr>
                        <a:t>해결 · 부분 · 미해결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부서별 명단 사전 확정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팀별 참가자 사전 확정, 식사 준비와 중복 조정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C"/>
                          </a:solidFill>
                        </a:rPr>
                        <a:t>해결 · 부분 · 미해결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중간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예산 소계 수정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게임 물품 20만원, 지출 합계 430만원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C"/>
                          </a:solidFill>
                        </a:rPr>
                        <a:t>해결 · 부분 · 미해결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※ 기획안(0919) 회의에서 제기된 8개 검토 의견입니다. 미해결 항목은 13쪽 개선 과제로 넘깁니다.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예산 집행 결과 — 예산 대비 실적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675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예산(천원)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집행(천원)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차이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수입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재정 지원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3,800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목적 헌금 (기획위원회)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수입 합계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4,700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지출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식대 (성인 180명 기준)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2,580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행사 용품 (경품)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1,200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게임 물품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전교인 선물 (치약 240개)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현수막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지출 합계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4,300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잔액 (수입 − 지출)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61F"/>
                    </a:solidFill>
                  </a:tcPr>
                </a:tc>
              </a:tr>
            </a:tbl>
          </a:graphicData>
        </a:graphic>
      </p:graphicFrame>
      <p:sp>
        <p:nvSpPr>
          <p:cNvPr id="4" name="settleCard"/>
          <p:cNvSpPr/>
          <p:nvPr/>
        </p:nvSpPr>
        <p:spPr>
          <a:xfrm>
            <a:off x="7543800" y="1508760"/>
            <a:ext cx="4099255" cy="4434840"/>
          </a:xfrm>
          <a:prstGeom prst="roundRect">
            <a:avLst>
              <a:gd name="adj" fmla="val 1785"/>
            </a:avLst>
          </a:prstGeom>
          <a:solidFill>
            <a:srgbClr val="FFF6EE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0" y="169164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정산 원칙 (계획 및 예산 사용 절차 6절)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103120"/>
            <a:ext cx="364205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남은 예산은 해당 회계에 그대로 두고 다른 용도로 돌려쓰지 않습니다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용도를 지정한 후원금 잔액은 처리 방법을 임원회에서 정합니다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모든 지출에 세금계산서 · 카드전표 · 현금영수증 · 이체확인증 중 하나를 품의서에 붙입니다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계속 쓸 경기 용품은 관리부에 넘겨 비품대장에 올립니다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경품: 압력밥솥 1, 무선청소기 3, 무선 이어폰 2, 대형 전기그릴 3, 휴지 8 — 수령자 명단 보관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정산 · 보고 일정 — D-day 10. 4 기준</a:t>
            </a:r>
            <a:endParaRPr lang="en-US" sz="4000" dirty="0"/>
          </a:p>
        </p:txBody>
      </p:sp>
      <p:sp>
        <p:nvSpPr>
          <p:cNvPr id="3" name="timeline"/>
          <p:cNvSpPr/>
          <p:nvPr/>
        </p:nvSpPr>
        <p:spPr>
          <a:xfrm>
            <a:off x="1577340" y="2148840"/>
            <a:ext cx="9037015" cy="0"/>
          </a:xfrm>
          <a:prstGeom prst="line">
            <a:avLst/>
          </a:prstGeom>
          <a:noFill/>
          <a:ln w="25400">
            <a:solidFill>
              <a:srgbClr val="9AA5BC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1421892" y="19933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D+3</a:t>
            </a:r>
            <a:endParaRPr lang="en-US" sz="1800" dirty="0"/>
          </a:p>
        </p:txBody>
      </p:sp>
      <p:sp>
        <p:nvSpPr>
          <p:cNvPr id="6" name="tcard0"/>
          <p:cNvSpPr/>
          <p:nvPr/>
        </p:nvSpPr>
        <p:spPr>
          <a:xfrm>
            <a:off x="548640" y="256032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269748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10. 7(수)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6324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현장 현금 · 영수증 반납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개인 선지출 정산 청구 마감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4572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준비 담당자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50292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☐ 완료   ☐ 진행 중</a:t>
            </a:r>
            <a:endParaRPr lang="en-US" sz="1100" dirty="0"/>
          </a:p>
        </p:txBody>
      </p:sp>
      <p:sp>
        <p:nvSpPr>
          <p:cNvPr id="11" name="dot1"/>
          <p:cNvSpPr/>
          <p:nvPr/>
        </p:nvSpPr>
        <p:spPr>
          <a:xfrm>
            <a:off x="3681146" y="19933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0754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D+7</a:t>
            </a:r>
            <a:endParaRPr lang="en-US" sz="1800" dirty="0"/>
          </a:p>
        </p:txBody>
      </p:sp>
      <p:sp>
        <p:nvSpPr>
          <p:cNvPr id="13" name="tcard1"/>
          <p:cNvSpPr/>
          <p:nvPr/>
        </p:nvSpPr>
        <p:spPr>
          <a:xfrm>
            <a:off x="2807894" y="256032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972486" y="269748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10. 11(일)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72486" y="306324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업체 대금 지급 완료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증빙 첨부 · 장부 기록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비품대장 등재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2486" y="4572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회계 · 관리부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72486" y="50292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☐ 완료   ☐ 진행 중</a:t>
            </a:r>
            <a:endParaRPr lang="en-US" sz="1100" dirty="0"/>
          </a:p>
        </p:txBody>
      </p:sp>
      <p:sp>
        <p:nvSpPr>
          <p:cNvPr id="18" name="dot2"/>
          <p:cNvSpPr/>
          <p:nvPr/>
        </p:nvSpPr>
        <p:spPr>
          <a:xfrm>
            <a:off x="5940400" y="199339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90008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D+13</a:t>
            </a:r>
            <a:endParaRPr lang="en-US" sz="1800" dirty="0"/>
          </a:p>
        </p:txBody>
      </p:sp>
      <p:sp>
        <p:nvSpPr>
          <p:cNvPr id="20" name="tcard2"/>
          <p:cNvSpPr/>
          <p:nvPr/>
        </p:nvSpPr>
        <p:spPr>
          <a:xfrm>
            <a:off x="5067148" y="2560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FFF6EE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231740" y="269748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10. 17(토)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31740" y="306324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사후검토 회의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결과 · 개선 과제 확정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31740" y="4572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준비위원회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31740" y="50292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오늘 회의</a:t>
            </a:r>
            <a:endParaRPr lang="en-US" sz="1100" dirty="0"/>
          </a:p>
        </p:txBody>
      </p:sp>
      <p:sp>
        <p:nvSpPr>
          <p:cNvPr id="25" name="dot3"/>
          <p:cNvSpPr/>
          <p:nvPr/>
        </p:nvSpPr>
        <p:spPr>
          <a:xfrm>
            <a:off x="8199653" y="19933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49261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D+14</a:t>
            </a:r>
            <a:endParaRPr lang="en-US" sz="1800" dirty="0"/>
          </a:p>
        </p:txBody>
      </p:sp>
      <p:sp>
        <p:nvSpPr>
          <p:cNvPr id="27" name="tcard3"/>
          <p:cNvSpPr/>
          <p:nvPr/>
        </p:nvSpPr>
        <p:spPr>
          <a:xfrm>
            <a:off x="7326401" y="256032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490993" y="269748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10. 18(일)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90993" y="306324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결과보고서 · 정산서 제출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90993" y="4572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주관 부서 → 재무부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90993" y="50292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☐ 완료   ☐ 진행 중</a:t>
            </a:r>
            <a:endParaRPr lang="en-US" sz="1100" dirty="0"/>
          </a:p>
        </p:txBody>
      </p:sp>
      <p:sp>
        <p:nvSpPr>
          <p:cNvPr id="32" name="dot4"/>
          <p:cNvSpPr/>
          <p:nvPr/>
        </p:nvSpPr>
        <p:spPr>
          <a:xfrm>
            <a:off x="10458907" y="19933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8515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분기</a:t>
            </a:r>
            <a:endParaRPr lang="en-US" sz="1800" dirty="0"/>
          </a:p>
        </p:txBody>
      </p:sp>
      <p:sp>
        <p:nvSpPr>
          <p:cNvPr id="34" name="tcard4"/>
          <p:cNvSpPr/>
          <p:nvPr/>
        </p:nvSpPr>
        <p:spPr>
          <a:xfrm>
            <a:off x="9585655" y="256032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750247" y="269748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가까운 임원회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750247" y="306324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집행 결과 보고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이후 당회 · 구역회 결산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750247" y="4572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재무부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750247" y="50292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☐ 완료   ☐ 진행 중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89788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※ 「계획 및 예산 사용 절차」 7절의 D-day 권장 일정을 이번 행사(10. 4)에 맞춘 날짜입니다.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만족도 설문 — 영역별 평균 (5점)</a:t>
            </a:r>
            <a:endParaRPr lang="en-US" sz="4000" dirty="0"/>
          </a:p>
        </p:txBody>
      </p:sp>
      <p:sp>
        <p:nvSpPr>
          <p:cNvPr id="3" name="area0"/>
          <p:cNvSpPr/>
          <p:nvPr/>
        </p:nvSpPr>
        <p:spPr>
          <a:xfrm>
            <a:off x="548640" y="1463040"/>
            <a:ext cx="21488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시설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 . _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  / 5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문항 1 ~ 3</a:t>
            </a:r>
            <a:endParaRPr lang="en-US" sz="1000" dirty="0"/>
          </a:p>
        </p:txBody>
      </p:sp>
      <p:sp>
        <p:nvSpPr>
          <p:cNvPr id="7" name="area1"/>
          <p:cNvSpPr/>
          <p:nvPr/>
        </p:nvSpPr>
        <p:spPr>
          <a:xfrm>
            <a:off x="2926080" y="1463040"/>
            <a:ext cx="21488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108960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시간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 . _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  / 5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문항 4 ~ 6</a:t>
            </a:r>
            <a:endParaRPr lang="en-US" sz="1000" dirty="0"/>
          </a:p>
        </p:txBody>
      </p:sp>
      <p:sp>
        <p:nvSpPr>
          <p:cNvPr id="11" name="area2"/>
          <p:cNvSpPr/>
          <p:nvPr/>
        </p:nvSpPr>
        <p:spPr>
          <a:xfrm>
            <a:off x="5303520" y="1463040"/>
            <a:ext cx="21488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0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프로그램(종목) 운영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 . _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  / 5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문항 7 ~ 9</a:t>
            </a:r>
            <a:endParaRPr lang="en-US" sz="1000" dirty="0"/>
          </a:p>
        </p:txBody>
      </p:sp>
      <p:sp>
        <p:nvSpPr>
          <p:cNvPr id="15" name="area3"/>
          <p:cNvSpPr/>
          <p:nvPr/>
        </p:nvSpPr>
        <p:spPr>
          <a:xfrm>
            <a:off x="548640" y="3474720"/>
            <a:ext cx="21488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식사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 . _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  / 5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46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문항 10 ~ 12</a:t>
            </a:r>
            <a:endParaRPr lang="en-US" sz="1000" dirty="0"/>
          </a:p>
        </p:txBody>
      </p:sp>
      <p:sp>
        <p:nvSpPr>
          <p:cNvPr id="19" name="area4"/>
          <p:cNvSpPr/>
          <p:nvPr/>
        </p:nvSpPr>
        <p:spPr>
          <a:xfrm>
            <a:off x="2926080" y="3474720"/>
            <a:ext cx="21488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10896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경품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 . _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  / 5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4846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문항 13 ~ 15</a:t>
            </a:r>
            <a:endParaRPr lang="en-US" sz="1000" dirty="0"/>
          </a:p>
        </p:txBody>
      </p:sp>
      <p:sp>
        <p:nvSpPr>
          <p:cNvPr id="23" name="area5"/>
          <p:cNvSpPr/>
          <p:nvPr/>
        </p:nvSpPr>
        <p:spPr>
          <a:xfrm>
            <a:off x="5303520" y="3474720"/>
            <a:ext cx="21488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48640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전반적 만족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_ . _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  / 5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4846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문항 16 ~ 18</a:t>
            </a:r>
            <a:endParaRPr lang="en-US" sz="1000" dirty="0"/>
          </a:p>
        </p:txBody>
      </p:sp>
      <p:sp>
        <p:nvSpPr>
          <p:cNvPr id="27" name="surveyRight"/>
          <p:cNvSpPr/>
          <p:nvPr/>
        </p:nvSpPr>
        <p:spPr>
          <a:xfrm>
            <a:off x="7726680" y="1463040"/>
            <a:ext cx="3916375" cy="3794760"/>
          </a:xfrm>
          <a:prstGeom prst="roundRect">
            <a:avLst>
              <a:gd name="adj" fmla="val 192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955280" y="1645920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응답  ______명  (응답률 ____%)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2148840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개선이 가장 필요한 영역 (37번)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2468880"/>
            <a:ext cx="3459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1위 ____________  ____%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2위 ____________  ____%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3291840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자유 의견 (38번) 주요 내용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3611880"/>
            <a:ext cx="34591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______________________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______________________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______________________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8640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인식 영역(교제·단합력, 신앙공동체, 교우·사역자 영향)과 향후 참가 의향 결과는 별도 분석 보고로 공유합니다.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돌아보기 — 잘된 점과 아쉬운 점</a:t>
            </a:r>
            <a:endParaRPr lang="en-US" sz="4000" dirty="0"/>
          </a:p>
        </p:txBody>
      </p:sp>
      <p:sp>
        <p:nvSpPr>
          <p:cNvPr id="3" name="kpt0"/>
          <p:cNvSpPr/>
          <p:nvPr/>
        </p:nvSpPr>
        <p:spPr>
          <a:xfrm>
            <a:off x="548640" y="146304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4" name="kptTag0"/>
          <p:cNvSpPr/>
          <p:nvPr/>
        </p:nvSpPr>
        <p:spPr>
          <a:xfrm>
            <a:off x="777240" y="1691640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KEEP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잘된 점 · 계속할 것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894A8"/>
                </a:solidFill>
              </a:rPr>
              <a:t>예) 전 세대가 함께한 종목 구성, 차량 운행 협조</a:t>
            </a:r>
            <a:endParaRPr lang="en-US" sz="1100" dirty="0"/>
          </a:p>
        </p:txBody>
      </p:sp>
      <p:sp>
        <p:nvSpPr>
          <p:cNvPr id="8" name="kptLine0_0"/>
          <p:cNvSpPr/>
          <p:nvPr/>
        </p:nvSpPr>
        <p:spPr>
          <a:xfrm>
            <a:off x="777240" y="3703320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9" name="kptLine0_1"/>
          <p:cNvSpPr/>
          <p:nvPr/>
        </p:nvSpPr>
        <p:spPr>
          <a:xfrm>
            <a:off x="777240" y="4270248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10" name="kptLine0_2"/>
          <p:cNvSpPr/>
          <p:nvPr/>
        </p:nvSpPr>
        <p:spPr>
          <a:xfrm>
            <a:off x="777240" y="4837176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11" name="kptLine0_3"/>
          <p:cNvSpPr/>
          <p:nvPr/>
        </p:nvSpPr>
        <p:spPr>
          <a:xfrm>
            <a:off x="777240" y="5404104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12" name="kpt1"/>
          <p:cNvSpPr/>
          <p:nvPr/>
        </p:nvSpPr>
        <p:spPr>
          <a:xfrm>
            <a:off x="4338218" y="146304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13" name="kptTag1"/>
          <p:cNvSpPr/>
          <p:nvPr/>
        </p:nvSpPr>
        <p:spPr>
          <a:xfrm>
            <a:off x="4566818" y="169164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D466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66818" y="1691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PROBLEM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66818" y="21945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아쉬운 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66818" y="2606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894A8"/>
                </a:solidFill>
              </a:rPr>
              <a:t>예) 인원 표기 혼선, 종목 간 정비 시간 부족</a:t>
            </a:r>
            <a:endParaRPr lang="en-US" sz="1100" dirty="0"/>
          </a:p>
        </p:txBody>
      </p:sp>
      <p:sp>
        <p:nvSpPr>
          <p:cNvPr id="17" name="kptLine1_0"/>
          <p:cNvSpPr/>
          <p:nvPr/>
        </p:nvSpPr>
        <p:spPr>
          <a:xfrm>
            <a:off x="4566818" y="3703320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18" name="kptLine1_1"/>
          <p:cNvSpPr/>
          <p:nvPr/>
        </p:nvSpPr>
        <p:spPr>
          <a:xfrm>
            <a:off x="4566818" y="4270248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19" name="kptLine1_2"/>
          <p:cNvSpPr/>
          <p:nvPr/>
        </p:nvSpPr>
        <p:spPr>
          <a:xfrm>
            <a:off x="4566818" y="4837176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20" name="kptLine1_3"/>
          <p:cNvSpPr/>
          <p:nvPr/>
        </p:nvSpPr>
        <p:spPr>
          <a:xfrm>
            <a:off x="4566818" y="5404104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21" name="kpt2"/>
          <p:cNvSpPr/>
          <p:nvPr/>
        </p:nvSpPr>
        <p:spPr>
          <a:xfrm>
            <a:off x="8127797" y="146304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23A63">
                <a:alpha val="12000"/>
              </a:srgbClr>
            </a:outerShdw>
          </a:effectLst>
        </p:spPr>
      </p:sp>
      <p:sp>
        <p:nvSpPr>
          <p:cNvPr id="22" name="kptTag2"/>
          <p:cNvSpPr/>
          <p:nvPr/>
        </p:nvSpPr>
        <p:spPr>
          <a:xfrm>
            <a:off x="8356397" y="1691640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56397" y="1691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56397" y="21945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내년에 시도할 것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356397" y="2606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894A8"/>
                </a:solidFill>
              </a:rPr>
              <a:t>예) D-day 일정표 적용, 명단 사전 확정</a:t>
            </a:r>
            <a:endParaRPr lang="en-US" sz="1100" dirty="0"/>
          </a:p>
        </p:txBody>
      </p:sp>
      <p:sp>
        <p:nvSpPr>
          <p:cNvPr id="26" name="kptLine2_0"/>
          <p:cNvSpPr/>
          <p:nvPr/>
        </p:nvSpPr>
        <p:spPr>
          <a:xfrm>
            <a:off x="8356397" y="3703320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27" name="kptLine2_1"/>
          <p:cNvSpPr/>
          <p:nvPr/>
        </p:nvSpPr>
        <p:spPr>
          <a:xfrm>
            <a:off x="8356397" y="4270248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28" name="kptLine2_2"/>
          <p:cNvSpPr/>
          <p:nvPr/>
        </p:nvSpPr>
        <p:spPr>
          <a:xfrm>
            <a:off x="8356397" y="4837176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29" name="kptLine2_3"/>
          <p:cNvSpPr/>
          <p:nvPr/>
        </p:nvSpPr>
        <p:spPr>
          <a:xfrm>
            <a:off x="8356397" y="5404104"/>
            <a:ext cx="3058058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2027년 개선 과제 — 담당과 기한 정하기</a:t>
            </a:r>
            <a:endParaRPr lang="en-US" sz="4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577840"/>
                <a:gridCol w="2514600"/>
                <a:gridCol w="1280160"/>
                <a:gridCol w="126461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개선 과제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반영 시점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담당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기한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종목별 참가 인원을 일정표와 세부 규칙에 같은 숫자로 표기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4"/>
                          </a:solidFill>
                        </a:rPr>
                        <a:t>계획서 작성 (D-49)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넘어짐 위험 종목에 심판 보조 · 안전 요원 배정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4"/>
                          </a:solidFill>
                        </a:rPr>
                        <a:t>발주 · 확정 (D-14)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종목 사이 경기장 정비 시간 확보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4"/>
                          </a:solidFill>
                        </a:rPr>
                        <a:t>계획서 작성 (D-49)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부서 · 선교회별 팀 명단과 종목별 참가자 사전 확정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4"/>
                          </a:solidFill>
                        </a:rPr>
                        <a:t>참가 신청 마감 (D-14)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예산 절차 적용: 결의 D-28 · 일괄 품의 D-21 · 발주 D-14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4"/>
                          </a:solidFill>
                        </a:rPr>
                        <a:t>내년 예산안 (정기당회 11~12월)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만족도 설문에서 낮게 나온 영역 보완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4"/>
                          </a:solidFill>
                        </a:rPr>
                        <a:t>기획위원회 협의 (D-35)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5BC"/>
                          </a:solidFill>
                        </a:rPr>
                        <a:t>(회의에서 추가)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※ 1~4번은 기획 단계 검토 의견, 5번은 「계획 및 예산 사용 절차」, 6번은 만족도 설문에서 나온 과제 후보입니다.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03504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결정 요청 사항</a:t>
            </a:r>
            <a:endParaRPr lang="en-US" sz="4000" dirty="0"/>
          </a:p>
        </p:txBody>
      </p:sp>
      <p:sp>
        <p:nvSpPr>
          <p:cNvPr id="3" name="ask0"/>
          <p:cNvSpPr/>
          <p:nvPr/>
        </p:nvSpPr>
        <p:spPr>
          <a:xfrm>
            <a:off x="548640" y="1645920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A6FB5">
              <a:alpha val="45000"/>
            </a:srgbClr>
          </a:solidFill>
          <a:ln w="9525">
            <a:solidFill>
              <a:srgbClr val="44546B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749808" y="184708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결과보고서 · 정산서 확정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8483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10. 18(일)까지 주관 부서가 재무부에 제출</a:t>
            </a:r>
            <a:endParaRPr lang="en-US" sz="1200" dirty="0"/>
          </a:p>
        </p:txBody>
      </p:sp>
      <p:sp>
        <p:nvSpPr>
          <p:cNvPr id="8" name="ask1"/>
          <p:cNvSpPr/>
          <p:nvPr/>
        </p:nvSpPr>
        <p:spPr>
          <a:xfrm>
            <a:off x="548640" y="2670048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A6FB5">
              <a:alpha val="45000"/>
            </a:srgbClr>
          </a:solidFill>
          <a:ln w="9525">
            <a:solidFill>
              <a:srgbClr val="44546B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749808" y="2871216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614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잔액 처리 방안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0896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잔액은 해당 회계에 유지, 지정 후원금 잔액은 임원회 결정</a:t>
            </a:r>
            <a:endParaRPr lang="en-US" sz="1200" dirty="0"/>
          </a:p>
        </p:txBody>
      </p:sp>
      <p:sp>
        <p:nvSpPr>
          <p:cNvPr id="13" name="ask2"/>
          <p:cNvSpPr/>
          <p:nvPr/>
        </p:nvSpPr>
        <p:spPr>
          <a:xfrm>
            <a:off x="548640" y="3694176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A6FB5">
              <a:alpha val="45000"/>
            </a:srgbClr>
          </a:solidFill>
          <a:ln w="9525">
            <a:solidFill>
              <a:srgbClr val="44546B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749808" y="3895344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개선 과제 담당 · 기한 확정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3308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13쪽 과제별 담당자와 기한 결정</a:t>
            </a:r>
            <a:endParaRPr lang="en-US" sz="1200" dirty="0"/>
          </a:p>
        </p:txBody>
      </p:sp>
      <p:sp>
        <p:nvSpPr>
          <p:cNvPr id="18" name="ask3"/>
          <p:cNvSpPr/>
          <p:nvPr/>
        </p:nvSpPr>
        <p:spPr>
          <a:xfrm>
            <a:off x="548640" y="4718304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A6FB5">
              <a:alpha val="45000"/>
            </a:srgbClr>
          </a:solidFill>
          <a:ln w="9525">
            <a:solidFill>
              <a:srgbClr val="44546B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749808" y="4919472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4919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80974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보고 및 내년 반영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157216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분기 임원회 보고, 2027 예산안은 정기당회에 반영</a:t>
            </a:r>
            <a:endParaRPr lang="en-US" sz="1200" dirty="0"/>
          </a:p>
        </p:txBody>
      </p:sp>
      <p:pic>
        <p:nvPicPr>
          <p:cNvPr id="23" name="closingPhoto" descr="말씀패드를 맞추는 성도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777240"/>
            <a:ext cx="4233672" cy="47091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406640" y="562356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A05E"/>
                </a:solidFill>
              </a:rPr>
              <a:t>섬겨 주신 준비 위원과 모든 성도님께 감사드립니다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172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C"/>
                </a:solidFill>
              </a:rPr>
              <a:t>한 팀으로 뛰고, 한마음으로 웃은 하루 — 2026년 전교인 한마음 체육대회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nmaeum Review">
  <a:themeElements>
    <a:clrScheme name="Hanmaeum Review">
      <a:dk1>
        <a:srgbClr val="1F2A3A"/>
      </a:dk1>
      <a:lt1>
        <a:srgbClr val="FFFFFF"/>
      </a:lt1>
      <a:dk2>
        <a:srgbClr val="123A63"/>
      </a:dk2>
      <a:lt2>
        <a:srgbClr val="F4F7FB"/>
      </a:lt2>
      <a:accent1>
        <a:srgbClr val="123A63"/>
      </a:accent1>
      <a:accent2>
        <a:srgbClr val="D4661F"/>
      </a:accent2>
      <a:accent3>
        <a:srgbClr val="2A6FB5"/>
      </a:accent3>
      <a:accent4>
        <a:srgbClr val="44546B"/>
      </a:accent4>
      <a:accent5>
        <a:srgbClr val="DCE3ED"/>
      </a:accent5>
      <a:accent6>
        <a:srgbClr val="E8A05E"/>
      </a:accent6>
      <a:hlink>
        <a:srgbClr val="2A6FB5"/>
      </a:hlink>
      <a:folHlink>
        <a:srgbClr val="44546B"/>
      </a:folHlink>
    </a:clrScheme>
    <a:fontScheme name="Hanmaeum Review">
      <a:majorFont>
        <a:latin typeface="나눔스퀘어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바른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전교인 한마음 체육대회 사후검토</dc:title>
  <dc:subject>PptxGenJS Presentation</dc:subject>
  <dc:creator>조원감리교회 문화홍보부</dc:creator>
  <cp:lastModifiedBy>조원감리교회 문화홍보부</cp:lastModifiedBy>
  <cp:revision>1</cp:revision>
  <dcterms:created xsi:type="dcterms:W3CDTF">2026-10-09T22:16:44Z</dcterms:created>
  <dcterms:modified xsi:type="dcterms:W3CDTF">2026-10-09T22:16:44Z</dcterms:modified>
</cp:coreProperties>
</file>