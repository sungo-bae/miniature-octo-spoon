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81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DC239A2-A534-9C1D-7964-D65BA8D0D997}">
          <p14:sldIdLst>
            <p14:sldId id="256"/>
            <p14:sldId id="257"/>
            <p14:sldId id="303"/>
          </p14:sldIdLst>
        </p14:section>
        <p14:section name="순서" id="{CAFE32B3-3EC2-6D94-E890-F184E43FBAA0}">
          <p14:sldIdLst/>
        </p14:section>
        <p14:section name="회의 개요" id="{E1966228-E12E-67C4-9F08-7F346B080E89}">
          <p14:sldIdLst>
            <p14:sldId id="297"/>
            <p14:sldId id="272"/>
            <p14:sldId id="273"/>
            <p14:sldId id="274"/>
            <p14:sldId id="278"/>
            <p14:sldId id="279"/>
            <p14:sldId id="280"/>
            <p14:sldId id="281"/>
            <p14:sldId id="296"/>
            <p14:sldId id="276"/>
            <p14:sldId id="283"/>
            <p14:sldId id="284"/>
            <p14:sldId id="286"/>
            <p14:sldId id="287"/>
            <p14:sldId id="288"/>
            <p14:sldId id="289"/>
            <p14:sldId id="290"/>
            <p14:sldId id="291"/>
            <p14:sldId id="292"/>
            <p14:sldId id="298"/>
            <p14:sldId id="300"/>
            <p14:sldId id="301"/>
            <p14:sldId id="302"/>
            <p14:sldId id="299"/>
            <p14:sldId id="294"/>
          </p14:sldIdLst>
        </p14:section>
        <p14:section name="행사 결과" id="{6027AF0F-E659-E724-2A8C-D2B16440F775}">
          <p14:sldIdLst/>
        </p14:section>
        <p14:section name="진행 검토" id="{0F61C175-13B4-6228-889C-832B217DA55D}">
          <p14:sldIdLst/>
        </p14:section>
        <p14:section name="예산 · 정산" id="{C658978D-BC30-7BD7-C2A4-E9C848ED0695}">
          <p14:sldIdLst/>
        </p14:section>
        <p14:section name="만족도 설문" id="{5B2193CA-4DF5-B4DD-0947-612C88621E6C}">
          <p14:sldIdLst/>
        </p14:section>
        <p14:section name="돌아보기 · 개선" id="{C6927321-55C4-0A2B-3B06-02C785553DAA}">
          <p14:sldIdLst/>
        </p14:section>
        <p14:section name="결정 요청" id="{E2282175-EAD8-2E70-D490-5895192152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4661F"/>
    <a:srgbClr val="3333FF"/>
    <a:srgbClr val="F2F9FC"/>
    <a:srgbClr val="1D3C5C"/>
    <a:srgbClr val="123A63"/>
    <a:srgbClr val="E6F1FB"/>
    <a:srgbClr val="F4F7FB"/>
    <a:srgbClr val="CCEC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3DF63-3D5D-4939-BADF-390B95B752DE}" v="138" dt="2026-10-16T05:50:31.884"/>
    <p1510:client id="{8E9D02A6-A743-446D-8A92-C75AD2475C0B}" v="170" dt="2026-10-15T10:28:58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4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16320-BA97-F27A-A164-A8784F7F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77197E-6846-1A46-8C16-CD4C3959E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6BF308-D223-01F2-AA85-BA417870C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7DFAF-231B-E3F4-7344-5885D3A2BE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655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2026 전교인 한마음 체육대회 사후검토  ·  조원감리교회 문화홍보부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D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D1C0A7-7D5C-570A-91DE-9490C6A6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3">
            <a:extLst>
              <a:ext uri="{FF2B5EF4-FFF2-40B4-BE49-F238E27FC236}">
                <a16:creationId xmlns:a16="http://schemas.microsoft.com/office/drawing/2014/main" id="{ADDC3579-682A-D601-3725-3570AED8173A}"/>
              </a:ext>
            </a:extLst>
          </p:cNvPr>
          <p:cNvSpPr txBox="1"/>
          <p:nvPr/>
        </p:nvSpPr>
        <p:spPr>
          <a:xfrm>
            <a:off x="838403" y="993120"/>
            <a:ext cx="5486400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2000" b="1" dirty="0">
                <a:solidFill/>
                <a:latin typeface="맑은 고딕"/>
                <a:ea typeface="+mj-ea"/>
              </a:rPr>
              <a:t>토의 전 한눈에 보기 — Ⅱ~Ⅵ장 요약</a:t>
            </a:r>
            <a:endParaRPr lang="en-US" sz="2000" b="1" dirty="0">
              <a:latin typeface="+mj-ea"/>
              <a:ea typeface="+mj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E6AE6B27-5BDD-3C60-A2B5-3F1D79CF5039}"/>
              </a:ext>
            </a:extLst>
          </p:cNvPr>
          <p:cNvSpPr/>
          <p:nvPr/>
        </p:nvSpPr>
        <p:spPr>
          <a:xfrm>
            <a:off x="338840" y="969570"/>
            <a:ext cx="365763" cy="306772"/>
          </a:xfrm>
          <a:prstGeom prst="rect">
            <a:avLst/>
          </a:prstGeom>
          <a:ln>
            <a:solidFill>
              <a:srgbClr val="B9CFDA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 dirty="0">
                <a:solidFill/>
              </a:rPr>
              <a:t>★</a:t>
            </a:r>
            <a:endParaRPr lang="ko-KR" altLang="en-US" sz="2400" b="1" dirty="0"/>
          </a:p>
        </p:txBody>
      </p:sp>
      <p:sp>
        <p:nvSpPr>
          <p:cNvPr id="8" name="제목 61">
            <a:extLst>
              <a:ext uri="{FF2B5EF4-FFF2-40B4-BE49-F238E27FC236}">
                <a16:creationId xmlns:a16="http://schemas.microsoft.com/office/drawing/2014/main" id="{B30204BE-ECD2-EE8A-D9C1-5FDB5233151F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3200" dirty="0">
                <a:solidFill/>
              </a:rPr>
              <a:t>종합 정리 : 문제점과 해결 방안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4E5D4CC-EBCB-66CD-9982-6724E1DA4671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23E36C20-3D95-1FAE-941B-BA0B4FA23A31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2359934-3C48-C473-EA3E-0373CEECFD54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DA2D5AB4-E065-24D3-BF7A-96B398A1516E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5442B08-3D63-025F-7582-C2942D1EAADB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46356CF-2295-6BBF-3EFA-34CEB7B4149A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5934552-1E64-B64A-6496-3731D4C2CAEA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855DA66-741A-F664-BE74-D216E53F77B9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F1DA941-1791-3333-4479-6B81AF9957D4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FA803CC-65B8-C54C-D063-08D3BEA5C21B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08B7C2CD-F17D-6DFA-C62D-FC24E5F49E70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6" name="Rectangle 1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F8A18DF-21E4-0EEE-0F46-CCABD86AA9A7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18" name="Table 117"/>
          <p:cNvGraphicFramePr>
            <a:graphicFrameLocks noGrp="1"/>
          </p:cNvGraphicFramePr>
          <p:nvPr/>
        </p:nvGraphicFramePr>
        <p:xfrm>
          <a:off x="566928" y="1463040"/>
          <a:ext cx="11064240" cy="398678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25880"/>
                <a:gridCol w="3886200"/>
                <a:gridCol w="4343400"/>
                <a:gridCol w="150876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 분</a:t>
                      </a:r>
                    </a:p>
                  </a:txBody>
                  <a:tcPr marL="73152" marR="73152" marT="36576" marB="36576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문제점 (근거)</a:t>
                      </a:r>
                    </a:p>
                  </a:txBody>
                  <a:tcPr marL="73152" marR="73152" marT="36576" marB="36576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해결 방안</a:t>
                      </a:r>
                    </a:p>
                  </a:txBody>
                  <a:tcPr marL="73152" marR="73152" marT="36576" marB="36576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담당 · 시기</a:t>
                      </a:r>
                    </a:p>
                  </a:txBody>
                  <a:tcPr marL="73152" marR="73152" marT="36576" marB="36576" anchor="ctr">
                    <a:solidFill>
                      <a:srgbClr val="1E3A5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3A5F"/>
                          </a:solidFill>
                          <a:latin typeface="맑은 고딕"/>
                          <a:ea typeface="맑은 고딕"/>
                        </a:rPr>
                        <a:t>시행 절차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3A5F"/>
                          </a:solidFill>
                          <a:latin typeface="맑은 고딕"/>
                          <a:ea typeface="맑은 고딕"/>
                        </a:rPr>
                        <a:t>(Ⅱ장)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담임목사님이 행사 하루 전에야 계획 확인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담임목사 승인 전 예산 집행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주최 부서·협력 선교회 보고 채널 혼선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맑은 고딕"/>
                          <a:ea typeface="맑은 고딕"/>
                        </a:rPr>
                        <a:t>8단계 절차</a:t>
                      </a:r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 — 담임목사 최종 승인 단계 신설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계획서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맑은 고딕"/>
                          <a:ea typeface="맑은 고딕"/>
                        </a:rPr>
                        <a:t>D-30</a:t>
                      </a:r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 제출, 담임목사 승인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맑은 고딕"/>
                          <a:ea typeface="맑은 고딕"/>
                        </a:rPr>
                        <a:t>D-14</a:t>
                      </a:r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 완료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주최 부서장 단일 보고, 주일 광고는 승인 이후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주최 부서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다음 행사부터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3A5F"/>
                          </a:solidFill>
                          <a:latin typeface="맑은 고딕"/>
                          <a:ea typeface="맑은 고딕"/>
                        </a:rPr>
                        <a:t>예산·정산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3A5F"/>
                          </a:solidFill>
                          <a:latin typeface="맑은 고딕"/>
                          <a:ea typeface="맑은 고딕"/>
                        </a:rPr>
                        <a:t>(Ⅲ장)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교회 재정 계획 대비 104%, 초과분은 찬조금 충당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통장 입금을 승인으로 판단해 집행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담임목사 승인 후 이체, 지출결의서로 청구·지급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신년도 계획안에 포함 → 정기 구역회에서 예산 확정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재정부 업무지침 반영, 계획서·결과보고서 양식 작성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재정부 '26.12월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문화홍보부 '26.11월말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3A5F"/>
                          </a:solidFill>
                          <a:latin typeface="맑은 고딕"/>
                          <a:ea typeface="맑은 고딕"/>
                        </a:rPr>
                        <a:t>행사 운영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3A5F"/>
                          </a:solidFill>
                          <a:latin typeface="맑은 고딕"/>
                          <a:ea typeface="맑은 고딕"/>
                        </a:rPr>
                        <a:t>(Ⅳ·Ⅴ장 S)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식사 만족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맑은 고딕"/>
                          <a:ea typeface="맑은 고딕"/>
                        </a:rPr>
                        <a:t>65%</a:t>
                      </a:r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로 최저 (배식·식사장소 57%)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첫 참가자 "시간대로 진행" 70% (경험자 94%)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행운권 추첨 90분 소요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식사 방식 전환(도시락·출장뷔페) →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맑은 고딕"/>
                          <a:ea typeface="맑은 고딕"/>
                        </a:rPr>
                        <a:t>토의 2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진행표 벽 게시 + 안내 요원 배치, 개회 때 방식 설명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추첨 방식 개선 →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맑은 고딕"/>
                          <a:ea typeface="맑은 고딕"/>
                        </a:rPr>
                        <a:t>토의 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준비위원회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계획서 단계(D-30)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3A5F"/>
                          </a:solidFill>
                          <a:latin typeface="맑은 고딕"/>
                          <a:ea typeface="맑은 고딕"/>
                        </a:rPr>
                        <a:t>관계·참여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E3A5F"/>
                          </a:solidFill>
                          <a:latin typeface="맑은 고딕"/>
                          <a:ea typeface="맑은 고딕"/>
                        </a:rPr>
                        <a:t>(Ⅳ·Ⅴ장 O→R)</a:t>
                      </a:r>
                    </a:p>
                  </a:txBody>
                  <a:tcPr marL="73152" marR="73152" marT="36576" marB="36576" anchor="ctr">
                    <a:solidFill>
                      <a:srgbClr val="E6EE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"모르던 성도와 가까워졌다"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맑은 고딕"/>
                          <a:ea typeface="맑은 고딕"/>
                        </a:rPr>
                        <a:t>54%</a:t>
                      </a:r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 (첫 참가자 40%)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준비·진행 참여 의향 57%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첫 참가자 "짝꿍" 배정, 세대 혼합 팀 → </a:t>
                      </a:r>
                      <a:r>
                        <a:rPr sz="1100" b="1">
                          <a:solidFill>
                            <a:srgbClr val="D9692A"/>
                          </a:solidFill>
                          <a:latin typeface="맑은 고딕"/>
                          <a:ea typeface="맑은 고딕"/>
                        </a:rPr>
                        <a:t>토의 1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선교회·소그룹의 개인 권유를 공식 일정에 반영</a:t>
                      </a:r>
                    </a:p>
                    <a:p>
                      <a:pPr algn="l"/>
                      <a:r>
                        <a:rPr sz="110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• 작은 역할 사전 부탁, 첫 참가자 준비위원회 초대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선교회·소그룹</a:t>
                      </a:r>
                    </a:p>
                    <a:p>
                      <a:pPr algn="ctr"/>
                      <a:r>
                        <a:rPr sz="1050" b="0">
                          <a:solidFill>
                            <a:srgbClr val="293B4C"/>
                          </a:solidFill>
                          <a:latin typeface="맑은 고딕"/>
                          <a:ea typeface="맑은 고딕"/>
                        </a:rPr>
                        <a:t>D-14 승인·광고 단계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9" name="Rounded Rectangle 118"/>
          <p:cNvSpPr/>
          <p:nvPr/>
        </p:nvSpPr>
        <p:spPr>
          <a:xfrm>
            <a:off x="566928" y="5669280"/>
            <a:ext cx="11064240" cy="658368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/>
            <a:r>
              <a:rPr sz="1350" b="1">
                <a:solidFill>
                  <a:srgbClr val="F2B134"/>
                </a:solidFill>
                <a:latin typeface="맑은 고딕"/>
                <a:ea typeface="맑은 고딕"/>
              </a:rPr>
              <a:t>핵심  </a:t>
            </a:r>
            <a:r>
              <a:rPr sz="1350" b="0">
                <a:solidFill>
                  <a:srgbClr val="FFFFFF"/>
                </a:solidFill>
                <a:latin typeface="맑은 고딕"/>
                <a:ea typeface="맑은 고딕"/>
              </a:rPr>
              <a:t>만족도는 이미 높음(전반 만족 93%) → 다음 참여를 이끄는 힘은 </a:t>
            </a:r>
            <a:r>
              <a:rPr sz="1350" b="1">
                <a:solidFill>
                  <a:srgbClr val="F2B134"/>
                </a:solidFill>
                <a:latin typeface="맑은 고딕"/>
                <a:ea typeface="맑은 고딕"/>
              </a:rPr>
              <a:t>‘공동체 의식’과 ‘권유’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   ▶ 토의 1·2·3에서 실행안 결정</a:t>
            </a:r>
          </a:p>
        </p:txBody>
      </p:sp>
    </p:spTree>
    <p:extLst>
      <p:ext uri="{BB962C8B-B14F-4D97-AF65-F5344CB8AC3E}">
        <p14:creationId xmlns:p14="http://schemas.microsoft.com/office/powerpoint/2010/main" val="1209663980"/>
      </p:ext>
    </p:extLst>
  </p:cSld>
  <p:clrMapOvr>
    <a:masterClrMapping/>
  </p:clrMapOvr>
</p:sld>
</file>

<file path=ppt/theme/theme1.xml><?xml version="1.0" encoding="utf-8"?>
<a:theme xmlns:a="http://schemas.openxmlformats.org/drawingml/2006/main" name="Hanmaeum Review">
  <a:themeElements>
    <a:clrScheme name="Hanmaeum Review">
      <a:dk1>
        <a:srgbClr val="1F2A3A"/>
      </a:dk1>
      <a:lt1>
        <a:srgbClr val="FFFFFF"/>
      </a:lt1>
      <a:dk2>
        <a:srgbClr val="123A63"/>
      </a:dk2>
      <a:lt2>
        <a:srgbClr val="F4F7FB"/>
      </a:lt2>
      <a:accent1>
        <a:srgbClr val="123A63"/>
      </a:accent1>
      <a:accent2>
        <a:srgbClr val="D4661F"/>
      </a:accent2>
      <a:accent3>
        <a:srgbClr val="2A6FB5"/>
      </a:accent3>
      <a:accent4>
        <a:srgbClr val="44546B"/>
      </a:accent4>
      <a:accent5>
        <a:srgbClr val="DCE3ED"/>
      </a:accent5>
      <a:accent6>
        <a:srgbClr val="E8A05E"/>
      </a:accent6>
      <a:hlink>
        <a:srgbClr val="2A6FB5"/>
      </a:hlink>
      <a:folHlink>
        <a:srgbClr val="44546B"/>
      </a:folHlink>
    </a:clrScheme>
    <a:fontScheme name="Hanmaeum Review">
      <a:majorFont>
        <a:latin typeface="나눔스퀘어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바른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/>
      </a:spPr>
      <a:bodyPr wrap="square" lIns="0" tIns="0" rIns="0" bIns="0" rtlCol="0" anchor="t"/>
      <a:lstStyle>
        <a:defPPr marL="0" indent="0" algn="l">
          <a:buNone/>
          <a:defRPr sz="1400" b="1" dirty="0">
            <a:solidFill>
              <a:schemeClr val="tx1"/>
            </a:solidFill>
            <a:latin typeface="+mj-ea"/>
            <a:ea typeface="+mj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2166</TotalTime>
  <Words>5909</Words>
  <Application>Microsoft Office PowerPoint</Application>
  <PresentationFormat>와이드스크린</PresentationFormat>
  <Paragraphs>1051</Paragraphs>
  <Slides>28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나눔바른고딕</vt:lpstr>
      <vt:lpstr>나눔스퀘어</vt:lpstr>
      <vt:lpstr>맑은 고딕</vt:lpstr>
      <vt:lpstr>Arial</vt:lpstr>
      <vt:lpstr>Hanmaeum Review</vt:lpstr>
      <vt:lpstr>PowerPoint 프레젠테이션</vt:lpstr>
      <vt:lpstr>순                서</vt:lpstr>
      <vt:lpstr>PowerPoint 프레젠테이션</vt:lpstr>
      <vt:lpstr>Ⅰ.개요 / 일반현황(1/2)</vt:lpstr>
      <vt:lpstr>Ⅰ.개요 / 일반현황(2/2)</vt:lpstr>
      <vt:lpstr>Ⅱ.체육대회 시행 절차 정립 (1/6)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전교인 한마음 체육대회 사후검토</dc:title>
  <dc:subject>PptxGenJS Presentation</dc:subject>
  <dc:creator>조원감리교회 문화홍보부</dc:creator>
  <cp:lastModifiedBy>맑음 오늘도</cp:lastModifiedBy>
  <cp:revision>4</cp:revision>
  <dcterms:created xsi:type="dcterms:W3CDTF">2026-10-09T22:16:44Z</dcterms:created>
  <dcterms:modified xsi:type="dcterms:W3CDTF">2026-10-16T05:55:47Z</dcterms:modified>
</cp:coreProperties>
</file>